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306" r:id="rId3"/>
    <p:sldId id="333" r:id="rId4"/>
    <p:sldId id="297" r:id="rId5"/>
    <p:sldId id="332" r:id="rId6"/>
    <p:sldId id="299" r:id="rId7"/>
    <p:sldId id="300" r:id="rId8"/>
    <p:sldId id="301" r:id="rId9"/>
    <p:sldId id="302" r:id="rId10"/>
    <p:sldId id="303" r:id="rId11"/>
    <p:sldId id="304" r:id="rId12"/>
    <p:sldId id="316" r:id="rId13"/>
    <p:sldId id="317" r:id="rId14"/>
    <p:sldId id="318" r:id="rId15"/>
    <p:sldId id="334" r:id="rId16"/>
    <p:sldId id="335" r:id="rId17"/>
    <p:sldId id="336" r:id="rId18"/>
    <p:sldId id="321" r:id="rId19"/>
    <p:sldId id="322" r:id="rId20"/>
    <p:sldId id="323" r:id="rId21"/>
    <p:sldId id="340" r:id="rId22"/>
    <p:sldId id="341" r:id="rId23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6600"/>
    <a:srgbClr val="66FF66"/>
    <a:srgbClr val="FFFF99"/>
    <a:srgbClr val="2323EB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100" d="100"/>
          <a:sy n="100" d="100"/>
        </p:scale>
        <p:origin x="-29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1024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1024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sz="1200" dirty="0"/>
            </a:fld>
            <a:endParaRPr 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5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405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28676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05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405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405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sz="1200" dirty="0"/>
            </a:fld>
            <a:endParaRPr 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026"/>
          <p:cNvGrpSpPr/>
          <p:nvPr/>
        </p:nvGrpSpPr>
        <p:grpSpPr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11" name="Freeform 1027"/>
            <p:cNvSpPr/>
            <p:nvPr/>
          </p:nvSpPr>
          <p:spPr bwMode="auto">
            <a:xfrm>
              <a:off x="2061" y="1707"/>
              <a:ext cx="3699" cy="2613"/>
            </a:xfrm>
            <a:custGeom>
              <a:avLst/>
              <a:gdLst/>
              <a:ahLst/>
              <a:cxnLst>
                <a:cxn ang="0">
                  <a:pos x="1523" y="2611"/>
                </a:cxn>
                <a:cxn ang="0">
                  <a:pos x="3698" y="2612"/>
                </a:cxn>
                <a:cxn ang="0">
                  <a:pos x="3698" y="2228"/>
                </a:cxn>
                <a:cxn ang="0">
                  <a:pos x="0" y="0"/>
                </a:cxn>
                <a:cxn ang="0">
                  <a:pos x="160" y="118"/>
                </a:cxn>
                <a:cxn ang="0">
                  <a:pos x="292" y="219"/>
                </a:cxn>
                <a:cxn ang="0">
                  <a:pos x="441" y="347"/>
                </a:cxn>
                <a:cxn ang="0">
                  <a:pos x="585" y="482"/>
                </a:cxn>
                <a:cxn ang="0">
                  <a:pos x="796" y="711"/>
                </a:cxn>
                <a:cxn ang="0">
                  <a:pos x="983" y="955"/>
                </a:cxn>
                <a:cxn ang="0">
                  <a:pos x="1119" y="1168"/>
                </a:cxn>
                <a:cxn ang="0">
                  <a:pos x="1238" y="1388"/>
                </a:cxn>
                <a:cxn ang="0">
                  <a:pos x="1331" y="1608"/>
                </a:cxn>
                <a:cxn ang="0">
                  <a:pos x="1400" y="1809"/>
                </a:cxn>
                <a:cxn ang="0">
                  <a:pos x="1447" y="1979"/>
                </a:cxn>
                <a:cxn ang="0">
                  <a:pos x="1490" y="2190"/>
                </a:cxn>
                <a:cxn ang="0">
                  <a:pos x="1511" y="2374"/>
                </a:cxn>
                <a:cxn ang="0">
                  <a:pos x="1523" y="2611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+mn-cs"/>
              </a:endParaRPr>
            </a:p>
          </p:txBody>
        </p:sp>
        <p:sp>
          <p:nvSpPr>
            <p:cNvPr id="12" name="Arc 1028"/>
            <p:cNvSpPr/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G0" fmla="+- 0 0 0"/>
                <a:gd name="G1" fmla="+- 21231 0 0"/>
                <a:gd name="G2" fmla="+- 21600 0 0"/>
                <a:gd name="T0" fmla="*/ 3977 w 21600"/>
                <a:gd name="T1" fmla="*/ 0 h 21231"/>
                <a:gd name="T2" fmla="*/ 21600 w 21600"/>
                <a:gd name="T3" fmla="*/ 21231 h 21231"/>
                <a:gd name="T4" fmla="*/ 0 w 21600"/>
                <a:gd name="T5" fmla="*/ 21231 h 21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+mn-cs"/>
              </a:endParaRPr>
            </a:p>
          </p:txBody>
        </p:sp>
      </p:grpSp>
      <p:sp>
        <p:nvSpPr>
          <p:cNvPr id="408581" name="Rectangle 1029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08582" name="Rectangle 103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3" name="Rectangle 1031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14" name="Rectangle 103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15" name="Rectangle 103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p>
            <a:pPr algn="r">
              <a:buNone/>
            </a:pPr>
            <a:fld id="{9A0DB2DC-4C9A-4742-B13C-FB6460FD350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imes New Roman" panose="02020603050405020304" charset="0"/>
              </a:rPr>
            </a:fld>
            <a:endParaRPr lang="en-US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imes New Roman" panose="02020603050405020304" charset="0"/>
              </a:rPr>
            </a:fld>
            <a:endParaRPr lang="en-US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imes New Roman" panose="02020603050405020304" charset="0"/>
              </a:rPr>
            </a:fld>
            <a:endParaRPr lang="en-US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imes New Roman" panose="02020603050405020304" charset="0"/>
              </a:rPr>
            </a:fld>
            <a:endParaRPr lang="en-US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imes New Roman" panose="02020603050405020304" charset="0"/>
              </a:rPr>
            </a:fld>
            <a:endParaRPr lang="en-US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imes New Roman" panose="02020603050405020304" charset="0"/>
              </a:rPr>
            </a:fld>
            <a:endParaRPr lang="en-US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imes New Roman" panose="02020603050405020304" charset="0"/>
              </a:rPr>
            </a:fld>
            <a:endParaRPr lang="en-US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imes New Roman" panose="02020603050405020304" charset="0"/>
              </a:rPr>
            </a:fld>
            <a:endParaRPr lang="en-US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imes New Roman" panose="02020603050405020304" charset="0"/>
              </a:rPr>
            </a:fld>
            <a:endParaRPr lang="en-US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imes New Roman" panose="02020603050405020304" charset="0"/>
              </a:rPr>
            </a:fld>
            <a:endParaRPr lang="en-US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6"/>
          <p:cNvGrpSpPr/>
          <p:nvPr/>
        </p:nvGrpSpPr>
        <p:grpSpPr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407555" name="Freeform 1027"/>
            <p:cNvSpPr/>
            <p:nvPr/>
          </p:nvSpPr>
          <p:spPr bwMode="auto">
            <a:xfrm>
              <a:off x="3394" y="999"/>
              <a:ext cx="2359" cy="3314"/>
            </a:xfrm>
            <a:custGeom>
              <a:avLst/>
              <a:gdLst/>
              <a:ahLst/>
              <a:cxnLst>
                <a:cxn ang="0">
                  <a:pos x="1905" y="3312"/>
                </a:cxn>
                <a:cxn ang="0">
                  <a:pos x="2358" y="3313"/>
                </a:cxn>
                <a:cxn ang="0">
                  <a:pos x="2358" y="1437"/>
                </a:cxn>
                <a:cxn ang="0">
                  <a:pos x="0" y="0"/>
                </a:cxn>
                <a:cxn ang="0">
                  <a:pos x="201" y="150"/>
                </a:cxn>
                <a:cxn ang="0">
                  <a:pos x="366" y="279"/>
                </a:cxn>
                <a:cxn ang="0">
                  <a:pos x="552" y="441"/>
                </a:cxn>
                <a:cxn ang="0">
                  <a:pos x="732" y="612"/>
                </a:cxn>
                <a:cxn ang="0">
                  <a:pos x="996" y="903"/>
                </a:cxn>
                <a:cxn ang="0">
                  <a:pos x="1230" y="1212"/>
                </a:cxn>
                <a:cxn ang="0">
                  <a:pos x="1400" y="1482"/>
                </a:cxn>
                <a:cxn ang="0">
                  <a:pos x="1548" y="1761"/>
                </a:cxn>
                <a:cxn ang="0">
                  <a:pos x="1665" y="2040"/>
                </a:cxn>
                <a:cxn ang="0">
                  <a:pos x="1751" y="2295"/>
                </a:cxn>
                <a:cxn ang="0">
                  <a:pos x="1809" y="2511"/>
                </a:cxn>
                <a:cxn ang="0">
                  <a:pos x="1863" y="2778"/>
                </a:cxn>
                <a:cxn ang="0">
                  <a:pos x="1890" y="3012"/>
                </a:cxn>
                <a:cxn ang="0">
                  <a:pos x="1905" y="3312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+mn-cs"/>
              </a:endParaRPr>
            </a:p>
          </p:txBody>
        </p:sp>
        <p:sp>
          <p:nvSpPr>
            <p:cNvPr id="407556" name="Arc 1028"/>
            <p:cNvSpPr/>
            <p:nvPr/>
          </p:nvSpPr>
          <p:spPr bwMode="auto">
            <a:xfrm>
              <a:off x="0" y="1"/>
              <a:ext cx="5298" cy="431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+mn-cs"/>
              </a:endParaRPr>
            </a:p>
          </p:txBody>
        </p:sp>
      </p:grpSp>
      <p:sp>
        <p:nvSpPr>
          <p:cNvPr id="407557" name="Rectangle 1029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n-US" smtClean="0"/>
              <a:t>Click to edit Master title style</a:t>
            </a:r>
            <a:endParaRPr lang="en-US" smtClean="0"/>
          </a:p>
        </p:txBody>
      </p:sp>
      <p:sp>
        <p:nvSpPr>
          <p:cNvPr id="407558" name="Rectangle 103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407559" name="Rectangle 103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+mn-ea"/>
              <a:cs typeface="+mn-cs"/>
            </a:endParaRPr>
          </a:p>
        </p:txBody>
      </p:sp>
      <p:sp>
        <p:nvSpPr>
          <p:cNvPr id="407560" name="Rectangle 103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imes New Roman" panose="02020603050405020304" charset="0"/>
              </a:rPr>
            </a:fld>
            <a:endParaRPr lang="en-US" dirty="0">
              <a:latin typeface="Times New Roman" panose="02020603050405020304" charset="0"/>
            </a:endParaRPr>
          </a:p>
        </p:txBody>
      </p:sp>
      <p:sp>
        <p:nvSpPr>
          <p:cNvPr id="1031" name="Rectangle 103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dirty="0"/>
              <a:t>Click to edit Master text styles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dirty="0"/>
          </a:p>
          <a:p>
            <a:pPr lvl="4"/>
            <a:r>
              <a:rPr dirty="0"/>
              <a:t>Fifth level</a:t>
            </a:r>
            <a:endParaRPr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Slide Number Placeholder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  <p:sp>
        <p:nvSpPr>
          <p:cNvPr id="3717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819400"/>
            <a:ext cx="822960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sng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charset="0"/>
                <a:ea typeface="+mj-ea"/>
                <a:cs typeface="+mj-cs"/>
              </a:rPr>
              <a:t> </a:t>
            </a:r>
            <a:br>
              <a:rPr kumimoji="0" lang="en-US" sz="3600" b="1" i="0" u="sng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charset="0"/>
                <a:ea typeface="+mj-ea"/>
                <a:cs typeface="+mj-cs"/>
              </a:rPr>
            </a:br>
            <a:br>
              <a:rPr kumimoji="0" lang="en-US" sz="3600" b="1" i="0" u="sng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charset="0"/>
                <a:ea typeface="+mj-ea"/>
                <a:cs typeface="+mj-cs"/>
              </a:rPr>
            </a:br>
            <a:br>
              <a:rPr kumimoji="0" lang="en-US" sz="3600" b="1" i="0" u="sng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charset="0"/>
                <a:ea typeface="+mj-ea"/>
                <a:cs typeface="+mj-cs"/>
              </a:rPr>
            </a:br>
            <a:r>
              <a:rPr kumimoji="0" lang="en-US" sz="3600" b="1" i="0" u="sng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charset="0"/>
                <a:ea typeface="+mj-ea"/>
                <a:cs typeface="+mj-cs"/>
              </a:rPr>
              <a:t>INTRODUCTION TO </a:t>
            </a:r>
            <a:r>
              <a:rPr kumimoji="0" lang="en-US" sz="3600" b="1" i="0" u="sng" strike="noStrike" kern="0" cap="none" spc="0" normalizeH="0" baseline="0" noProof="0" dirty="0" smtClean="0">
                <a:ln>
                  <a:noFill/>
                </a:ln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charset="0"/>
                <a:ea typeface="+mj-ea"/>
                <a:cs typeface="+mj-cs"/>
              </a:rPr>
              <a:t>PL/pgSQL</a:t>
            </a:r>
            <a:br>
              <a:rPr kumimoji="0" lang="en-US" sz="3600" b="1" i="0" u="sng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charset="0"/>
                <a:ea typeface="+mj-ea"/>
                <a:cs typeface="+mj-cs"/>
              </a:rPr>
            </a:br>
            <a:br>
              <a:rPr kumimoji="0" lang="en-US" sz="3600" b="1" i="0" u="sng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0" lang="en-US" sz="3600" b="1" i="0" u="sng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sz="36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076" name="Text Box 4"/>
          <p:cNvSpPr txBox="1"/>
          <p:nvPr/>
        </p:nvSpPr>
        <p:spPr>
          <a:xfrm>
            <a:off x="1652588" y="1668463"/>
            <a:ext cx="611187" cy="92075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p>
            <a:pPr>
              <a:spcBef>
                <a:spcPct val="50000"/>
              </a:spcBef>
            </a:pPr>
            <a:endParaRPr sz="2800" dirty="0">
              <a:latin typeface="Times New Roman" panose="02020603050405020304" charset="0"/>
            </a:endParaRPr>
          </a:p>
        </p:txBody>
      </p:sp>
      <p:sp>
        <p:nvSpPr>
          <p:cNvPr id="3077" name="Text Box 5"/>
          <p:cNvSpPr txBox="1"/>
          <p:nvPr/>
        </p:nvSpPr>
        <p:spPr>
          <a:xfrm>
            <a:off x="7466013" y="1371600"/>
            <a:ext cx="611187" cy="503238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p>
            <a:endParaRPr sz="2800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103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lIns="92075" tIns="46038" rIns="92075" bIns="46038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  <p:sp>
        <p:nvSpPr>
          <p:cNvPr id="40038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838200" y="0"/>
            <a:ext cx="8001000" cy="838200"/>
          </a:xfrm>
        </p:spPr>
        <p:txBody>
          <a:bodyPr vert="horz" wrap="square" lIns="92075" tIns="46038" rIns="92075" bIns="46038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sng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Arial Unicode MS" pitchFamily="34" charset="-128"/>
                <a:cs typeface="Arial Unicode MS" pitchFamily="34" charset="-128"/>
              </a:rPr>
              <a:t>PL/pgSQL</a:t>
            </a:r>
            <a:endParaRPr kumimoji="0" lang="en-US" sz="3200" b="1" i="0" u="sng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100" name="Rectangle 3"/>
          <p:cNvSpPr>
            <a:spLocks noGrp="1"/>
          </p:cNvSpPr>
          <p:nvPr>
            <p:ph type="subTitle" sz="quarter" idx="1"/>
          </p:nvPr>
        </p:nvSpPr>
        <p:spPr>
          <a:xfrm>
            <a:off x="0" y="914400"/>
            <a:ext cx="9144000" cy="5181600"/>
          </a:xfrm>
          <a:ln/>
        </p:spPr>
        <p:txBody>
          <a:bodyPr vert="horz" wrap="square" lIns="92075" tIns="46038" rIns="92075" bIns="46038" anchor="ctr" anchorCtr="0"/>
          <a:p>
            <a:pPr marL="882650" indent="-533400" algn="l" eaLnBrk="1" hangingPunct="1">
              <a:lnSpc>
                <a:spcPct val="90000"/>
              </a:lnSpc>
              <a:buClr>
                <a:schemeClr val="folHlink"/>
              </a:buClr>
              <a:buSzPct val="80000"/>
              <a:buFont typeface="Wingdings" panose="05000000000000000000" pitchFamily="2" charset="2"/>
              <a:buChar char="v"/>
            </a:pPr>
            <a:r>
              <a:rPr sz="3000" dirty="0">
                <a:latin typeface="+mn-lt"/>
                <a:ea typeface="+mn-ea"/>
                <a:cs typeface="+mn-cs"/>
              </a:rPr>
              <a:t>PL/SQL is </a:t>
            </a:r>
            <a:r>
              <a:rPr lang="en-US" altLang="en-US" sz="3000" i="1" dirty="0">
                <a:latin typeface="+mn-lt"/>
                <a:ea typeface="+mn-ea"/>
                <a:cs typeface="+mn-cs"/>
              </a:rPr>
              <a:t>PostgreSQL’s </a:t>
            </a:r>
            <a:r>
              <a:rPr sz="3000" i="1" dirty="0">
                <a:latin typeface="+mn-lt"/>
                <a:ea typeface="+mn-ea"/>
                <a:cs typeface="+mn-cs"/>
              </a:rPr>
              <a:t>procedural</a:t>
            </a:r>
            <a:r>
              <a:rPr sz="3000" dirty="0">
                <a:latin typeface="+mn-lt"/>
                <a:ea typeface="+mn-ea"/>
                <a:cs typeface="+mn-cs"/>
              </a:rPr>
              <a:t> language extension to SQL, the non-procedural relational database language. </a:t>
            </a:r>
            <a:endParaRPr sz="30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lnSpc>
                <a:spcPct val="90000"/>
              </a:lnSpc>
              <a:buClr>
                <a:schemeClr val="folHlink"/>
              </a:buClr>
              <a:buSzPct val="80000"/>
              <a:buFont typeface="Wingdings" panose="05000000000000000000" pitchFamily="2" charset="2"/>
              <a:buChar char="v"/>
            </a:pPr>
            <a:r>
              <a:rPr sz="3000" dirty="0">
                <a:latin typeface="+mn-lt"/>
                <a:ea typeface="+mn-ea"/>
                <a:cs typeface="+mn-cs"/>
              </a:rPr>
              <a:t>With PL/</a:t>
            </a:r>
            <a:r>
              <a:rPr lang="en-US" sz="3000" dirty="0">
                <a:latin typeface="+mn-lt"/>
                <a:ea typeface="+mn-ea"/>
                <a:cs typeface="+mn-cs"/>
              </a:rPr>
              <a:t>pg</a:t>
            </a:r>
            <a:r>
              <a:rPr sz="3000" dirty="0">
                <a:latin typeface="+mn-lt"/>
                <a:ea typeface="+mn-ea"/>
                <a:cs typeface="+mn-cs"/>
              </a:rPr>
              <a:t>SQL, you can use SQL statements to manipulate </a:t>
            </a:r>
            <a:r>
              <a:rPr lang="en-US" altLang="en-US" sz="3000" dirty="0">
                <a:latin typeface="+mn-lt"/>
                <a:ea typeface="+mn-ea"/>
                <a:cs typeface="+mn-cs"/>
              </a:rPr>
              <a:t>PostgreSQL </a:t>
            </a:r>
            <a:r>
              <a:rPr sz="3000" dirty="0">
                <a:latin typeface="+mn-lt"/>
                <a:ea typeface="+mn-ea"/>
                <a:cs typeface="+mn-cs"/>
              </a:rPr>
              <a:t>data and the </a:t>
            </a:r>
            <a:r>
              <a:rPr sz="3000" i="1" dirty="0">
                <a:latin typeface="+mn-lt"/>
                <a:ea typeface="+mn-ea"/>
                <a:cs typeface="+mn-cs"/>
              </a:rPr>
              <a:t>flow </a:t>
            </a:r>
            <a:r>
              <a:rPr sz="3000" dirty="0">
                <a:latin typeface="+mn-lt"/>
                <a:ea typeface="+mn-ea"/>
                <a:cs typeface="+mn-cs"/>
              </a:rPr>
              <a:t>of control statements to process the data. </a:t>
            </a:r>
            <a:endParaRPr sz="30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lnSpc>
                <a:spcPct val="90000"/>
              </a:lnSpc>
              <a:buClr>
                <a:schemeClr val="folHlink"/>
              </a:buClr>
              <a:buSzPct val="80000"/>
              <a:buFont typeface="Wingdings" panose="05000000000000000000" pitchFamily="2" charset="2"/>
              <a:buChar char="v"/>
            </a:pPr>
            <a:r>
              <a:rPr sz="3000" dirty="0">
                <a:latin typeface="+mn-lt"/>
                <a:ea typeface="+mn-ea"/>
                <a:cs typeface="+mn-cs"/>
              </a:rPr>
              <a:t>Moreover, you can declare constants and variables, define subprograms (procedures and functions), and trap runtime errors. </a:t>
            </a:r>
            <a:endParaRPr sz="30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lnSpc>
                <a:spcPct val="90000"/>
              </a:lnSpc>
              <a:buClr>
                <a:schemeClr val="folHlink"/>
              </a:buClr>
              <a:buSzPct val="80000"/>
              <a:buFont typeface="Wingdings" panose="05000000000000000000" pitchFamily="2" charset="2"/>
              <a:buChar char="v"/>
            </a:pPr>
            <a:r>
              <a:rPr sz="3000" dirty="0">
                <a:latin typeface="+mn-lt"/>
                <a:ea typeface="+mn-ea"/>
                <a:cs typeface="+mn-cs"/>
              </a:rPr>
              <a:t>Thus, PL/</a:t>
            </a:r>
            <a:r>
              <a:rPr lang="en-US" sz="3000" dirty="0">
                <a:latin typeface="+mn-lt"/>
                <a:ea typeface="+mn-ea"/>
                <a:cs typeface="+mn-cs"/>
              </a:rPr>
              <a:t>pg</a:t>
            </a:r>
            <a:r>
              <a:rPr sz="3000" dirty="0">
                <a:latin typeface="+mn-lt"/>
                <a:ea typeface="+mn-ea"/>
                <a:cs typeface="+mn-cs"/>
              </a:rPr>
              <a:t>SQL combines the data manipulating power of SQL with the data processing power of procedural languages. </a:t>
            </a:r>
            <a:endParaRPr sz="2800" dirty="0">
              <a:latin typeface="+mn-lt"/>
              <a:ea typeface="Arial Unicode MS" pitchFamily="34" charset="-128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103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lIns="92075" tIns="46038" rIns="92075" bIns="46038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  <p:sp>
        <p:nvSpPr>
          <p:cNvPr id="36249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838200" y="0"/>
            <a:ext cx="8001000" cy="838200"/>
          </a:xfrm>
        </p:spPr>
        <p:txBody>
          <a:bodyPr vert="horz" wrap="square" lIns="92075" tIns="46038" rIns="92075" bIns="46038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sng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Arial Unicode MS" pitchFamily="34" charset="-128"/>
                <a:cs typeface="Arial Unicode MS" pitchFamily="34" charset="-128"/>
              </a:rPr>
              <a:t>PL/pgSQL</a:t>
            </a:r>
            <a:endParaRPr kumimoji="0" lang="en-US" sz="3200" b="1" i="0" u="sng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5124" name="Rectangle 3"/>
          <p:cNvSpPr>
            <a:spLocks noGrp="1"/>
          </p:cNvSpPr>
          <p:nvPr>
            <p:ph type="subTitle" sz="quarter" idx="1"/>
          </p:nvPr>
        </p:nvSpPr>
        <p:spPr>
          <a:xfrm>
            <a:off x="0" y="914400"/>
            <a:ext cx="9144000" cy="5181600"/>
          </a:xfrm>
          <a:ln/>
        </p:spPr>
        <p:txBody>
          <a:bodyPr vert="horz" wrap="square" lIns="92075" tIns="46038" rIns="92075" bIns="46038" anchor="ctr" anchorCtr="0"/>
          <a:p>
            <a:pPr marL="882650" indent="-533400" algn="l" eaLnBrk="1" hangingPunct="1">
              <a:lnSpc>
                <a:spcPct val="90000"/>
              </a:lnSpc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</a:pPr>
            <a:r>
              <a:rPr sz="2800" dirty="0">
                <a:latin typeface="+mn-lt"/>
                <a:ea typeface="Arial Unicode MS" pitchFamily="34" charset="-128"/>
                <a:cs typeface="+mn-cs"/>
              </a:rPr>
              <a:t>Many </a:t>
            </a:r>
            <a:r>
              <a:rPr lang="en-US" altLang="en-US" sz="2800" dirty="0">
                <a:latin typeface="+mn-lt"/>
                <a:ea typeface="Arial Unicode MS" pitchFamily="34" charset="-128"/>
                <a:cs typeface="+mn-cs"/>
              </a:rPr>
              <a:t>PostgreSQL </a:t>
            </a:r>
            <a:r>
              <a:rPr sz="2800" dirty="0">
                <a:latin typeface="+mn-lt"/>
                <a:ea typeface="Arial Unicode MS" pitchFamily="34" charset="-128"/>
                <a:cs typeface="+mn-cs"/>
              </a:rPr>
              <a:t>applications are built using client-server architecture. The Oracle database resides on the server. </a:t>
            </a:r>
            <a:endParaRPr sz="2800" dirty="0">
              <a:latin typeface="+mn-lt"/>
              <a:ea typeface="Arial Unicode MS" pitchFamily="34" charset="-128"/>
              <a:cs typeface="+mn-cs"/>
            </a:endParaRPr>
          </a:p>
          <a:p>
            <a:pPr marL="882650" indent="-533400" algn="l" eaLnBrk="1" hangingPunct="1">
              <a:lnSpc>
                <a:spcPct val="90000"/>
              </a:lnSpc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</a:pPr>
            <a:r>
              <a:rPr sz="2800" dirty="0">
                <a:latin typeface="+mn-lt"/>
                <a:ea typeface="Arial Unicode MS" pitchFamily="34" charset="-128"/>
                <a:cs typeface="+mn-cs"/>
              </a:rPr>
              <a:t>The program that makes requests against this database resides on the client machine.</a:t>
            </a:r>
            <a:endParaRPr sz="2800" dirty="0">
              <a:latin typeface="+mn-lt"/>
              <a:ea typeface="Arial Unicode MS" pitchFamily="34" charset="-128"/>
              <a:cs typeface="+mn-cs"/>
            </a:endParaRPr>
          </a:p>
          <a:p>
            <a:pPr marL="882650" indent="-533400" algn="l" eaLnBrk="1" hangingPunct="1">
              <a:lnSpc>
                <a:spcPct val="90000"/>
              </a:lnSpc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</a:pPr>
            <a:r>
              <a:rPr sz="2800" dirty="0">
                <a:latin typeface="+mn-lt"/>
                <a:ea typeface="Arial Unicode MS" pitchFamily="34" charset="-128"/>
                <a:cs typeface="+mn-cs"/>
              </a:rPr>
              <a:t>This program can be written in C, Java, or PL/</a:t>
            </a:r>
            <a:r>
              <a:rPr lang="en-US" sz="2800" dirty="0">
                <a:latin typeface="+mn-lt"/>
                <a:ea typeface="Arial Unicode MS" pitchFamily="34" charset="-128"/>
                <a:cs typeface="+mn-cs"/>
              </a:rPr>
              <a:t>pg</a:t>
            </a:r>
            <a:r>
              <a:rPr sz="2800" dirty="0">
                <a:latin typeface="+mn-lt"/>
                <a:ea typeface="Arial Unicode MS" pitchFamily="34" charset="-128"/>
                <a:cs typeface="+mn-cs"/>
              </a:rPr>
              <a:t>SQL.</a:t>
            </a:r>
            <a:endParaRPr sz="2800" dirty="0">
              <a:latin typeface="+mn-lt"/>
              <a:ea typeface="Arial Unicode MS" pitchFamily="34" charset="-128"/>
              <a:cs typeface="+mn-cs"/>
            </a:endParaRPr>
          </a:p>
          <a:p>
            <a:pPr marL="882650" indent="-533400" algn="l" eaLnBrk="1" hangingPunct="1">
              <a:lnSpc>
                <a:spcPct val="90000"/>
              </a:lnSpc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</a:pPr>
            <a:r>
              <a:rPr sz="2800" dirty="0">
                <a:latin typeface="+mn-lt"/>
                <a:ea typeface="Arial Unicode MS" pitchFamily="34" charset="-128"/>
                <a:cs typeface="+mn-cs"/>
              </a:rPr>
              <a:t>While PL/</a:t>
            </a:r>
            <a:r>
              <a:rPr lang="en-US" sz="2800" dirty="0">
                <a:latin typeface="+mn-lt"/>
                <a:ea typeface="Arial Unicode MS" pitchFamily="34" charset="-128"/>
                <a:cs typeface="+mn-cs"/>
              </a:rPr>
              <a:t>pg</a:t>
            </a:r>
            <a:r>
              <a:rPr sz="2800" dirty="0">
                <a:latin typeface="+mn-lt"/>
                <a:ea typeface="Arial Unicode MS" pitchFamily="34" charset="-128"/>
                <a:cs typeface="+mn-cs"/>
              </a:rPr>
              <a:t>SQL is just like any other programming language, it has syntax and rules that determine how programming statements work together. </a:t>
            </a:r>
            <a:endParaRPr sz="2800" dirty="0">
              <a:latin typeface="+mn-lt"/>
              <a:ea typeface="Arial Unicode MS" pitchFamily="34" charset="-128"/>
              <a:cs typeface="+mn-cs"/>
            </a:endParaRPr>
          </a:p>
          <a:p>
            <a:pPr marL="882650" indent="-533400" algn="l" eaLnBrk="1" hangingPunct="1">
              <a:lnSpc>
                <a:spcPct val="90000"/>
              </a:lnSpc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</a:pPr>
            <a:r>
              <a:rPr sz="2800" dirty="0">
                <a:latin typeface="+mn-lt"/>
                <a:ea typeface="Arial Unicode MS" pitchFamily="34" charset="-128"/>
                <a:cs typeface="+mn-cs"/>
              </a:rPr>
              <a:t>It is important for you to realize that PL/</a:t>
            </a:r>
            <a:r>
              <a:rPr lang="en-US" sz="2800" dirty="0">
                <a:latin typeface="+mn-lt"/>
                <a:ea typeface="Arial Unicode MS" pitchFamily="34" charset="-128"/>
                <a:cs typeface="+mn-cs"/>
              </a:rPr>
              <a:t>pg</a:t>
            </a:r>
            <a:r>
              <a:rPr sz="2800" dirty="0">
                <a:latin typeface="+mn-lt"/>
                <a:ea typeface="Arial Unicode MS" pitchFamily="34" charset="-128"/>
                <a:cs typeface="+mn-cs"/>
              </a:rPr>
              <a:t>SQL is not a stand-alone programming language.</a:t>
            </a:r>
            <a:endParaRPr sz="2800" dirty="0">
              <a:latin typeface="+mn-lt"/>
              <a:ea typeface="Arial Unicode MS" pitchFamily="34" charset="-128"/>
              <a:cs typeface="+mn-cs"/>
            </a:endParaRPr>
          </a:p>
          <a:p>
            <a:pPr marL="882650" indent="-533400" algn="l" eaLnBrk="1" hangingPunct="1">
              <a:lnSpc>
                <a:spcPct val="90000"/>
              </a:lnSpc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</a:pPr>
            <a:r>
              <a:rPr sz="2800" dirty="0">
                <a:latin typeface="+mn-lt"/>
                <a:ea typeface="Arial Unicode MS" pitchFamily="34" charset="-128"/>
                <a:cs typeface="+mn-cs"/>
              </a:rPr>
              <a:t>PL/</a:t>
            </a:r>
            <a:r>
              <a:rPr lang="en-US" sz="2800" dirty="0">
                <a:latin typeface="+mn-lt"/>
                <a:ea typeface="Arial Unicode MS" pitchFamily="34" charset="-128"/>
                <a:cs typeface="+mn-cs"/>
              </a:rPr>
              <a:t>pg</a:t>
            </a:r>
            <a:r>
              <a:rPr sz="2800" dirty="0">
                <a:latin typeface="+mn-lt"/>
                <a:ea typeface="Arial Unicode MS" pitchFamily="34" charset="-128"/>
                <a:cs typeface="+mn-cs"/>
              </a:rPr>
              <a:t>SQL is a part of the </a:t>
            </a:r>
            <a:r>
              <a:rPr lang="en-US" sz="2800" dirty="0">
                <a:latin typeface="+mn-lt"/>
                <a:ea typeface="Arial Unicode MS" pitchFamily="34" charset="-128"/>
                <a:cs typeface="+mn-cs"/>
              </a:rPr>
              <a:t>postgreSql </a:t>
            </a:r>
            <a:r>
              <a:rPr sz="2800" dirty="0">
                <a:latin typeface="+mn-lt"/>
                <a:ea typeface="Arial Unicode MS" pitchFamily="34" charset="-128"/>
                <a:cs typeface="+mn-cs"/>
              </a:rPr>
              <a:t>RDBMS, and it can reside in two environments, the client and the server</a:t>
            </a:r>
            <a:endParaRPr sz="28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103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lIns="92075" tIns="46038" rIns="92075" bIns="46038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  <p:sp>
        <p:nvSpPr>
          <p:cNvPr id="399362" name="Rectangle 1026"/>
          <p:cNvSpPr>
            <a:spLocks noGrp="1" noChangeArrowheads="1"/>
          </p:cNvSpPr>
          <p:nvPr>
            <p:ph type="ctrTitle" sz="quarter"/>
          </p:nvPr>
        </p:nvSpPr>
        <p:spPr>
          <a:xfrm>
            <a:off x="381000" y="0"/>
            <a:ext cx="8458200" cy="838200"/>
          </a:xfrm>
        </p:spPr>
        <p:txBody>
          <a:bodyPr vert="horz" wrap="square" lIns="92075" tIns="46038" rIns="92075" bIns="46038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800" b="1" i="0" u="sng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Arial Unicode MS" pitchFamily="34" charset="-128"/>
                <a:cs typeface="Arial Unicode MS" pitchFamily="34" charset="-128"/>
              </a:rPr>
              <a:t>DIFFERENCE BETWEEN PL/pgSQL AND SQL</a:t>
            </a:r>
            <a:endParaRPr kumimoji="0" lang="en-US" sz="2800" b="1" i="0" u="sng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148" name="Rectangle 1027"/>
          <p:cNvSpPr>
            <a:spLocks noGrp="1"/>
          </p:cNvSpPr>
          <p:nvPr>
            <p:ph type="subTitle" sz="quarter" idx="1"/>
          </p:nvPr>
        </p:nvSpPr>
        <p:spPr>
          <a:xfrm>
            <a:off x="0" y="914400"/>
            <a:ext cx="8839200" cy="5181600"/>
          </a:xfrm>
          <a:ln/>
        </p:spPr>
        <p:txBody>
          <a:bodyPr vert="horz" wrap="square" lIns="92075" tIns="46038" rIns="92075" bIns="46038" anchor="ctr" anchorCtr="0"/>
          <a:p>
            <a:pPr marL="882650" indent="-533400" algn="just" eaLnBrk="1" hangingPunct="1">
              <a:lnSpc>
                <a:spcPct val="90000"/>
              </a:lnSpc>
              <a:buClr>
                <a:schemeClr val="folHlink"/>
              </a:buClr>
              <a:buSzPct val="80000"/>
              <a:buFont typeface="Wingdings" panose="05000000000000000000" pitchFamily="2" charset="2"/>
              <a:buChar char="v"/>
            </a:pPr>
            <a:r>
              <a:rPr sz="2400" dirty="0">
                <a:latin typeface="+mn-lt"/>
                <a:ea typeface="Arial Unicode MS" pitchFamily="34" charset="-128"/>
                <a:cs typeface="+mn-cs"/>
              </a:rPr>
              <a:t>When a SQL statement is issued on the client computer, the request is made to the database on the server, and the result set is sent back to the client.</a:t>
            </a:r>
            <a:endParaRPr sz="2400" dirty="0">
              <a:latin typeface="+mn-lt"/>
              <a:ea typeface="Arial Unicode MS" pitchFamily="34" charset="-128"/>
              <a:cs typeface="+mn-cs"/>
            </a:endParaRPr>
          </a:p>
          <a:p>
            <a:pPr marL="882650" indent="-533400" algn="just" eaLnBrk="1" hangingPunct="1">
              <a:lnSpc>
                <a:spcPct val="90000"/>
              </a:lnSpc>
              <a:buClr>
                <a:schemeClr val="folHlink"/>
              </a:buClr>
              <a:buSzPct val="80000"/>
              <a:buFont typeface="Wingdings" panose="05000000000000000000" pitchFamily="2" charset="2"/>
              <a:buChar char="v"/>
            </a:pPr>
            <a:r>
              <a:rPr sz="2400" dirty="0">
                <a:latin typeface="+mn-lt"/>
                <a:ea typeface="Arial Unicode MS" pitchFamily="34" charset="-128"/>
                <a:cs typeface="+mn-cs"/>
              </a:rPr>
              <a:t>As a result, a single SQL statement causes two trips on the network. If multiple SELECT statements are issued, the network traffic increase significantly very fast. </a:t>
            </a:r>
            <a:endParaRPr sz="2400" dirty="0">
              <a:latin typeface="+mn-lt"/>
              <a:ea typeface="Arial Unicode MS" pitchFamily="34" charset="-128"/>
              <a:cs typeface="+mn-cs"/>
            </a:endParaRPr>
          </a:p>
          <a:p>
            <a:pPr marL="1427480" lvl="1" indent="-457200" algn="just" eaLnBrk="1" hangingPunct="1">
              <a:lnSpc>
                <a:spcPct val="90000"/>
              </a:lnSpc>
              <a:buClr>
                <a:schemeClr val="folHlink"/>
              </a:buClr>
              <a:buSzPct val="90000"/>
              <a:buFont typeface="Wingdings" panose="05000000000000000000" pitchFamily="2" charset="2"/>
              <a:buChar char="v"/>
            </a:pPr>
            <a:r>
              <a:rPr sz="2400" dirty="0">
                <a:ea typeface="Arial Unicode MS" pitchFamily="34" charset="-128"/>
              </a:rPr>
              <a:t>For example, four SELECT statements cause eight network trips.</a:t>
            </a:r>
            <a:endParaRPr sz="2400" dirty="0">
              <a:ea typeface="Arial Unicode MS" pitchFamily="34" charset="-128"/>
            </a:endParaRPr>
          </a:p>
          <a:p>
            <a:pPr marL="882650" indent="-533400" algn="just" eaLnBrk="1" hangingPunct="1">
              <a:lnSpc>
                <a:spcPct val="90000"/>
              </a:lnSpc>
              <a:buClr>
                <a:schemeClr val="folHlink"/>
              </a:buClr>
              <a:buSzPct val="80000"/>
              <a:buFont typeface="Wingdings" panose="05000000000000000000" pitchFamily="2" charset="2"/>
              <a:buChar char="v"/>
            </a:pPr>
            <a:r>
              <a:rPr sz="2400" dirty="0">
                <a:latin typeface="+mn-lt"/>
                <a:ea typeface="Arial Unicode MS" pitchFamily="34" charset="-128"/>
                <a:cs typeface="+mn-cs"/>
              </a:rPr>
              <a:t>If these statements are part of the PL/</a:t>
            </a:r>
            <a:r>
              <a:rPr lang="en-US" sz="2400" dirty="0">
                <a:latin typeface="+mn-lt"/>
                <a:ea typeface="Arial Unicode MS" pitchFamily="34" charset="-128"/>
                <a:cs typeface="+mn-cs"/>
              </a:rPr>
              <a:t>pg</a:t>
            </a:r>
            <a:r>
              <a:rPr sz="2400" dirty="0">
                <a:latin typeface="+mn-lt"/>
                <a:ea typeface="Arial Unicode MS" pitchFamily="34" charset="-128"/>
                <a:cs typeface="+mn-cs"/>
              </a:rPr>
              <a:t>SQL block, they are sent to the server as a single unit. The SQL statements in this PL/</a:t>
            </a:r>
            <a:r>
              <a:rPr lang="en-US" sz="2400" dirty="0">
                <a:latin typeface="+mn-lt"/>
                <a:ea typeface="Arial Unicode MS" pitchFamily="34" charset="-128"/>
                <a:cs typeface="+mn-cs"/>
              </a:rPr>
              <a:t>pg</a:t>
            </a:r>
            <a:r>
              <a:rPr sz="2400" dirty="0">
                <a:latin typeface="+mn-lt"/>
                <a:ea typeface="Arial Unicode MS" pitchFamily="34" charset="-128"/>
                <a:cs typeface="+mn-cs"/>
              </a:rPr>
              <a:t>SQL program are executed at the server and the result set is sent back as a single unit. There is still only one network trip made as is in case of a single SELECT statement.</a:t>
            </a:r>
            <a:endParaRPr sz="2400" dirty="0">
              <a:latin typeface="+mn-lt"/>
              <a:ea typeface="Arial Unicode MS" pitchFamily="34" charset="-128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103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lIns="92075" tIns="46038" rIns="92075" bIns="46038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  <p:sp>
        <p:nvSpPr>
          <p:cNvPr id="36454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838200" y="0"/>
            <a:ext cx="8001000" cy="838200"/>
          </a:xfrm>
        </p:spPr>
        <p:txBody>
          <a:bodyPr vert="horz" wrap="square" lIns="92075" tIns="46038" rIns="92075" bIns="46038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sng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Arial Unicode MS" pitchFamily="34" charset="-128"/>
                <a:cs typeface="Arial Unicode MS" pitchFamily="34" charset="-128"/>
              </a:rPr>
              <a:t>PL/pgSQL BLOCK STRUCTURE</a:t>
            </a:r>
            <a:endParaRPr kumimoji="0" lang="en-US" sz="3200" b="1" i="0" u="sng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7172" name="Rectangle 3"/>
          <p:cNvSpPr>
            <a:spLocks noGrp="1"/>
          </p:cNvSpPr>
          <p:nvPr>
            <p:ph type="subTitle" sz="quarter" idx="1"/>
          </p:nvPr>
        </p:nvSpPr>
        <p:spPr>
          <a:xfrm>
            <a:off x="304800" y="914400"/>
            <a:ext cx="8839200" cy="5181600"/>
          </a:xfrm>
          <a:ln/>
        </p:spPr>
        <p:txBody>
          <a:bodyPr vert="horz" wrap="square" lIns="92075" tIns="46038" rIns="92075" bIns="46038" anchor="ctr" anchorCtr="0"/>
          <a:p>
            <a:pPr marL="958850" indent="-609600" algn="just" eaLnBrk="1" hangingPunct="1">
              <a:lnSpc>
                <a:spcPct val="90000"/>
              </a:lnSpc>
              <a:buClr>
                <a:srgbClr val="FFFF99"/>
              </a:buClr>
              <a:buSzTx/>
              <a:buFont typeface="Wingdings" panose="05000000000000000000" pitchFamily="2" charset="2"/>
              <a:buChar char="v"/>
            </a:pPr>
            <a:endParaRPr sz="2800" dirty="0">
              <a:latin typeface="+mn-lt"/>
              <a:ea typeface="Arial Unicode MS" pitchFamily="34" charset="-128"/>
              <a:cs typeface="+mn-cs"/>
            </a:endParaRPr>
          </a:p>
          <a:p>
            <a:pPr marL="958850" indent="-609600" algn="just" eaLnBrk="1" hangingPunct="1">
              <a:lnSpc>
                <a:spcPct val="90000"/>
              </a:lnSpc>
              <a:buClr>
                <a:srgbClr val="FFFF99"/>
              </a:buClr>
              <a:buSzTx/>
              <a:buFont typeface="Wingdings" panose="05000000000000000000" pitchFamily="2" charset="2"/>
              <a:buChar char="v"/>
            </a:pPr>
            <a:r>
              <a:rPr sz="2800" dirty="0">
                <a:latin typeface="+mn-lt"/>
                <a:ea typeface="Arial Unicode MS" pitchFamily="34" charset="-128"/>
                <a:cs typeface="+mn-cs"/>
              </a:rPr>
              <a:t>PL/</a:t>
            </a:r>
            <a:r>
              <a:rPr lang="en-US" sz="2800" dirty="0">
                <a:latin typeface="+mn-lt"/>
                <a:ea typeface="Arial Unicode MS" pitchFamily="34" charset="-128"/>
                <a:cs typeface="+mn-cs"/>
              </a:rPr>
              <a:t>pg</a:t>
            </a:r>
            <a:r>
              <a:rPr sz="2800" dirty="0">
                <a:latin typeface="+mn-lt"/>
                <a:ea typeface="Arial Unicode MS" pitchFamily="34" charset="-128"/>
                <a:cs typeface="+mn-cs"/>
              </a:rPr>
              <a:t>SQL blocks contain three sections</a:t>
            </a:r>
            <a:endParaRPr sz="2800" dirty="0">
              <a:latin typeface="+mn-lt"/>
              <a:ea typeface="Arial Unicode MS" pitchFamily="34" charset="-128"/>
              <a:cs typeface="+mn-cs"/>
            </a:endParaRPr>
          </a:p>
          <a:p>
            <a:pPr marL="1503680" lvl="1" indent="-533400" algn="just" eaLnBrk="1" hangingPunct="1">
              <a:lnSpc>
                <a:spcPct val="90000"/>
              </a:lnSpc>
              <a:buClr>
                <a:srgbClr val="FFFF99"/>
              </a:buClr>
              <a:buSzTx/>
              <a:buFont typeface="Wingdings" panose="05000000000000000000" pitchFamily="2" charset="2"/>
              <a:buAutoNum type="arabicPeriod"/>
            </a:pPr>
            <a:r>
              <a:rPr sz="2400" dirty="0">
                <a:ea typeface="Arial Unicode MS" pitchFamily="34" charset="-128"/>
              </a:rPr>
              <a:t>Declare section</a:t>
            </a:r>
            <a:endParaRPr sz="2400" dirty="0">
              <a:ea typeface="Arial Unicode MS" pitchFamily="34" charset="-128"/>
            </a:endParaRPr>
          </a:p>
          <a:p>
            <a:pPr marL="1503680" lvl="1" indent="-533400" algn="just" eaLnBrk="1" hangingPunct="1">
              <a:lnSpc>
                <a:spcPct val="90000"/>
              </a:lnSpc>
              <a:buClr>
                <a:srgbClr val="FFFF99"/>
              </a:buClr>
              <a:buSzTx/>
              <a:buFont typeface="Wingdings" panose="05000000000000000000" pitchFamily="2" charset="2"/>
              <a:buAutoNum type="arabicPeriod"/>
            </a:pPr>
            <a:r>
              <a:rPr sz="2400" dirty="0">
                <a:ea typeface="Arial Unicode MS" pitchFamily="34" charset="-128"/>
              </a:rPr>
              <a:t>Executable section and</a:t>
            </a:r>
            <a:endParaRPr sz="2400" dirty="0">
              <a:ea typeface="Arial Unicode MS" pitchFamily="34" charset="-128"/>
            </a:endParaRPr>
          </a:p>
          <a:p>
            <a:pPr marL="1503680" lvl="1" indent="-533400" algn="just" eaLnBrk="1" hangingPunct="1">
              <a:lnSpc>
                <a:spcPct val="90000"/>
              </a:lnSpc>
              <a:buClr>
                <a:srgbClr val="FFFF99"/>
              </a:buClr>
              <a:buSzTx/>
              <a:buFont typeface="Wingdings" panose="05000000000000000000" pitchFamily="2" charset="2"/>
              <a:buAutoNum type="arabicPeriod"/>
            </a:pPr>
            <a:r>
              <a:rPr sz="2400" dirty="0">
                <a:ea typeface="Arial Unicode MS" pitchFamily="34" charset="-128"/>
              </a:rPr>
              <a:t>Exception-handling section.</a:t>
            </a:r>
            <a:endParaRPr sz="2400" dirty="0">
              <a:ea typeface="Arial Unicode MS" pitchFamily="34" charset="-128"/>
            </a:endParaRPr>
          </a:p>
          <a:p>
            <a:pPr marL="958850" indent="-609600" algn="just" eaLnBrk="1" hangingPunct="1">
              <a:lnSpc>
                <a:spcPct val="90000"/>
              </a:lnSpc>
              <a:buClr>
                <a:srgbClr val="FFFF99"/>
              </a:buClr>
              <a:buSzTx/>
              <a:buFont typeface="Wingdings" panose="05000000000000000000" pitchFamily="2" charset="2"/>
              <a:buAutoNum type="arabicPeriod"/>
            </a:pPr>
            <a:endParaRPr sz="2800" dirty="0">
              <a:latin typeface="+mn-lt"/>
              <a:ea typeface="Arial Unicode MS" pitchFamily="34" charset="-128"/>
              <a:cs typeface="+mn-cs"/>
            </a:endParaRPr>
          </a:p>
          <a:p>
            <a:pPr marL="958850" indent="-609600" algn="just" eaLnBrk="1" hangingPunct="1">
              <a:lnSpc>
                <a:spcPct val="90000"/>
              </a:lnSpc>
              <a:buClr>
                <a:srgbClr val="FFFF99"/>
              </a:buClr>
              <a:buSzTx/>
              <a:buFont typeface="Wingdings" panose="05000000000000000000" pitchFamily="2" charset="2"/>
              <a:buChar char="v"/>
            </a:pPr>
            <a:r>
              <a:rPr sz="2800" dirty="0">
                <a:latin typeface="+mn-lt"/>
                <a:ea typeface="Arial Unicode MS" pitchFamily="34" charset="-128"/>
                <a:cs typeface="+mn-cs"/>
              </a:rPr>
              <a:t>The executable section is the only mandatory section of the block.</a:t>
            </a:r>
            <a:endParaRPr sz="2800" dirty="0">
              <a:latin typeface="+mn-lt"/>
              <a:ea typeface="Arial Unicode MS" pitchFamily="34" charset="-128"/>
              <a:cs typeface="+mn-cs"/>
            </a:endParaRPr>
          </a:p>
          <a:p>
            <a:pPr marL="958850" indent="-609600" algn="just" eaLnBrk="1" hangingPunct="1">
              <a:lnSpc>
                <a:spcPct val="90000"/>
              </a:lnSpc>
              <a:buClr>
                <a:srgbClr val="FFFF99"/>
              </a:buClr>
              <a:buSzTx/>
              <a:buFont typeface="Wingdings" panose="05000000000000000000" pitchFamily="2" charset="2"/>
              <a:buChar char="v"/>
            </a:pPr>
            <a:r>
              <a:rPr sz="2800" dirty="0">
                <a:latin typeface="+mn-lt"/>
                <a:ea typeface="Arial Unicode MS" pitchFamily="34" charset="-128"/>
                <a:cs typeface="+mn-cs"/>
              </a:rPr>
              <a:t>Both the declaration and exception-handling sections are optional.</a:t>
            </a:r>
            <a:endParaRPr sz="2800" dirty="0">
              <a:latin typeface="+mn-lt"/>
              <a:ea typeface="Arial Unicode MS" pitchFamily="34" charset="-128"/>
              <a:cs typeface="+mn-cs"/>
            </a:endParaRPr>
          </a:p>
          <a:p>
            <a:pPr marL="958850" indent="-609600" algn="just" eaLnBrk="1" hangingPunct="1">
              <a:lnSpc>
                <a:spcPct val="90000"/>
              </a:lnSpc>
              <a:buClr>
                <a:srgbClr val="FFFF99"/>
              </a:buClr>
              <a:buSzTx/>
              <a:buFont typeface="Wingdings" panose="05000000000000000000" pitchFamily="2" charset="2"/>
              <a:buChar char="v"/>
            </a:pPr>
            <a:endParaRPr sz="2800" dirty="0">
              <a:latin typeface="+mn-lt"/>
              <a:ea typeface="Arial Unicode MS" pitchFamily="34" charset="-128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103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lIns="92075" tIns="46038" rIns="92075" bIns="46038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  <p:sp>
        <p:nvSpPr>
          <p:cNvPr id="36557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838200" y="0"/>
            <a:ext cx="8001000" cy="838200"/>
          </a:xfrm>
        </p:spPr>
        <p:txBody>
          <a:bodyPr vert="horz" wrap="square" lIns="92075" tIns="46038" rIns="92075" bIns="46038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sng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Arial Unicode MS" pitchFamily="34" charset="-128"/>
                <a:cs typeface="Arial Unicode MS" pitchFamily="34" charset="-128"/>
              </a:rPr>
              <a:t>PL/SQL BLOCK STRUCTURE</a:t>
            </a:r>
            <a:endParaRPr kumimoji="0" lang="en-US" sz="3200" b="1" i="0" u="sng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196" name="Rectangle 3"/>
          <p:cNvSpPr>
            <a:spLocks noGrp="1"/>
          </p:cNvSpPr>
          <p:nvPr>
            <p:ph type="subTitle" sz="quarter" idx="1"/>
          </p:nvPr>
        </p:nvSpPr>
        <p:spPr>
          <a:xfrm>
            <a:off x="304800" y="914400"/>
            <a:ext cx="8839200" cy="5181600"/>
          </a:xfrm>
          <a:ln/>
        </p:spPr>
        <p:txBody>
          <a:bodyPr vert="horz" wrap="square" lIns="92075" tIns="46038" rIns="92075" bIns="46038" anchor="ctr" anchorCtr="0"/>
          <a:p>
            <a:pPr marL="882650" indent="-533400" algn="just" eaLnBrk="1" hangingPunct="1">
              <a:lnSpc>
                <a:spcPct val="90000"/>
              </a:lnSpc>
              <a:buSzPct val="80000"/>
              <a:buFont typeface="Wingdings" panose="05000000000000000000" pitchFamily="2" charset="2"/>
              <a:buChar char="l"/>
            </a:pPr>
            <a:endParaRPr sz="2800" dirty="0">
              <a:latin typeface="+mn-lt"/>
              <a:ea typeface="Arial Unicode MS" pitchFamily="34" charset="-128"/>
              <a:cs typeface="+mn-cs"/>
            </a:endParaRPr>
          </a:p>
          <a:p>
            <a:pPr marL="882650" indent="-533400" algn="just" eaLnBrk="1" hangingPunct="1">
              <a:lnSpc>
                <a:spcPct val="90000"/>
              </a:lnSpc>
              <a:buSzPct val="80000"/>
              <a:buFont typeface="Wingdings" panose="05000000000000000000" pitchFamily="2" charset="2"/>
              <a:buChar char="l"/>
            </a:pPr>
            <a:r>
              <a:rPr sz="2800" dirty="0">
                <a:latin typeface="+mn-lt"/>
                <a:ea typeface="Arial Unicode MS" pitchFamily="34" charset="-128"/>
                <a:cs typeface="+mn-cs"/>
              </a:rPr>
              <a:t>PL/</a:t>
            </a:r>
            <a:r>
              <a:rPr lang="en-US" sz="2800" dirty="0">
                <a:latin typeface="+mn-lt"/>
                <a:ea typeface="Arial Unicode MS" pitchFamily="34" charset="-128"/>
                <a:cs typeface="+mn-cs"/>
              </a:rPr>
              <a:t>pg</a:t>
            </a:r>
            <a:r>
              <a:rPr sz="2800" dirty="0">
                <a:latin typeface="+mn-lt"/>
                <a:ea typeface="Arial Unicode MS" pitchFamily="34" charset="-128"/>
                <a:cs typeface="+mn-cs"/>
              </a:rPr>
              <a:t>SQL block has the following structure:</a:t>
            </a:r>
            <a:endParaRPr sz="2800" dirty="0">
              <a:latin typeface="+mn-lt"/>
              <a:ea typeface="Arial Unicode MS" pitchFamily="34" charset="-128"/>
              <a:cs typeface="+mn-cs"/>
            </a:endParaRPr>
          </a:p>
          <a:p>
            <a:pPr marL="1427480" lvl="1" indent="-457200" algn="just" eaLnBrk="1" hangingPunct="1">
              <a:lnSpc>
                <a:spcPct val="90000"/>
              </a:lnSpc>
              <a:buClr>
                <a:schemeClr val="tx1"/>
              </a:buClr>
              <a:buSzPct val="90000"/>
              <a:buFontTx/>
              <a:buNone/>
            </a:pPr>
            <a:endParaRPr sz="2400" dirty="0">
              <a:ea typeface="Arial Unicode MS" pitchFamily="34" charset="-128"/>
            </a:endParaRPr>
          </a:p>
          <a:p>
            <a:pPr marL="1427480" lvl="1" indent="-457200" algn="just" eaLnBrk="1" hangingPunct="1">
              <a:lnSpc>
                <a:spcPct val="90000"/>
              </a:lnSpc>
              <a:buClr>
                <a:schemeClr val="tx1"/>
              </a:buClr>
              <a:buSzPct val="90000"/>
              <a:buFontTx/>
              <a:buNone/>
            </a:pPr>
            <a:r>
              <a:rPr dirty="0">
                <a:ea typeface="Arial Unicode MS" pitchFamily="34" charset="-128"/>
              </a:rPr>
              <a:t>DECLARE </a:t>
            </a:r>
            <a:endParaRPr dirty="0">
              <a:ea typeface="Arial Unicode MS" pitchFamily="34" charset="-128"/>
            </a:endParaRPr>
          </a:p>
          <a:p>
            <a:pPr marL="1427480" lvl="1" indent="-457200" algn="just" eaLnBrk="1" hangingPunct="1">
              <a:lnSpc>
                <a:spcPct val="90000"/>
              </a:lnSpc>
              <a:buClr>
                <a:schemeClr val="tx1"/>
              </a:buClr>
              <a:buSzPct val="90000"/>
              <a:buFontTx/>
              <a:buNone/>
            </a:pPr>
            <a:r>
              <a:rPr dirty="0">
                <a:ea typeface="Arial Unicode MS" pitchFamily="34" charset="-128"/>
              </a:rPr>
              <a:t>	Declaration statements</a:t>
            </a:r>
            <a:endParaRPr dirty="0">
              <a:ea typeface="Arial Unicode MS" pitchFamily="34" charset="-128"/>
            </a:endParaRPr>
          </a:p>
          <a:p>
            <a:pPr marL="1427480" lvl="1" indent="-457200" algn="just" eaLnBrk="1" hangingPunct="1">
              <a:lnSpc>
                <a:spcPct val="90000"/>
              </a:lnSpc>
              <a:buClr>
                <a:schemeClr val="tx1"/>
              </a:buClr>
              <a:buSzPct val="90000"/>
              <a:buFontTx/>
              <a:buNone/>
            </a:pPr>
            <a:r>
              <a:rPr dirty="0">
                <a:ea typeface="Arial Unicode MS" pitchFamily="34" charset="-128"/>
              </a:rPr>
              <a:t>BEGIN</a:t>
            </a:r>
            <a:endParaRPr dirty="0">
              <a:ea typeface="Arial Unicode MS" pitchFamily="34" charset="-128"/>
            </a:endParaRPr>
          </a:p>
          <a:p>
            <a:pPr marL="1427480" lvl="1" indent="-457200" algn="just" eaLnBrk="1" hangingPunct="1">
              <a:lnSpc>
                <a:spcPct val="90000"/>
              </a:lnSpc>
              <a:buClr>
                <a:schemeClr val="tx1"/>
              </a:buClr>
              <a:buSzPct val="90000"/>
              <a:buFontTx/>
              <a:buNone/>
            </a:pPr>
            <a:r>
              <a:rPr dirty="0">
                <a:ea typeface="Arial Unicode MS" pitchFamily="34" charset="-128"/>
              </a:rPr>
              <a:t>	Executable statements</a:t>
            </a:r>
            <a:endParaRPr dirty="0">
              <a:ea typeface="Arial Unicode MS" pitchFamily="34" charset="-128"/>
            </a:endParaRPr>
          </a:p>
          <a:p>
            <a:pPr marL="1427480" lvl="1" indent="-457200" algn="just" eaLnBrk="1" hangingPunct="1">
              <a:lnSpc>
                <a:spcPct val="90000"/>
              </a:lnSpc>
              <a:buClr>
                <a:schemeClr val="tx1"/>
              </a:buClr>
              <a:buSzPct val="90000"/>
              <a:buFontTx/>
              <a:buNone/>
            </a:pPr>
            <a:r>
              <a:rPr dirty="0">
                <a:ea typeface="Arial Unicode MS" pitchFamily="34" charset="-128"/>
              </a:rPr>
              <a:t>EXCE</a:t>
            </a:r>
            <a:r>
              <a:rPr lang="en-US" dirty="0">
                <a:ea typeface="Arial Unicode MS" pitchFamily="34" charset="-128"/>
              </a:rPr>
              <a:t>P</a:t>
            </a:r>
            <a:r>
              <a:rPr dirty="0">
                <a:ea typeface="Arial Unicode MS" pitchFamily="34" charset="-128"/>
              </a:rPr>
              <a:t>TION</a:t>
            </a:r>
            <a:endParaRPr dirty="0">
              <a:ea typeface="Arial Unicode MS" pitchFamily="34" charset="-128"/>
            </a:endParaRPr>
          </a:p>
          <a:p>
            <a:pPr marL="1427480" lvl="1" indent="-457200" algn="just" eaLnBrk="1" hangingPunct="1">
              <a:lnSpc>
                <a:spcPct val="90000"/>
              </a:lnSpc>
              <a:buClr>
                <a:schemeClr val="tx1"/>
              </a:buClr>
              <a:buSzPct val="90000"/>
              <a:buFontTx/>
              <a:buNone/>
            </a:pPr>
            <a:r>
              <a:rPr dirty="0">
                <a:ea typeface="Arial Unicode MS" pitchFamily="34" charset="-128"/>
              </a:rPr>
              <a:t>	Exception-handling statements</a:t>
            </a:r>
            <a:endParaRPr dirty="0">
              <a:ea typeface="Arial Unicode MS" pitchFamily="34" charset="-128"/>
            </a:endParaRPr>
          </a:p>
          <a:p>
            <a:pPr marL="1427480" lvl="1" indent="-457200" algn="just" eaLnBrk="1" hangingPunct="1">
              <a:lnSpc>
                <a:spcPct val="90000"/>
              </a:lnSpc>
              <a:buClr>
                <a:schemeClr val="tx1"/>
              </a:buClr>
              <a:buSzPct val="90000"/>
              <a:buFontTx/>
              <a:buNone/>
            </a:pPr>
            <a:r>
              <a:rPr dirty="0">
                <a:ea typeface="Arial Unicode MS" pitchFamily="34" charset="-128"/>
              </a:rPr>
              <a:t>END ;</a:t>
            </a:r>
            <a:endParaRPr dirty="0">
              <a:ea typeface="Arial Unicode MS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103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lIns="92075" tIns="46038" rIns="92075" bIns="46038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  <p:sp>
        <p:nvSpPr>
          <p:cNvPr id="366594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838200" y="0"/>
            <a:ext cx="8001000" cy="838200"/>
          </a:xfrm>
        </p:spPr>
        <p:txBody>
          <a:bodyPr vert="horz" wrap="square" lIns="92075" tIns="46038" rIns="92075" bIns="46038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sng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Arial Unicode MS" pitchFamily="34" charset="-128"/>
                <a:cs typeface="Arial Unicode MS" pitchFamily="34" charset="-128"/>
              </a:rPr>
              <a:t>DECLARATION SECTION</a:t>
            </a:r>
            <a:endParaRPr kumimoji="0" lang="en-US" sz="3200" b="1" i="0" u="sng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220" name="Rectangle 3"/>
          <p:cNvSpPr>
            <a:spLocks noGrp="1"/>
          </p:cNvSpPr>
          <p:nvPr>
            <p:ph type="subTitle" sz="quarter" idx="1"/>
          </p:nvPr>
        </p:nvSpPr>
        <p:spPr>
          <a:xfrm>
            <a:off x="304800" y="914400"/>
            <a:ext cx="8458200" cy="5181600"/>
          </a:xfrm>
          <a:ln/>
        </p:spPr>
        <p:txBody>
          <a:bodyPr vert="horz" wrap="square" lIns="92075" tIns="46038" rIns="92075" bIns="46038" anchor="ctr" anchorCtr="0"/>
          <a:p>
            <a:pPr marL="882650" indent="-533400" algn="just" eaLnBrk="1" hangingPunct="1">
              <a:lnSpc>
                <a:spcPct val="90000"/>
              </a:lnSpc>
              <a:buSzPct val="80000"/>
              <a:buFont typeface="Wingdings" panose="05000000000000000000" pitchFamily="2" charset="2"/>
              <a:buChar char="l"/>
            </a:pPr>
            <a:r>
              <a:rPr sz="2800" dirty="0">
                <a:latin typeface="+mn-lt"/>
                <a:ea typeface="Arial Unicode MS" pitchFamily="34" charset="-128"/>
                <a:cs typeface="+mn-cs"/>
              </a:rPr>
              <a:t>The </a:t>
            </a:r>
            <a:r>
              <a:rPr sz="2800" i="1" dirty="0">
                <a:latin typeface="+mn-lt"/>
                <a:ea typeface="Arial Unicode MS" pitchFamily="34" charset="-128"/>
                <a:cs typeface="+mn-cs"/>
              </a:rPr>
              <a:t>declaration section </a:t>
            </a:r>
            <a:r>
              <a:rPr sz="2800" dirty="0">
                <a:latin typeface="+mn-lt"/>
                <a:ea typeface="Arial Unicode MS" pitchFamily="34" charset="-128"/>
                <a:cs typeface="+mn-cs"/>
              </a:rPr>
              <a:t>is the first section of the PL/</a:t>
            </a:r>
            <a:r>
              <a:rPr lang="en-US" sz="2800" dirty="0">
                <a:latin typeface="+mn-lt"/>
                <a:ea typeface="Arial Unicode MS" pitchFamily="34" charset="-128"/>
                <a:cs typeface="+mn-cs"/>
              </a:rPr>
              <a:t>pg</a:t>
            </a:r>
            <a:r>
              <a:rPr sz="2800" dirty="0">
                <a:latin typeface="+mn-lt"/>
                <a:ea typeface="Arial Unicode MS" pitchFamily="34" charset="-128"/>
                <a:cs typeface="+mn-cs"/>
              </a:rPr>
              <a:t>SQL block.</a:t>
            </a:r>
            <a:endParaRPr sz="2800" dirty="0">
              <a:latin typeface="+mn-lt"/>
              <a:ea typeface="Arial Unicode MS" pitchFamily="34" charset="-128"/>
              <a:cs typeface="+mn-cs"/>
            </a:endParaRPr>
          </a:p>
          <a:p>
            <a:pPr marL="882650" indent="-533400" algn="just" eaLnBrk="1" hangingPunct="1">
              <a:lnSpc>
                <a:spcPct val="90000"/>
              </a:lnSpc>
              <a:buSzPct val="80000"/>
              <a:buFont typeface="Wingdings" panose="05000000000000000000" pitchFamily="2" charset="2"/>
              <a:buChar char="l"/>
            </a:pPr>
            <a:r>
              <a:rPr sz="2800" dirty="0">
                <a:latin typeface="+mn-lt"/>
                <a:ea typeface="Arial Unicode MS" pitchFamily="34" charset="-128"/>
                <a:cs typeface="+mn-cs"/>
              </a:rPr>
              <a:t>It contains definitions of PL/SQL identifiers such as variables, constants, cursors and so on.</a:t>
            </a:r>
            <a:endParaRPr sz="2800" dirty="0">
              <a:latin typeface="+mn-lt"/>
              <a:ea typeface="Arial Unicode MS" pitchFamily="34" charset="-128"/>
              <a:cs typeface="+mn-cs"/>
            </a:endParaRPr>
          </a:p>
          <a:p>
            <a:pPr marL="882650" indent="-533400" algn="just" eaLnBrk="1" hangingPunct="1">
              <a:lnSpc>
                <a:spcPct val="90000"/>
              </a:lnSpc>
              <a:buSzPct val="80000"/>
              <a:buFont typeface="Wingdings" panose="05000000000000000000" pitchFamily="2" charset="2"/>
              <a:buChar char="l"/>
            </a:pPr>
            <a:r>
              <a:rPr sz="2800" u="sng" dirty="0">
                <a:latin typeface="+mn-lt"/>
                <a:ea typeface="Arial Unicode MS" pitchFamily="34" charset="-128"/>
                <a:cs typeface="+mn-cs"/>
              </a:rPr>
              <a:t>Example</a:t>
            </a:r>
            <a:endParaRPr sz="2800" u="sng" dirty="0">
              <a:latin typeface="+mn-lt"/>
              <a:ea typeface="Arial Unicode MS" pitchFamily="34" charset="-128"/>
              <a:cs typeface="+mn-cs"/>
            </a:endParaRPr>
          </a:p>
          <a:p>
            <a:pPr marL="1427480" lvl="1" indent="-457200" algn="just" eaLnBrk="1" hangingPunct="1">
              <a:lnSpc>
                <a:spcPct val="90000"/>
              </a:lnSpc>
              <a:buClr>
                <a:schemeClr val="tx1"/>
              </a:buClr>
              <a:buSzPct val="90000"/>
              <a:buFontTx/>
              <a:buNone/>
            </a:pPr>
            <a:r>
              <a:rPr dirty="0">
                <a:ea typeface="Arial Unicode MS" pitchFamily="34" charset="-128"/>
              </a:rPr>
              <a:t>DECLARE</a:t>
            </a:r>
            <a:endParaRPr dirty="0">
              <a:ea typeface="Arial Unicode MS" pitchFamily="34" charset="-128"/>
            </a:endParaRPr>
          </a:p>
          <a:p>
            <a:pPr marL="1427480" lvl="1" indent="-457200" algn="just" eaLnBrk="1" hangingPunct="1">
              <a:lnSpc>
                <a:spcPct val="90000"/>
              </a:lnSpc>
              <a:buClr>
                <a:schemeClr val="tx1"/>
              </a:buClr>
              <a:buSzPct val="90000"/>
              <a:buFontTx/>
              <a:buNone/>
            </a:pPr>
            <a:r>
              <a:rPr dirty="0">
                <a:ea typeface="Arial Unicode MS" pitchFamily="34" charset="-128"/>
              </a:rPr>
              <a:t>	v_first_name VARCHAR2(35) ;</a:t>
            </a:r>
            <a:endParaRPr dirty="0">
              <a:ea typeface="Arial Unicode MS" pitchFamily="34" charset="-128"/>
            </a:endParaRPr>
          </a:p>
          <a:p>
            <a:pPr marL="1427480" lvl="1" indent="-457200" algn="just" eaLnBrk="1" hangingPunct="1">
              <a:lnSpc>
                <a:spcPct val="90000"/>
              </a:lnSpc>
              <a:buClr>
                <a:schemeClr val="tx1"/>
              </a:buClr>
              <a:buSzPct val="90000"/>
              <a:buFontTx/>
              <a:buNone/>
            </a:pPr>
            <a:r>
              <a:rPr dirty="0">
                <a:ea typeface="Arial Unicode MS" pitchFamily="34" charset="-128"/>
              </a:rPr>
              <a:t>	v_last_name VARCHAR2(35) ;</a:t>
            </a:r>
            <a:endParaRPr dirty="0">
              <a:ea typeface="Arial Unicode MS" pitchFamily="34" charset="-128"/>
            </a:endParaRPr>
          </a:p>
          <a:p>
            <a:pPr marL="1427480" lvl="1" indent="-457200" algn="just" eaLnBrk="1" hangingPunct="1">
              <a:lnSpc>
                <a:spcPct val="90000"/>
              </a:lnSpc>
              <a:buClr>
                <a:schemeClr val="tx1"/>
              </a:buClr>
              <a:buSzPct val="90000"/>
              <a:buFontTx/>
              <a:buNone/>
            </a:pPr>
            <a:r>
              <a:rPr dirty="0">
                <a:ea typeface="Arial Unicode MS" pitchFamily="34" charset="-128"/>
              </a:rPr>
              <a:t>	v_counter NUMBER := 0 ;</a:t>
            </a:r>
            <a:endParaRPr dirty="0">
              <a:ea typeface="Arial Unicode MS" pitchFamily="34" charset="-128"/>
            </a:endParaRPr>
          </a:p>
          <a:p>
            <a:pPr marL="1427480" lvl="1" indent="-457200" algn="just" eaLnBrk="1" hangingPunct="1">
              <a:lnSpc>
                <a:spcPct val="90000"/>
              </a:lnSpc>
              <a:buClr>
                <a:schemeClr val="tx1"/>
              </a:buClr>
              <a:buSzPct val="90000"/>
              <a:buFontTx/>
              <a:buNone/>
            </a:pPr>
            <a:endParaRPr dirty="0">
              <a:ea typeface="Arial Unicode MS" pitchFamily="34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103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lIns="92075" tIns="46038" rIns="92075" bIns="46038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  <p:sp>
        <p:nvSpPr>
          <p:cNvPr id="36761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838200" y="0"/>
            <a:ext cx="8001000" cy="838200"/>
          </a:xfrm>
        </p:spPr>
        <p:txBody>
          <a:bodyPr vert="horz" wrap="square" lIns="92075" tIns="46038" rIns="92075" bIns="46038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sng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Arial Unicode MS" pitchFamily="34" charset="-128"/>
                <a:cs typeface="Arial Unicode MS" pitchFamily="34" charset="-128"/>
              </a:rPr>
              <a:t>EXECUTABLE SECTION</a:t>
            </a:r>
            <a:endParaRPr kumimoji="0" lang="en-US" sz="3200" b="1" i="0" u="sng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244" name="Rectangle 3"/>
          <p:cNvSpPr>
            <a:spLocks noGrp="1"/>
          </p:cNvSpPr>
          <p:nvPr>
            <p:ph type="subTitle" sz="quarter" idx="1"/>
          </p:nvPr>
        </p:nvSpPr>
        <p:spPr>
          <a:xfrm>
            <a:off x="0" y="914400"/>
            <a:ext cx="9144000" cy="5410200"/>
          </a:xfrm>
          <a:ln/>
        </p:spPr>
        <p:txBody>
          <a:bodyPr vert="horz" wrap="square" lIns="92075" tIns="46038" rIns="92075" bIns="46038" anchor="ctr" anchorCtr="0"/>
          <a:p>
            <a:pPr marL="882650" indent="-533400" algn="just" eaLnBrk="1" hangingPunct="1">
              <a:lnSpc>
                <a:spcPct val="90000"/>
              </a:lnSpc>
              <a:buSzPct val="80000"/>
              <a:buFont typeface="Wingdings" panose="05000000000000000000" pitchFamily="2" charset="2"/>
              <a:buChar char="l"/>
            </a:pPr>
            <a:r>
              <a:rPr sz="2400" dirty="0">
                <a:latin typeface="+mn-lt"/>
                <a:ea typeface="Arial Unicode MS" pitchFamily="34" charset="-128"/>
                <a:cs typeface="+mn-cs"/>
              </a:rPr>
              <a:t>The executable section is the next section of the PL/</a:t>
            </a:r>
            <a:r>
              <a:rPr lang="en-US" sz="2400" dirty="0">
                <a:latin typeface="+mn-lt"/>
                <a:ea typeface="Arial Unicode MS" pitchFamily="34" charset="-128"/>
                <a:cs typeface="+mn-cs"/>
              </a:rPr>
              <a:t>pg</a:t>
            </a:r>
            <a:r>
              <a:rPr sz="2400" dirty="0">
                <a:latin typeface="+mn-lt"/>
                <a:ea typeface="Arial Unicode MS" pitchFamily="34" charset="-128"/>
                <a:cs typeface="+mn-cs"/>
              </a:rPr>
              <a:t>SQL block.</a:t>
            </a:r>
            <a:endParaRPr sz="2400" dirty="0">
              <a:latin typeface="+mn-lt"/>
              <a:ea typeface="Arial Unicode MS" pitchFamily="34" charset="-128"/>
              <a:cs typeface="+mn-cs"/>
            </a:endParaRPr>
          </a:p>
          <a:p>
            <a:pPr marL="882650" indent="-533400" algn="just" eaLnBrk="1" hangingPunct="1">
              <a:lnSpc>
                <a:spcPct val="90000"/>
              </a:lnSpc>
              <a:buSzPct val="80000"/>
              <a:buFont typeface="Wingdings" panose="05000000000000000000" pitchFamily="2" charset="2"/>
              <a:buChar char="l"/>
            </a:pPr>
            <a:r>
              <a:rPr sz="2000" dirty="0">
                <a:latin typeface="+mn-lt"/>
                <a:ea typeface="Arial Unicode MS" pitchFamily="34" charset="-128"/>
                <a:cs typeface="+mn-cs"/>
              </a:rPr>
              <a:t>This section contains executable statements that allow you to manipulate the variables that have been declared in the declaration section.</a:t>
            </a:r>
            <a:endParaRPr sz="2000" dirty="0">
              <a:latin typeface="+mn-lt"/>
              <a:ea typeface="Arial Unicode MS" pitchFamily="34" charset="-128"/>
              <a:cs typeface="+mn-cs"/>
            </a:endParaRPr>
          </a:p>
          <a:p>
            <a:pPr marL="1427480" lvl="1" indent="-457200" algn="just" eaLnBrk="1" hangingPunct="1">
              <a:lnSpc>
                <a:spcPct val="90000"/>
              </a:lnSpc>
              <a:buClr>
                <a:schemeClr val="tx1"/>
              </a:buClr>
              <a:buSzPct val="90000"/>
              <a:buFontTx/>
              <a:buNone/>
            </a:pPr>
            <a:r>
              <a:rPr lang="en-US" altLang="en-US" sz="1800" b="1" dirty="0">
                <a:ea typeface="Arial Unicode MS" pitchFamily="34" charset="-128"/>
              </a:rPr>
              <a:t>DO $$</a:t>
            </a:r>
            <a:endParaRPr lang="en-US" altLang="en-US" sz="1800" b="1" dirty="0">
              <a:ea typeface="Arial Unicode MS" pitchFamily="34" charset="-128"/>
            </a:endParaRPr>
          </a:p>
          <a:p>
            <a:pPr marL="1427480" lvl="1" indent="-457200" algn="just" eaLnBrk="1" hangingPunct="1">
              <a:lnSpc>
                <a:spcPct val="90000"/>
              </a:lnSpc>
              <a:buClr>
                <a:schemeClr val="tx1"/>
              </a:buClr>
              <a:buSzPct val="90000"/>
              <a:buFontTx/>
              <a:buNone/>
            </a:pPr>
            <a:r>
              <a:rPr lang="en-US" altLang="en-US" sz="1800" b="1" dirty="0">
                <a:ea typeface="Arial Unicode MS" pitchFamily="34" charset="-128"/>
              </a:rPr>
              <a:t>DECLARE</a:t>
            </a:r>
            <a:endParaRPr lang="en-US" altLang="en-US" sz="1800" b="1" dirty="0">
              <a:ea typeface="Arial Unicode MS" pitchFamily="34" charset="-128"/>
            </a:endParaRPr>
          </a:p>
          <a:p>
            <a:pPr marL="1427480" lvl="1" indent="-457200" algn="just" eaLnBrk="1" hangingPunct="1">
              <a:lnSpc>
                <a:spcPct val="90000"/>
              </a:lnSpc>
              <a:buClr>
                <a:schemeClr val="tx1"/>
              </a:buClr>
              <a:buSzPct val="90000"/>
              <a:buFontTx/>
              <a:buNone/>
            </a:pPr>
            <a:r>
              <a:rPr lang="en-US" altLang="en-US" sz="1800" b="1" dirty="0">
                <a:ea typeface="Arial Unicode MS" pitchFamily="34" charset="-128"/>
              </a:rPr>
              <a:t>   v_first_name TEXT;</a:t>
            </a:r>
            <a:endParaRPr lang="en-US" altLang="en-US" sz="1800" b="1" dirty="0">
              <a:ea typeface="Arial Unicode MS" pitchFamily="34" charset="-128"/>
            </a:endParaRPr>
          </a:p>
          <a:p>
            <a:pPr marL="1427480" lvl="1" indent="-457200" algn="just" eaLnBrk="1" hangingPunct="1">
              <a:lnSpc>
                <a:spcPct val="90000"/>
              </a:lnSpc>
              <a:buClr>
                <a:schemeClr val="tx1"/>
              </a:buClr>
              <a:buSzPct val="90000"/>
              <a:buFontTx/>
              <a:buNone/>
            </a:pPr>
            <a:r>
              <a:rPr lang="en-US" altLang="en-US" sz="1800" b="1" dirty="0">
                <a:ea typeface="Arial Unicode MS" pitchFamily="34" charset="-128"/>
              </a:rPr>
              <a:t>   v_last_name  TEXT;</a:t>
            </a:r>
            <a:endParaRPr lang="en-US" altLang="en-US" sz="1800" b="1" dirty="0">
              <a:ea typeface="Arial Unicode MS" pitchFamily="34" charset="-128"/>
            </a:endParaRPr>
          </a:p>
          <a:p>
            <a:pPr marL="1427480" lvl="1" indent="-457200" algn="just" eaLnBrk="1" hangingPunct="1">
              <a:lnSpc>
                <a:spcPct val="90000"/>
              </a:lnSpc>
              <a:buClr>
                <a:schemeClr val="tx1"/>
              </a:buClr>
              <a:buSzPct val="90000"/>
              <a:buFontTx/>
              <a:buNone/>
            </a:pPr>
            <a:r>
              <a:rPr lang="en-US" altLang="en-US" sz="1800" b="1" dirty="0">
                <a:ea typeface="Arial Unicode MS" pitchFamily="34" charset="-128"/>
              </a:rPr>
              <a:t>BEGIN</a:t>
            </a:r>
            <a:endParaRPr lang="en-US" altLang="en-US" sz="1800" b="1" dirty="0">
              <a:ea typeface="Arial Unicode MS" pitchFamily="34" charset="-128"/>
            </a:endParaRPr>
          </a:p>
          <a:p>
            <a:pPr marL="1427480" lvl="1" indent="-457200" algn="just" eaLnBrk="1" hangingPunct="1">
              <a:lnSpc>
                <a:spcPct val="90000"/>
              </a:lnSpc>
              <a:buClr>
                <a:schemeClr val="tx1"/>
              </a:buClr>
              <a:buSzPct val="90000"/>
              <a:buFontTx/>
              <a:buNone/>
            </a:pPr>
            <a:r>
              <a:rPr lang="en-US" altLang="en-US" sz="1800" b="1" dirty="0">
                <a:ea typeface="Arial Unicode MS" pitchFamily="34" charset="-128"/>
              </a:rPr>
              <a:t>   SELECT first_name, last_name</a:t>
            </a:r>
            <a:endParaRPr lang="en-US" altLang="en-US" sz="1800" b="1" dirty="0">
              <a:ea typeface="Arial Unicode MS" pitchFamily="34" charset="-128"/>
            </a:endParaRPr>
          </a:p>
          <a:p>
            <a:pPr marL="1427480" lvl="1" indent="-457200" algn="just" eaLnBrk="1" hangingPunct="1">
              <a:lnSpc>
                <a:spcPct val="90000"/>
              </a:lnSpc>
              <a:buClr>
                <a:schemeClr val="tx1"/>
              </a:buClr>
              <a:buSzPct val="90000"/>
              <a:buFontTx/>
              <a:buNone/>
            </a:pPr>
            <a:r>
              <a:rPr lang="en-US" altLang="en-US" sz="1800" b="1" dirty="0">
                <a:ea typeface="Arial Unicode MS" pitchFamily="34" charset="-128"/>
              </a:rPr>
              <a:t>   INTO v_first_name, v_last_name</a:t>
            </a:r>
            <a:endParaRPr lang="en-US" altLang="en-US" sz="1800" b="1" dirty="0">
              <a:ea typeface="Arial Unicode MS" pitchFamily="34" charset="-128"/>
            </a:endParaRPr>
          </a:p>
          <a:p>
            <a:pPr marL="1427480" lvl="1" indent="-457200" algn="just" eaLnBrk="1" hangingPunct="1">
              <a:lnSpc>
                <a:spcPct val="90000"/>
              </a:lnSpc>
              <a:buClr>
                <a:schemeClr val="tx1"/>
              </a:buClr>
              <a:buSzPct val="90000"/>
              <a:buFontTx/>
              <a:buNone/>
            </a:pPr>
            <a:r>
              <a:rPr lang="en-US" altLang="en-US" sz="1800" b="1" dirty="0">
                <a:ea typeface="Arial Unicode MS" pitchFamily="34" charset="-128"/>
              </a:rPr>
              <a:t>   FROM student</a:t>
            </a:r>
            <a:endParaRPr lang="en-US" altLang="en-US" sz="1800" b="1" dirty="0">
              <a:ea typeface="Arial Unicode MS" pitchFamily="34" charset="-128"/>
            </a:endParaRPr>
          </a:p>
          <a:p>
            <a:pPr marL="1427480" lvl="1" indent="-457200" algn="just" eaLnBrk="1" hangingPunct="1">
              <a:lnSpc>
                <a:spcPct val="90000"/>
              </a:lnSpc>
              <a:buClr>
                <a:schemeClr val="tx1"/>
              </a:buClr>
              <a:buSzPct val="90000"/>
              <a:buFontTx/>
              <a:buNone/>
            </a:pPr>
            <a:r>
              <a:rPr lang="en-US" altLang="en-US" sz="1800" b="1" dirty="0">
                <a:ea typeface="Arial Unicode MS" pitchFamily="34" charset="-128"/>
              </a:rPr>
              <a:t>   WHERE student_id = 123;</a:t>
            </a:r>
            <a:endParaRPr lang="en-US" altLang="en-US" sz="1800" b="1" dirty="0">
              <a:ea typeface="Arial Unicode MS" pitchFamily="34" charset="-128"/>
            </a:endParaRPr>
          </a:p>
          <a:p>
            <a:pPr marL="1427480" lvl="1" indent="-457200" algn="just" eaLnBrk="1" hangingPunct="1">
              <a:lnSpc>
                <a:spcPct val="90000"/>
              </a:lnSpc>
              <a:buClr>
                <a:schemeClr val="tx1"/>
              </a:buClr>
              <a:buSzPct val="90000"/>
              <a:buFontTx/>
              <a:buNone/>
            </a:pPr>
            <a:endParaRPr lang="en-US" altLang="en-US" sz="1800" b="1" dirty="0">
              <a:ea typeface="Arial Unicode MS" pitchFamily="34" charset="-128"/>
            </a:endParaRPr>
          </a:p>
          <a:p>
            <a:pPr marL="1427480" lvl="1" indent="-457200" algn="just" eaLnBrk="1" hangingPunct="1">
              <a:lnSpc>
                <a:spcPct val="90000"/>
              </a:lnSpc>
              <a:buClr>
                <a:schemeClr val="tx1"/>
              </a:buClr>
              <a:buSzPct val="90000"/>
              <a:buFontTx/>
              <a:buNone/>
            </a:pPr>
            <a:r>
              <a:rPr lang="en-US" altLang="en-US" sz="1800" b="1" dirty="0">
                <a:ea typeface="Arial Unicode MS" pitchFamily="34" charset="-128"/>
              </a:rPr>
              <a:t>   RAISE NOTICE 'Student name: % %', v_first_name, v_last_name;</a:t>
            </a:r>
            <a:endParaRPr lang="en-US" altLang="en-US" sz="1800" b="1" dirty="0">
              <a:ea typeface="Arial Unicode MS" pitchFamily="34" charset="-128"/>
            </a:endParaRPr>
          </a:p>
          <a:p>
            <a:pPr marL="1427480" lvl="1" indent="-457200" algn="just" eaLnBrk="1" hangingPunct="1">
              <a:lnSpc>
                <a:spcPct val="90000"/>
              </a:lnSpc>
              <a:buClr>
                <a:schemeClr val="tx1"/>
              </a:buClr>
              <a:buSzPct val="90000"/>
              <a:buFontTx/>
              <a:buNone/>
            </a:pPr>
            <a:r>
              <a:rPr lang="en-US" altLang="en-US" sz="1800" b="1" dirty="0">
                <a:ea typeface="Arial Unicode MS" pitchFamily="34" charset="-128"/>
              </a:rPr>
              <a:t>END;</a:t>
            </a:r>
            <a:endParaRPr lang="en-US" altLang="en-US" sz="1800" b="1" dirty="0">
              <a:ea typeface="Arial Unicode MS" pitchFamily="34" charset="-128"/>
            </a:endParaRPr>
          </a:p>
          <a:p>
            <a:pPr marL="1427480" lvl="1" indent="-457200" algn="just" eaLnBrk="1" hangingPunct="1">
              <a:lnSpc>
                <a:spcPct val="90000"/>
              </a:lnSpc>
              <a:buClr>
                <a:schemeClr val="tx1"/>
              </a:buClr>
              <a:buSzPct val="90000"/>
              <a:buFontTx/>
              <a:buNone/>
            </a:pPr>
            <a:r>
              <a:rPr lang="en-US" altLang="en-US" sz="1800" b="1" dirty="0">
                <a:ea typeface="Arial Unicode MS" pitchFamily="34" charset="-128"/>
              </a:rPr>
              <a:t>$$;</a:t>
            </a:r>
            <a:endParaRPr lang="en-US" altLang="en-US" sz="1800" b="1" dirty="0">
              <a:ea typeface="Arial Unicode MS" pitchFamily="3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103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lIns="92075" tIns="46038" rIns="92075" bIns="46038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  <p:sp>
        <p:nvSpPr>
          <p:cNvPr id="368642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838200" y="0"/>
            <a:ext cx="8001000" cy="838200"/>
          </a:xfrm>
        </p:spPr>
        <p:txBody>
          <a:bodyPr vert="horz" wrap="square" lIns="92075" tIns="46038" rIns="92075" bIns="46038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sng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Arial Unicode MS" pitchFamily="34" charset="-128"/>
                <a:cs typeface="Arial Unicode MS" pitchFamily="34" charset="-128"/>
              </a:rPr>
              <a:t>EXCEPTION-HANDLING SECTION</a:t>
            </a:r>
            <a:endParaRPr kumimoji="0" lang="en-US" sz="3200" b="1" i="0" u="sng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1268" name="Rectangle 3"/>
          <p:cNvSpPr>
            <a:spLocks noGrp="1"/>
          </p:cNvSpPr>
          <p:nvPr>
            <p:ph type="subTitle" sz="quarter" idx="1"/>
          </p:nvPr>
        </p:nvSpPr>
        <p:spPr>
          <a:xfrm>
            <a:off x="228600" y="914400"/>
            <a:ext cx="8686800" cy="5410200"/>
          </a:xfrm>
          <a:ln/>
        </p:spPr>
        <p:txBody>
          <a:bodyPr vert="horz" wrap="square" lIns="92075" tIns="46038" rIns="92075" bIns="46038" anchor="ctr" anchorCtr="0"/>
          <a:p>
            <a:pPr marL="882650" indent="-533400" algn="just" eaLnBrk="1" hangingPunct="1">
              <a:lnSpc>
                <a:spcPct val="90000"/>
              </a:lnSpc>
              <a:buSzPct val="80000"/>
              <a:buFont typeface="Wingdings" panose="05000000000000000000" pitchFamily="2" charset="2"/>
              <a:buChar char="l"/>
            </a:pPr>
            <a:r>
              <a:rPr sz="2800" dirty="0">
                <a:latin typeface="+mn-lt"/>
                <a:ea typeface="Arial Unicode MS" pitchFamily="34" charset="-128"/>
                <a:cs typeface="+mn-cs"/>
              </a:rPr>
              <a:t>The </a:t>
            </a:r>
            <a:r>
              <a:rPr sz="2800" i="1" dirty="0">
                <a:latin typeface="+mn-lt"/>
                <a:ea typeface="Arial Unicode MS" pitchFamily="34" charset="-128"/>
                <a:cs typeface="+mn-cs"/>
              </a:rPr>
              <a:t>exception-handling section </a:t>
            </a:r>
            <a:r>
              <a:rPr sz="2800" dirty="0">
                <a:latin typeface="+mn-lt"/>
                <a:ea typeface="Arial Unicode MS" pitchFamily="34" charset="-128"/>
                <a:cs typeface="+mn-cs"/>
              </a:rPr>
              <a:t>is the last section of the PL/</a:t>
            </a:r>
            <a:r>
              <a:rPr lang="en-US" sz="2800" dirty="0">
                <a:latin typeface="+mn-lt"/>
                <a:ea typeface="Arial Unicode MS" pitchFamily="34" charset="-128"/>
                <a:cs typeface="+mn-cs"/>
              </a:rPr>
              <a:t>pg</a:t>
            </a:r>
            <a:r>
              <a:rPr sz="2800" dirty="0">
                <a:latin typeface="+mn-lt"/>
                <a:ea typeface="Arial Unicode MS" pitchFamily="34" charset="-128"/>
                <a:cs typeface="+mn-cs"/>
              </a:rPr>
              <a:t>SQL block.</a:t>
            </a:r>
            <a:endParaRPr sz="2800" dirty="0">
              <a:latin typeface="+mn-lt"/>
              <a:ea typeface="Arial Unicode MS" pitchFamily="34" charset="-128"/>
              <a:cs typeface="+mn-cs"/>
            </a:endParaRPr>
          </a:p>
          <a:p>
            <a:pPr marL="882650" indent="-533400" algn="just" eaLnBrk="1" hangingPunct="1">
              <a:lnSpc>
                <a:spcPct val="90000"/>
              </a:lnSpc>
              <a:buSzPct val="80000"/>
              <a:buFont typeface="Wingdings" panose="05000000000000000000" pitchFamily="2" charset="2"/>
              <a:buChar char="l"/>
            </a:pPr>
            <a:r>
              <a:rPr sz="2800" dirty="0">
                <a:latin typeface="+mn-lt"/>
                <a:ea typeface="Arial Unicode MS" pitchFamily="34" charset="-128"/>
                <a:cs typeface="+mn-cs"/>
              </a:rPr>
              <a:t>This section contains statements that are executed when a runtime error occurs within a block.</a:t>
            </a:r>
            <a:endParaRPr sz="2800" dirty="0">
              <a:latin typeface="+mn-lt"/>
              <a:ea typeface="Arial Unicode MS" pitchFamily="34" charset="-128"/>
              <a:cs typeface="+mn-cs"/>
            </a:endParaRPr>
          </a:p>
          <a:p>
            <a:pPr marL="882650" indent="-533400" algn="just" eaLnBrk="1" hangingPunct="1">
              <a:lnSpc>
                <a:spcPct val="90000"/>
              </a:lnSpc>
              <a:buSzPct val="80000"/>
              <a:buFont typeface="Wingdings" panose="05000000000000000000" pitchFamily="2" charset="2"/>
              <a:buChar char="l"/>
            </a:pPr>
            <a:r>
              <a:rPr sz="2800" dirty="0">
                <a:latin typeface="+mn-lt"/>
                <a:ea typeface="Arial Unicode MS" pitchFamily="34" charset="-128"/>
                <a:cs typeface="+mn-cs"/>
              </a:rPr>
              <a:t>Runtime errors occur while the program is running and cannot be detected by the PL/</a:t>
            </a:r>
            <a:r>
              <a:rPr lang="en-US" sz="2800" dirty="0">
                <a:latin typeface="+mn-lt"/>
                <a:ea typeface="Arial Unicode MS" pitchFamily="34" charset="-128"/>
                <a:cs typeface="+mn-cs"/>
              </a:rPr>
              <a:t>pg</a:t>
            </a:r>
            <a:r>
              <a:rPr sz="2800" dirty="0">
                <a:latin typeface="+mn-lt"/>
                <a:ea typeface="Arial Unicode MS" pitchFamily="34" charset="-128"/>
                <a:cs typeface="+mn-cs"/>
              </a:rPr>
              <a:t>SQL compiler.</a:t>
            </a:r>
            <a:endParaRPr sz="2800" dirty="0">
              <a:latin typeface="+mn-lt"/>
              <a:ea typeface="Arial Unicode MS" pitchFamily="34" charset="-128"/>
              <a:cs typeface="+mn-cs"/>
            </a:endParaRPr>
          </a:p>
          <a:p>
            <a:pPr marL="882650" indent="-533400" algn="just" eaLnBrk="1" hangingPunct="1">
              <a:lnSpc>
                <a:spcPct val="90000"/>
              </a:lnSpc>
              <a:buSzPct val="80000"/>
              <a:buFont typeface="Wingdings" panose="05000000000000000000" pitchFamily="2" charset="2"/>
              <a:buChar char="l"/>
            </a:pPr>
            <a:endParaRPr sz="2800" dirty="0">
              <a:latin typeface="+mn-lt"/>
              <a:ea typeface="Arial Unicode MS" pitchFamily="34" charset="-128"/>
              <a:cs typeface="+mn-cs"/>
            </a:endParaRPr>
          </a:p>
          <a:p>
            <a:pPr marL="1652905" lvl="2" indent="-568325" algn="just" eaLnBrk="1" hangingPunct="1">
              <a:lnSpc>
                <a:spcPct val="9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 b="1" dirty="0">
                <a:ea typeface="Arial Unicode MS" pitchFamily="34" charset="-128"/>
              </a:rPr>
              <a:t>EXCEPTION</a:t>
            </a:r>
            <a:endParaRPr lang="en-US" altLang="en-US" sz="2000" b="1" dirty="0">
              <a:ea typeface="Arial Unicode MS" pitchFamily="34" charset="-128"/>
            </a:endParaRPr>
          </a:p>
          <a:p>
            <a:pPr marL="1652905" lvl="2" indent="-568325" algn="just" eaLnBrk="1" hangingPunct="1">
              <a:lnSpc>
                <a:spcPct val="9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 b="1" dirty="0">
                <a:ea typeface="Arial Unicode MS" pitchFamily="34" charset="-128"/>
              </a:rPr>
              <a:t>   WHEN NO_DATA_FOUND THEN</a:t>
            </a:r>
            <a:endParaRPr lang="en-US" altLang="en-US" sz="2000" b="1" dirty="0">
              <a:ea typeface="Arial Unicode MS" pitchFamily="34" charset="-128"/>
            </a:endParaRPr>
          </a:p>
          <a:p>
            <a:pPr marL="1652905" lvl="2" indent="-568325" algn="just" eaLnBrk="1" hangingPunct="1">
              <a:lnSpc>
                <a:spcPct val="9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 b="1" dirty="0">
                <a:ea typeface="Arial Unicode MS" pitchFamily="34" charset="-128"/>
              </a:rPr>
              <a:t>      RAISE NOTICE 'There is no student with student id 123';</a:t>
            </a:r>
            <a:endParaRPr lang="en-US" altLang="en-US" sz="2000" b="1" dirty="0">
              <a:ea typeface="Arial Unicode MS" pitchFamily="34" charset="-128"/>
            </a:endParaRPr>
          </a:p>
          <a:p>
            <a:pPr marL="1652905" lvl="2" indent="-568325" algn="just" eaLnBrk="1" hangingPunct="1">
              <a:lnSpc>
                <a:spcPct val="90000"/>
              </a:lnSpc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 b="1" dirty="0">
                <a:ea typeface="Arial Unicode MS" pitchFamily="34" charset="-128"/>
              </a:rPr>
              <a:t>END;</a:t>
            </a:r>
            <a:endParaRPr lang="en-US" altLang="en-US" sz="2000" b="1" dirty="0">
              <a:ea typeface="Arial Unicode MS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103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lIns="92075" tIns="46038" rIns="92075" bIns="46038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  <p:sp>
        <p:nvSpPr>
          <p:cNvPr id="36966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838200" y="0"/>
            <a:ext cx="8001000" cy="838200"/>
          </a:xfrm>
        </p:spPr>
        <p:txBody>
          <a:bodyPr vert="horz" wrap="square" lIns="92075" tIns="46038" rIns="92075" bIns="46038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sng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Arial Unicode MS" pitchFamily="34" charset="-128"/>
                <a:cs typeface="Arial Unicode MS" pitchFamily="34" charset="-128"/>
              </a:rPr>
              <a:t>HOW PL/pgSQL GETS EXECUTED</a:t>
            </a:r>
            <a:endParaRPr kumimoji="0" lang="en-US" sz="3200" b="1" i="0" u="sng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2292" name="Rectangle 3"/>
          <p:cNvSpPr>
            <a:spLocks noGrp="1"/>
          </p:cNvSpPr>
          <p:nvPr>
            <p:ph type="subTitle" sz="quarter" idx="1"/>
          </p:nvPr>
        </p:nvSpPr>
        <p:spPr>
          <a:xfrm>
            <a:off x="228600" y="914400"/>
            <a:ext cx="8686800" cy="5410200"/>
          </a:xfrm>
          <a:ln>
            <a:solidFill>
              <a:srgbClr val="FFCC00">
                <a:alpha val="100000"/>
              </a:srgbClr>
            </a:solidFill>
            <a:miter/>
          </a:ln>
        </p:spPr>
        <p:txBody>
          <a:bodyPr vert="horz" wrap="square" lIns="92075" tIns="46038" rIns="92075" bIns="46038" anchor="ctr" anchorCtr="0"/>
          <a:p>
            <a:pPr marL="882650" indent="-533400" algn="just" eaLnBrk="1" hangingPunct="1">
              <a:lnSpc>
                <a:spcPct val="90000"/>
              </a:lnSpc>
              <a:buClr>
                <a:schemeClr val="folHlink"/>
              </a:buClr>
              <a:buSzPct val="80000"/>
              <a:buFont typeface="Wingdings" panose="05000000000000000000" pitchFamily="2" charset="2"/>
              <a:buChar char="v"/>
            </a:pPr>
            <a:r>
              <a:rPr sz="2800" dirty="0">
                <a:latin typeface="+mn-lt"/>
                <a:ea typeface="Arial Unicode MS" pitchFamily="34" charset="-128"/>
                <a:cs typeface="+mn-cs"/>
              </a:rPr>
              <a:t>Every time an anonymous block is executed, the code is sent to the PL/</a:t>
            </a:r>
            <a:r>
              <a:rPr lang="en-US" sz="2800" dirty="0">
                <a:latin typeface="+mn-lt"/>
                <a:ea typeface="Arial Unicode MS" pitchFamily="34" charset="-128"/>
                <a:cs typeface="+mn-cs"/>
              </a:rPr>
              <a:t>pg</a:t>
            </a:r>
            <a:r>
              <a:rPr sz="2800" dirty="0">
                <a:latin typeface="+mn-lt"/>
                <a:ea typeface="Arial Unicode MS" pitchFamily="34" charset="-128"/>
                <a:cs typeface="+mn-cs"/>
              </a:rPr>
              <a:t>SQL engine on the server where it is compiled.</a:t>
            </a:r>
            <a:endParaRPr sz="2800" dirty="0">
              <a:latin typeface="+mn-lt"/>
              <a:ea typeface="Arial Unicode MS" pitchFamily="34" charset="-128"/>
              <a:cs typeface="+mn-cs"/>
            </a:endParaRPr>
          </a:p>
          <a:p>
            <a:pPr marL="882650" indent="-533400" algn="just" eaLnBrk="1" hangingPunct="1">
              <a:lnSpc>
                <a:spcPct val="90000"/>
              </a:lnSpc>
              <a:buClr>
                <a:schemeClr val="folHlink"/>
              </a:buClr>
              <a:buSzPct val="80000"/>
              <a:buFont typeface="Wingdings" panose="05000000000000000000" pitchFamily="2" charset="2"/>
              <a:buChar char="v"/>
            </a:pPr>
            <a:r>
              <a:rPr sz="2800" dirty="0">
                <a:latin typeface="+mn-lt"/>
                <a:ea typeface="Arial Unicode MS" pitchFamily="34" charset="-128"/>
                <a:cs typeface="+mn-cs"/>
              </a:rPr>
              <a:t>The </a:t>
            </a:r>
            <a:r>
              <a:rPr sz="2800" b="1" dirty="0">
                <a:solidFill>
                  <a:schemeClr val="hlink"/>
                </a:solidFill>
                <a:latin typeface="+mn-lt"/>
                <a:ea typeface="Arial Unicode MS" pitchFamily="34" charset="-128"/>
                <a:cs typeface="+mn-cs"/>
              </a:rPr>
              <a:t>compilation process</a:t>
            </a:r>
            <a:r>
              <a:rPr sz="2800" dirty="0">
                <a:latin typeface="+mn-lt"/>
                <a:ea typeface="Arial Unicode MS" pitchFamily="34" charset="-128"/>
                <a:cs typeface="+mn-cs"/>
              </a:rPr>
              <a:t> includes </a:t>
            </a:r>
            <a:r>
              <a:rPr sz="2800" dirty="0">
                <a:solidFill>
                  <a:schemeClr val="folHlink"/>
                </a:solidFill>
                <a:latin typeface="+mn-lt"/>
                <a:ea typeface="Arial Unicode MS" pitchFamily="34" charset="-128"/>
                <a:cs typeface="+mn-cs"/>
              </a:rPr>
              <a:t>syntax checking</a:t>
            </a:r>
            <a:r>
              <a:rPr sz="2800" dirty="0">
                <a:latin typeface="+mn-lt"/>
                <a:ea typeface="Arial Unicode MS" pitchFamily="34" charset="-128"/>
                <a:cs typeface="+mn-cs"/>
              </a:rPr>
              <a:t>, </a:t>
            </a:r>
            <a:r>
              <a:rPr sz="2800" dirty="0">
                <a:solidFill>
                  <a:schemeClr val="hlink"/>
                </a:solidFill>
                <a:latin typeface="+mn-lt"/>
                <a:ea typeface="Arial Unicode MS" pitchFamily="34" charset="-128"/>
                <a:cs typeface="+mn-cs"/>
              </a:rPr>
              <a:t>binding </a:t>
            </a:r>
            <a:r>
              <a:rPr sz="2800" dirty="0">
                <a:latin typeface="+mn-lt"/>
                <a:ea typeface="Arial Unicode MS" pitchFamily="34" charset="-128"/>
                <a:cs typeface="+mn-cs"/>
              </a:rPr>
              <a:t>and </a:t>
            </a:r>
            <a:r>
              <a:rPr sz="2800" dirty="0">
                <a:solidFill>
                  <a:srgbClr val="00FF00"/>
                </a:solidFill>
                <a:latin typeface="+mn-lt"/>
                <a:ea typeface="Arial Unicode MS" pitchFamily="34" charset="-128"/>
                <a:cs typeface="+mn-cs"/>
              </a:rPr>
              <a:t>code generation</a:t>
            </a:r>
            <a:r>
              <a:rPr sz="2800" dirty="0">
                <a:latin typeface="+mn-lt"/>
                <a:ea typeface="Arial Unicode MS" pitchFamily="34" charset="-128"/>
                <a:cs typeface="+mn-cs"/>
              </a:rPr>
              <a:t>.</a:t>
            </a:r>
            <a:endParaRPr sz="2800" dirty="0">
              <a:latin typeface="+mn-lt"/>
              <a:ea typeface="Arial Unicode MS" pitchFamily="34" charset="-128"/>
              <a:cs typeface="+mn-cs"/>
            </a:endParaRPr>
          </a:p>
          <a:p>
            <a:pPr marL="882650" indent="-533400" algn="just" eaLnBrk="1" hangingPunct="1">
              <a:lnSpc>
                <a:spcPct val="90000"/>
              </a:lnSpc>
              <a:buClr>
                <a:schemeClr val="folHlink"/>
              </a:buClr>
              <a:buSzPct val="80000"/>
              <a:buFont typeface="Wingdings" panose="05000000000000000000" pitchFamily="2" charset="2"/>
              <a:buChar char="v"/>
            </a:pPr>
            <a:r>
              <a:rPr sz="2800" dirty="0">
                <a:solidFill>
                  <a:srgbClr val="00FF00"/>
                </a:solidFill>
                <a:latin typeface="+mn-lt"/>
                <a:ea typeface="Arial Unicode MS" pitchFamily="34" charset="-128"/>
                <a:cs typeface="+mn-cs"/>
              </a:rPr>
              <a:t>Syntax checking </a:t>
            </a:r>
            <a:r>
              <a:rPr sz="2800" dirty="0">
                <a:latin typeface="+mn-lt"/>
                <a:ea typeface="Arial Unicode MS" pitchFamily="34" charset="-128"/>
                <a:cs typeface="+mn-cs"/>
              </a:rPr>
              <a:t>involves checking PL/</a:t>
            </a:r>
            <a:r>
              <a:rPr lang="en-US" sz="2800" dirty="0">
                <a:latin typeface="+mn-lt"/>
                <a:ea typeface="Arial Unicode MS" pitchFamily="34" charset="-128"/>
                <a:cs typeface="+mn-cs"/>
              </a:rPr>
              <a:t>pg</a:t>
            </a:r>
            <a:r>
              <a:rPr sz="2800" dirty="0">
                <a:latin typeface="+mn-lt"/>
                <a:ea typeface="Arial Unicode MS" pitchFamily="34" charset="-128"/>
                <a:cs typeface="+mn-cs"/>
              </a:rPr>
              <a:t>SQL code for syntax or compilation errors.</a:t>
            </a:r>
            <a:endParaRPr sz="2800" dirty="0">
              <a:latin typeface="+mn-lt"/>
              <a:ea typeface="Arial Unicode MS" pitchFamily="34" charset="-128"/>
              <a:cs typeface="+mn-cs"/>
            </a:endParaRPr>
          </a:p>
          <a:p>
            <a:pPr marL="882650" indent="-533400" algn="just" eaLnBrk="1" hangingPunct="1">
              <a:lnSpc>
                <a:spcPct val="90000"/>
              </a:lnSpc>
              <a:buClr>
                <a:schemeClr val="folHlink"/>
              </a:buClr>
              <a:buSzPct val="80000"/>
              <a:buFont typeface="Wingdings" panose="05000000000000000000" pitchFamily="2" charset="2"/>
              <a:buChar char="v"/>
            </a:pPr>
            <a:r>
              <a:rPr sz="2800" dirty="0">
                <a:latin typeface="+mn-lt"/>
                <a:ea typeface="Arial Unicode MS" pitchFamily="34" charset="-128"/>
                <a:cs typeface="+mn-cs"/>
              </a:rPr>
              <a:t>Once the programmer corrects syntax errors, the compiler can assign a storage address to program variables that are used to hold data for Oracle. This process is called </a:t>
            </a:r>
            <a:r>
              <a:rPr sz="2800" b="1" i="1" dirty="0">
                <a:latin typeface="+mn-lt"/>
                <a:ea typeface="Arial Unicode MS" pitchFamily="34" charset="-128"/>
                <a:cs typeface="+mn-cs"/>
              </a:rPr>
              <a:t>Binding.</a:t>
            </a:r>
            <a:endParaRPr sz="2800" b="1" i="1" dirty="0">
              <a:latin typeface="+mn-lt"/>
              <a:ea typeface="Arial Unicode MS" pitchFamily="34" charset="-128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103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lIns="92075" tIns="46038" rIns="92075" bIns="46038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  <p:sp>
        <p:nvSpPr>
          <p:cNvPr id="13315" name="Rectangle 2"/>
          <p:cNvSpPr>
            <a:spLocks noGrp="1"/>
          </p:cNvSpPr>
          <p:nvPr>
            <p:ph type="ctrTitle" sz="quarter"/>
          </p:nvPr>
        </p:nvSpPr>
        <p:spPr>
          <a:xfrm>
            <a:off x="838200" y="0"/>
            <a:ext cx="8001000" cy="838200"/>
          </a:xfrm>
          <a:ln/>
        </p:spPr>
        <p:txBody>
          <a:bodyPr vert="horz" wrap="square" lIns="92075" tIns="46038" rIns="92075" bIns="46038" anchor="b" anchorCtr="0"/>
          <a:p>
            <a:pPr algn="l" eaLnBrk="1" hangingPunct="1">
              <a:buClrTx/>
              <a:buSzTx/>
              <a:buFontTx/>
            </a:pPr>
            <a:r>
              <a:rPr sz="3600" u="sng" dirty="0">
                <a:effectLst/>
                <a:latin typeface="+mj-lt"/>
                <a:ea typeface="+mj-ea"/>
                <a:cs typeface="+mj-cs"/>
              </a:rPr>
              <a:t>SQL EXAMPLE</a:t>
            </a:r>
            <a:endParaRPr sz="3600" u="sng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3316" name="Rectangle 3"/>
          <p:cNvSpPr>
            <a:spLocks noGrp="1"/>
          </p:cNvSpPr>
          <p:nvPr>
            <p:ph type="subTitle" sz="quarter" idx="1"/>
          </p:nvPr>
        </p:nvSpPr>
        <p:spPr>
          <a:xfrm>
            <a:off x="228600" y="914400"/>
            <a:ext cx="8686800" cy="5410200"/>
          </a:xfrm>
          <a:ln/>
        </p:spPr>
        <p:txBody>
          <a:bodyPr vert="horz" wrap="square" lIns="92075" tIns="46038" rIns="92075" bIns="46038" anchor="ctr" anchorCtr="0"/>
          <a:p>
            <a:pPr marL="882650" indent="-533400" algn="l" eaLnBrk="1" hangingPunct="1">
              <a:buSzPct val="80000"/>
            </a:pPr>
            <a:r>
              <a:rPr sz="2800" dirty="0">
                <a:latin typeface="+mn-lt"/>
                <a:ea typeface="+mn-ea"/>
                <a:cs typeface="+mn-cs"/>
              </a:rPr>
              <a:t>SELECT first_name, last_name</a:t>
            </a:r>
            <a:endParaRPr sz="28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sz="2800" dirty="0">
                <a:latin typeface="+mn-lt"/>
                <a:ea typeface="+mn-ea"/>
                <a:cs typeface="+mn-cs"/>
              </a:rPr>
              <a:t>FROM student;</a:t>
            </a:r>
            <a:endParaRPr sz="28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  <a:buFont typeface="Wingdings" panose="05000000000000000000" pitchFamily="2" charset="2"/>
              <a:buChar char="l"/>
            </a:pPr>
            <a:r>
              <a:rPr dirty="0">
                <a:latin typeface="+mn-lt"/>
                <a:ea typeface="+mn-ea"/>
                <a:cs typeface="+mn-cs"/>
              </a:rPr>
              <a:t>The semicolon terminates this SELECT statement. Therefore, as soon as you type semicolon and hit the ENTER key, the result set is displayed to you.</a:t>
            </a:r>
            <a:endParaRPr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lnSpc>
                <a:spcPct val="90000"/>
              </a:lnSpc>
              <a:buSzPct val="80000"/>
              <a:buFont typeface="Wingdings" panose="05000000000000000000" pitchFamily="2" charset="2"/>
              <a:buChar char="l"/>
            </a:pPr>
            <a:endParaRPr sz="2800" dirty="0">
              <a:latin typeface="+mn-lt"/>
              <a:ea typeface="Arial Unicode MS" pitchFamily="34" charset="-128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103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lIns="92075" tIns="46038" rIns="92075" bIns="46038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  <p:sp>
        <p:nvSpPr>
          <p:cNvPr id="14339" name="Rectangle 1026"/>
          <p:cNvSpPr>
            <a:spLocks noGrp="1"/>
          </p:cNvSpPr>
          <p:nvPr>
            <p:ph type="ctrTitle" sz="quarter"/>
          </p:nvPr>
        </p:nvSpPr>
        <p:spPr>
          <a:xfrm>
            <a:off x="533400" y="76200"/>
            <a:ext cx="8305800" cy="381000"/>
          </a:xfrm>
          <a:ln/>
        </p:spPr>
        <p:txBody>
          <a:bodyPr vert="horz" wrap="square" lIns="92075" tIns="46038" rIns="92075" bIns="46038" anchor="b" anchorCtr="0"/>
          <a:p>
            <a:pPr algn="l" eaLnBrk="1" hangingPunct="1">
              <a:buClrTx/>
              <a:buSzTx/>
              <a:buFontTx/>
            </a:pPr>
            <a:r>
              <a:rPr sz="2800" b="1" u="sng" dirty="0">
                <a:effectLst/>
                <a:latin typeface="Times New Roman" panose="02020603050405020304" charset="0"/>
                <a:ea typeface="+mj-ea"/>
                <a:cs typeface="+mj-cs"/>
              </a:rPr>
              <a:t>PL/</a:t>
            </a:r>
            <a:r>
              <a:rPr lang="en-US" sz="2800" b="1" u="sng" dirty="0">
                <a:effectLst/>
                <a:latin typeface="Times New Roman" panose="02020603050405020304" charset="0"/>
                <a:ea typeface="+mj-ea"/>
                <a:cs typeface="+mj-cs"/>
              </a:rPr>
              <a:t>pg</a:t>
            </a:r>
            <a:r>
              <a:rPr sz="2800" b="1" u="sng" dirty="0">
                <a:effectLst/>
                <a:latin typeface="Times New Roman" panose="02020603050405020304" charset="0"/>
                <a:ea typeface="+mj-ea"/>
                <a:cs typeface="+mj-cs"/>
              </a:rPr>
              <a:t>SQL EXAMPLE</a:t>
            </a:r>
            <a:endParaRPr sz="2800" b="1" u="sng" dirty="0">
              <a:effectLst/>
              <a:latin typeface="Times New Roman" panose="02020603050405020304" charset="0"/>
              <a:ea typeface="+mj-ea"/>
              <a:cs typeface="+mj-cs"/>
            </a:endParaRPr>
          </a:p>
        </p:txBody>
      </p:sp>
      <p:sp>
        <p:nvSpPr>
          <p:cNvPr id="14340" name="Rectangle 1027"/>
          <p:cNvSpPr>
            <a:spLocks noGrp="1"/>
          </p:cNvSpPr>
          <p:nvPr>
            <p:ph type="subTitle" sz="quarter" idx="1"/>
          </p:nvPr>
        </p:nvSpPr>
        <p:spPr>
          <a:xfrm>
            <a:off x="304800" y="685800"/>
            <a:ext cx="8610600" cy="5638800"/>
          </a:xfrm>
          <a:ln/>
        </p:spPr>
        <p:txBody>
          <a:bodyPr vert="horz" wrap="square" lIns="92075" tIns="46038" rIns="92075" bIns="46038" anchor="ctr" anchorCtr="0"/>
          <a:p>
            <a:pPr marL="882650" indent="-533400" algn="l" eaLnBrk="1" hangingPunct="1">
              <a:buSzPct val="80000"/>
            </a:pPr>
            <a:r>
              <a:rPr lang="en-US" altLang="en-US" sz="2000" b="1" dirty="0">
                <a:latin typeface="+mn-lt"/>
                <a:ea typeface="+mn-ea"/>
                <a:cs typeface="+mn-cs"/>
              </a:rPr>
              <a:t>DO $$</a:t>
            </a:r>
            <a:endParaRPr lang="en-US" altLang="en-US" sz="2000" b="1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2000" b="1" dirty="0">
                <a:latin typeface="+mn-lt"/>
                <a:ea typeface="+mn-ea"/>
                <a:cs typeface="+mn-cs"/>
              </a:rPr>
              <a:t>DECLARE</a:t>
            </a:r>
            <a:endParaRPr lang="en-US" altLang="en-US" sz="2000" b="1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2000" b="1" dirty="0">
                <a:latin typeface="+mn-lt"/>
                <a:ea typeface="+mn-ea"/>
                <a:cs typeface="+mn-cs"/>
              </a:rPr>
              <a:t>   v_first_name VARCHAR(35);</a:t>
            </a:r>
            <a:endParaRPr lang="en-US" altLang="en-US" sz="2000" b="1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2000" b="1" dirty="0">
                <a:latin typeface="+mn-lt"/>
                <a:ea typeface="+mn-ea"/>
                <a:cs typeface="+mn-cs"/>
              </a:rPr>
              <a:t>   v_last_name  VARCHAR(35);</a:t>
            </a:r>
            <a:endParaRPr lang="en-US" altLang="en-US" sz="2000" b="1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2000" b="1" dirty="0">
                <a:latin typeface="+mn-lt"/>
                <a:ea typeface="+mn-ea"/>
                <a:cs typeface="+mn-cs"/>
              </a:rPr>
              <a:t>BEGIN</a:t>
            </a:r>
            <a:endParaRPr lang="en-US" altLang="en-US" sz="2000" b="1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2000" b="1" dirty="0">
                <a:latin typeface="+mn-lt"/>
                <a:ea typeface="+mn-ea"/>
                <a:cs typeface="+mn-cs"/>
              </a:rPr>
              <a:t>   SELECT first_name, last_name</a:t>
            </a:r>
            <a:endParaRPr lang="en-US" altLang="en-US" sz="2000" b="1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2000" b="1" dirty="0">
                <a:latin typeface="+mn-lt"/>
                <a:ea typeface="+mn-ea"/>
                <a:cs typeface="+mn-cs"/>
              </a:rPr>
              <a:t>   INTO STRICT v_first_name, v_last_name</a:t>
            </a:r>
            <a:endParaRPr lang="en-US" altLang="en-US" sz="2000" b="1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2000" b="1" dirty="0">
                <a:latin typeface="+mn-lt"/>
                <a:ea typeface="+mn-ea"/>
                <a:cs typeface="+mn-cs"/>
              </a:rPr>
              <a:t>   FROM student</a:t>
            </a:r>
            <a:endParaRPr lang="en-US" altLang="en-US" sz="2000" b="1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2000" b="1" dirty="0">
                <a:latin typeface="+mn-lt"/>
                <a:ea typeface="+mn-ea"/>
                <a:cs typeface="+mn-cs"/>
              </a:rPr>
              <a:t>   WHERE student_id = 123;</a:t>
            </a:r>
            <a:endParaRPr lang="en-US" altLang="en-US" sz="2000" b="1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endParaRPr lang="en-US" altLang="en-US" sz="2000" b="1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2000" b="1" dirty="0">
                <a:latin typeface="+mn-lt"/>
                <a:ea typeface="+mn-ea"/>
                <a:cs typeface="+mn-cs"/>
              </a:rPr>
              <a:t>   RAISE NOTICE 'Student name: % %', v_first_name, v_last_name;</a:t>
            </a:r>
            <a:endParaRPr lang="en-US" altLang="en-US" sz="2000" b="1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endParaRPr lang="en-US" altLang="en-US" sz="2000" b="1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2000" b="1" dirty="0">
                <a:latin typeface="+mn-lt"/>
                <a:ea typeface="+mn-ea"/>
                <a:cs typeface="+mn-cs"/>
              </a:rPr>
              <a:t>EXCEPTION</a:t>
            </a:r>
            <a:endParaRPr lang="en-US" altLang="en-US" sz="2000" b="1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2000" b="1" dirty="0">
                <a:latin typeface="+mn-lt"/>
                <a:ea typeface="+mn-ea"/>
                <a:cs typeface="+mn-cs"/>
              </a:rPr>
              <a:t>   WHEN NO_DATA_FOUND THEN</a:t>
            </a:r>
            <a:endParaRPr lang="en-US" altLang="en-US" sz="2000" b="1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2000" b="1" dirty="0">
                <a:latin typeface="+mn-lt"/>
                <a:ea typeface="+mn-ea"/>
                <a:cs typeface="+mn-cs"/>
              </a:rPr>
              <a:t>      RAISE NOTICE 'There is no student with student id 123';</a:t>
            </a:r>
            <a:endParaRPr lang="en-US" altLang="en-US" sz="2000" b="1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2000" b="1" dirty="0">
                <a:latin typeface="+mn-lt"/>
                <a:ea typeface="+mn-ea"/>
                <a:cs typeface="+mn-cs"/>
              </a:rPr>
              <a:t>END;</a:t>
            </a:r>
            <a:endParaRPr lang="en-US" altLang="en-US" sz="2000" b="1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2000" b="1" dirty="0">
                <a:latin typeface="+mn-lt"/>
                <a:ea typeface="+mn-ea"/>
                <a:cs typeface="+mn-cs"/>
              </a:rPr>
              <a:t>$$;</a:t>
            </a:r>
            <a:endParaRPr lang="en-US" altLang="en-US" sz="2000" b="1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103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lIns="92075" tIns="46038" rIns="92075" bIns="46038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  <p:sp>
        <p:nvSpPr>
          <p:cNvPr id="15363" name="Rectangle 2"/>
          <p:cNvSpPr>
            <a:spLocks noGrp="1"/>
          </p:cNvSpPr>
          <p:nvPr>
            <p:ph type="ctrTitle" sz="quarter"/>
          </p:nvPr>
        </p:nvSpPr>
        <p:spPr>
          <a:xfrm>
            <a:off x="533400" y="0"/>
            <a:ext cx="8305800" cy="685800"/>
          </a:xfrm>
          <a:ln/>
        </p:spPr>
        <p:txBody>
          <a:bodyPr vert="horz" wrap="square" lIns="92075" tIns="46038" rIns="92075" bIns="46038" anchor="b" anchorCtr="0"/>
          <a:p>
            <a:pPr algn="l" eaLnBrk="1" hangingPunct="1">
              <a:buClrTx/>
              <a:buSzTx/>
              <a:buFontTx/>
            </a:pPr>
            <a:r>
              <a:rPr sz="3600" u="sng" dirty="0">
                <a:effectLst/>
                <a:latin typeface="+mj-lt"/>
                <a:ea typeface="+mj-ea"/>
                <a:cs typeface="+mj-cs"/>
              </a:rPr>
              <a:t>PL/</a:t>
            </a:r>
            <a:r>
              <a:rPr lang="en-US" sz="3600" u="sng" dirty="0">
                <a:effectLst/>
                <a:latin typeface="+mj-lt"/>
                <a:ea typeface="+mj-ea"/>
                <a:cs typeface="+mj-cs"/>
              </a:rPr>
              <a:t>pg</a:t>
            </a:r>
            <a:r>
              <a:rPr sz="3600" u="sng" dirty="0">
                <a:effectLst/>
                <a:latin typeface="+mj-lt"/>
                <a:ea typeface="+mj-ea"/>
                <a:cs typeface="+mj-cs"/>
              </a:rPr>
              <a:t>SQL EXAMPLE</a:t>
            </a:r>
            <a:endParaRPr sz="3600" u="sng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5364" name="Rectangle 3"/>
          <p:cNvSpPr>
            <a:spLocks noGrp="1"/>
          </p:cNvSpPr>
          <p:nvPr>
            <p:ph type="subTitle" sz="quarter" idx="1"/>
          </p:nvPr>
        </p:nvSpPr>
        <p:spPr>
          <a:xfrm>
            <a:off x="228600" y="838200"/>
            <a:ext cx="8686800" cy="5486400"/>
          </a:xfrm>
          <a:ln/>
        </p:spPr>
        <p:txBody>
          <a:bodyPr vert="horz" wrap="square" lIns="92075" tIns="46038" rIns="92075" bIns="46038" anchor="ctr" anchorCtr="0"/>
          <a:p>
            <a:pPr marL="882650" indent="-533400" algn="l" eaLnBrk="1" hangingPunct="1">
              <a:buClr>
                <a:schemeClr val="folHlink"/>
              </a:buClr>
              <a:buSzPct val="80000"/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+mn-lt"/>
                <a:ea typeface="+mn-ea"/>
                <a:cs typeface="+mn-cs"/>
              </a:rPr>
              <a:t>The block is written inside DO $$ ... $$; or inside a function.</a:t>
            </a:r>
            <a:endParaRPr lang="en-US" altLang="en-US" sz="28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Clr>
                <a:schemeClr val="folHlink"/>
              </a:buClr>
              <a:buSzPct val="80000"/>
              <a:buFont typeface="Wingdings" panose="05000000000000000000" pitchFamily="2" charset="2"/>
              <a:buChar char="v"/>
            </a:pPr>
            <a:r>
              <a:rPr sz="2800" dirty="0">
                <a:latin typeface="+mn-lt"/>
                <a:ea typeface="+mn-ea"/>
                <a:cs typeface="+mn-cs"/>
              </a:rPr>
              <a:t> </a:t>
            </a:r>
            <a:r>
              <a:rPr lang="en-US" altLang="en-US" sz="2800" dirty="0">
                <a:latin typeface="+mn-lt"/>
                <a:ea typeface="+mn-ea"/>
                <a:cs typeface="+mn-cs"/>
              </a:rPr>
              <a:t>The ; (semicolon) marks the end of the statement.</a:t>
            </a:r>
            <a:endParaRPr lang="en-US" altLang="en-US" sz="2800" dirty="0">
              <a:latin typeface="+mn-lt"/>
              <a:ea typeface="+mn-ea"/>
              <a:cs typeface="+mn-cs"/>
            </a:endParaRPr>
          </a:p>
          <a:p>
            <a:pPr marL="349250" algn="l" eaLnBrk="1" hangingPunct="1">
              <a:buClr>
                <a:schemeClr val="folHlink"/>
              </a:buClr>
              <a:buSzPct val="80000"/>
              <a:buFont typeface="Wingdings" panose="05000000000000000000" pitchFamily="2" charset="2"/>
            </a:pPr>
            <a:endParaRPr sz="28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103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lIns="92075" tIns="46038" rIns="92075" bIns="46038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  <p:sp>
        <p:nvSpPr>
          <p:cNvPr id="16387" name="Rectangle 2"/>
          <p:cNvSpPr>
            <a:spLocks noGrp="1"/>
          </p:cNvSpPr>
          <p:nvPr>
            <p:ph type="ctrTitle" sz="quarter"/>
          </p:nvPr>
        </p:nvSpPr>
        <p:spPr>
          <a:xfrm>
            <a:off x="533400" y="228600"/>
            <a:ext cx="8305800" cy="685800"/>
          </a:xfrm>
          <a:ln/>
        </p:spPr>
        <p:txBody>
          <a:bodyPr vert="horz" wrap="square" lIns="92075" tIns="46038" rIns="92075" bIns="46038" anchor="b" anchorCtr="0"/>
          <a:p>
            <a:pPr eaLnBrk="1" hangingPunct="1">
              <a:buClrTx/>
              <a:buSzTx/>
              <a:buFontTx/>
            </a:pPr>
            <a:r>
              <a:rPr b="1" u="sng" dirty="0">
                <a:effectLst/>
                <a:latin typeface="+mj-lt"/>
                <a:ea typeface="+mj-ea"/>
                <a:cs typeface="+mj-cs"/>
              </a:rPr>
              <a:t>EXECUTING PL/</a:t>
            </a:r>
            <a:r>
              <a:rPr lang="en-US" b="1" u="sng" dirty="0">
                <a:effectLst/>
                <a:latin typeface="+mj-lt"/>
                <a:ea typeface="+mj-ea"/>
                <a:cs typeface="+mj-cs"/>
              </a:rPr>
              <a:t>pg</a:t>
            </a:r>
            <a:r>
              <a:rPr b="1" u="sng" dirty="0">
                <a:effectLst/>
                <a:latin typeface="+mj-lt"/>
                <a:ea typeface="+mj-ea"/>
                <a:cs typeface="+mj-cs"/>
              </a:rPr>
              <a:t>SQL</a:t>
            </a:r>
            <a:endParaRPr sz="3600" b="1" u="sng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6388" name="Rectangle 3"/>
          <p:cNvSpPr>
            <a:spLocks noGrp="1"/>
          </p:cNvSpPr>
          <p:nvPr>
            <p:ph type="subTitle" sz="quarter" idx="1"/>
          </p:nvPr>
        </p:nvSpPr>
        <p:spPr>
          <a:xfrm>
            <a:off x="228600" y="1219200"/>
            <a:ext cx="8686800" cy="5181600"/>
          </a:xfrm>
          <a:ln/>
        </p:spPr>
        <p:txBody>
          <a:bodyPr vert="horz" wrap="square" lIns="92075" tIns="46038" rIns="92075" bIns="46038" anchor="ctr" anchorCtr="0"/>
          <a:p>
            <a:pPr marL="882650" indent="-533400" algn="l" eaLnBrk="1" hangingPunct="1">
              <a:lnSpc>
                <a:spcPct val="100000"/>
              </a:lnSpc>
              <a:buSzPct val="80000"/>
              <a:buFont typeface="Wingdings" panose="05000000000000000000" pitchFamily="2" charset="2"/>
              <a:buChar char="l"/>
            </a:pPr>
            <a:r>
              <a:rPr dirty="0">
                <a:latin typeface="+mn-lt"/>
                <a:ea typeface="+mn-ea"/>
                <a:cs typeface="+mn-cs"/>
              </a:rPr>
              <a:t>A PL/</a:t>
            </a:r>
            <a:r>
              <a:rPr lang="en-US" dirty="0">
                <a:latin typeface="+mn-lt"/>
                <a:ea typeface="+mn-ea"/>
                <a:cs typeface="+mn-cs"/>
              </a:rPr>
              <a:t>pg</a:t>
            </a:r>
            <a:r>
              <a:rPr dirty="0">
                <a:latin typeface="+mn-lt"/>
                <a:ea typeface="+mn-ea"/>
                <a:cs typeface="+mn-cs"/>
              </a:rPr>
              <a:t>SQL program is normally saved with an </a:t>
            </a:r>
            <a:r>
              <a:rPr b="1" dirty="0">
                <a:solidFill>
                  <a:srgbClr val="00FF00"/>
                </a:solidFill>
                <a:latin typeface="+mn-lt"/>
                <a:ea typeface="+mn-ea"/>
                <a:cs typeface="+mn-cs"/>
              </a:rPr>
              <a:t>.sql </a:t>
            </a:r>
            <a:r>
              <a:rPr dirty="0">
                <a:latin typeface="+mn-lt"/>
                <a:ea typeface="+mn-ea"/>
                <a:cs typeface="+mn-cs"/>
              </a:rPr>
              <a:t>extension. </a:t>
            </a:r>
            <a:endParaRPr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lnSpc>
                <a:spcPct val="100000"/>
              </a:lnSpc>
              <a:buSzPct val="80000"/>
              <a:buFont typeface="Wingdings" panose="05000000000000000000" pitchFamily="2" charset="2"/>
              <a:buChar char="l"/>
            </a:pPr>
            <a:r>
              <a:rPr lang="en-US" dirty="0">
                <a:latin typeface="+mn-lt"/>
                <a:ea typeface="+mn-ea"/>
                <a:cs typeface="+mn-cs"/>
              </a:rPr>
              <a:t>Now select the path using cd command.</a:t>
            </a:r>
            <a:endParaRPr lang="en-US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lnSpc>
                <a:spcPct val="100000"/>
              </a:lnSpc>
              <a:buSzPct val="80000"/>
              <a:buFont typeface="Wingdings" panose="05000000000000000000" pitchFamily="2" charset="2"/>
              <a:buChar char="l"/>
            </a:pPr>
            <a:r>
              <a:rPr lang="en-US" dirty="0">
                <a:latin typeface="+mn-lt"/>
                <a:ea typeface="+mn-ea"/>
                <a:cs typeface="+mn-cs"/>
              </a:rPr>
              <a:t>Ex: \cd D:/your_folder/</a:t>
            </a:r>
            <a:endParaRPr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  <a:buFont typeface="Wingdings" panose="05000000000000000000" pitchFamily="2" charset="2"/>
              <a:buChar char="l"/>
            </a:pPr>
            <a:r>
              <a:rPr dirty="0">
                <a:latin typeface="+mn-lt"/>
                <a:ea typeface="+mn-ea"/>
                <a:cs typeface="+mn-cs"/>
              </a:rPr>
              <a:t>To execute an PL/SQL program, simply type the following command at the SQL prompt:</a:t>
            </a:r>
            <a:endParaRPr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endParaRPr b="1" dirty="0">
              <a:solidFill>
                <a:schemeClr val="hlink"/>
              </a:solidFill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b="1" dirty="0">
                <a:solidFill>
                  <a:schemeClr val="hlink"/>
                </a:solidFill>
                <a:latin typeface="+mn-lt"/>
                <a:ea typeface="+mn-ea"/>
                <a:cs typeface="+mn-cs"/>
              </a:rPr>
              <a:t>cse_db=</a:t>
            </a:r>
            <a:r>
              <a:rPr b="1" dirty="0">
                <a:solidFill>
                  <a:schemeClr val="hlink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b="1" dirty="0">
                <a:solidFill>
                  <a:schemeClr val="hlink"/>
                </a:solidFill>
                <a:latin typeface="+mn-lt"/>
                <a:ea typeface="+mn-ea"/>
                <a:cs typeface="+mn-cs"/>
              </a:rPr>
              <a:t>\i  q1.sql</a:t>
            </a:r>
            <a:r>
              <a:rPr b="1" dirty="0">
                <a:solidFill>
                  <a:schemeClr val="hlink"/>
                </a:solidFill>
                <a:latin typeface="+mn-lt"/>
                <a:ea typeface="+mn-ea"/>
                <a:cs typeface="+mn-cs"/>
              </a:rPr>
              <a:t> </a:t>
            </a:r>
            <a:endParaRPr b="1" dirty="0">
              <a:solidFill>
                <a:schemeClr val="hlink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103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lIns="92075" tIns="46038" rIns="92075" bIns="46038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  <p:sp>
        <p:nvSpPr>
          <p:cNvPr id="17411" name="Rectangle 2"/>
          <p:cNvSpPr>
            <a:spLocks noGrp="1"/>
          </p:cNvSpPr>
          <p:nvPr>
            <p:ph type="ctrTitle" sz="quarter"/>
          </p:nvPr>
        </p:nvSpPr>
        <p:spPr>
          <a:xfrm>
            <a:off x="533400" y="228600"/>
            <a:ext cx="8305800" cy="685800"/>
          </a:xfrm>
          <a:ln/>
        </p:spPr>
        <p:txBody>
          <a:bodyPr vert="horz" wrap="square" lIns="92075" tIns="46038" rIns="92075" bIns="46038" anchor="b" anchorCtr="0"/>
          <a:p>
            <a:pPr eaLnBrk="1" hangingPunct="1">
              <a:buClrTx/>
              <a:buSzTx/>
              <a:buFontTx/>
            </a:pPr>
            <a:r>
              <a:rPr lang="en-GB" altLang="x-none" b="1" u="sng" dirty="0">
                <a:effectLst/>
                <a:latin typeface="+mj-lt"/>
                <a:ea typeface="+mj-ea"/>
                <a:cs typeface="+mj-cs"/>
              </a:rPr>
              <a:t>GENERATING OUTPUT</a:t>
            </a:r>
            <a:endParaRPr b="1" u="sng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7412" name="Rectangle 3"/>
          <p:cNvSpPr>
            <a:spLocks noGrp="1"/>
          </p:cNvSpPr>
          <p:nvPr>
            <p:ph type="subTitle" sz="quarter" idx="1"/>
          </p:nvPr>
        </p:nvSpPr>
        <p:spPr>
          <a:xfrm>
            <a:off x="228600" y="838200"/>
            <a:ext cx="8686800" cy="5562600"/>
          </a:xfrm>
          <a:ln/>
        </p:spPr>
        <p:txBody>
          <a:bodyPr vert="horz" wrap="square" lIns="92075" tIns="46038" rIns="92075" bIns="46038" anchor="ctr" anchorCtr="0"/>
          <a:p>
            <a:pPr marL="882650" indent="-533400" algn="l" eaLnBrk="1" hangingPunct="1">
              <a:buSzPct val="80000"/>
            </a:pPr>
            <a:r>
              <a:rPr lang="en-GB" altLang="x-none" sz="2800" dirty="0">
                <a:latin typeface="+mn-lt"/>
                <a:ea typeface="+mn-ea"/>
                <a:cs typeface="+mn-cs"/>
              </a:rPr>
              <a:t>Like other programming languages, PL/SQL provides a procedure (i.e. PUT_LINE) to allow the user to display the output on the screen. For a user to able to view a result on the screen, two steps are required. </a:t>
            </a:r>
            <a:endParaRPr lang="en-GB" altLang="x-none" sz="28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GB" altLang="x-none" dirty="0">
                <a:latin typeface="+mn-lt"/>
                <a:ea typeface="+mn-ea"/>
                <a:cs typeface="+mn-cs"/>
              </a:rPr>
              <a:t>First,</a:t>
            </a:r>
            <a:r>
              <a:rPr lang="en-GB" altLang="x-none" sz="2800" dirty="0">
                <a:latin typeface="+mn-lt"/>
                <a:ea typeface="+mn-ea"/>
                <a:cs typeface="+mn-cs"/>
              </a:rPr>
              <a:t> before executing any PL/SQL program, type the following command at the SQL prompt:</a:t>
            </a:r>
            <a:endParaRPr lang="en-GB" altLang="x-none" sz="28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GB" altLang="x-none" dirty="0">
                <a:latin typeface="+mn-lt"/>
                <a:ea typeface="+mn-ea"/>
                <a:cs typeface="+mn-cs"/>
              </a:rPr>
              <a:t>SQL&gt; 	</a:t>
            </a:r>
            <a:r>
              <a:rPr lang="en-GB" altLang="x-none" b="1" dirty="0">
                <a:solidFill>
                  <a:schemeClr val="hlink"/>
                </a:solidFill>
                <a:latin typeface="+mn-lt"/>
                <a:ea typeface="+mn-ea"/>
                <a:cs typeface="+mn-cs"/>
              </a:rPr>
              <a:t>SET SERVEROUTPUT ON;</a:t>
            </a:r>
            <a:endParaRPr lang="en-GB" altLang="x-none" b="1" dirty="0">
              <a:solidFill>
                <a:schemeClr val="hlink"/>
              </a:solidFill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GB" altLang="x-none" sz="2800" dirty="0">
                <a:latin typeface="+mn-lt"/>
                <a:ea typeface="+mn-ea"/>
                <a:cs typeface="+mn-cs"/>
              </a:rPr>
              <a:t>or put the command at the beginning of the program, right before the declaration section.</a:t>
            </a:r>
            <a:endParaRPr lang="en-GB" altLang="x-none" sz="28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103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lIns="92075" tIns="46038" rIns="92075" bIns="46038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  <p:sp>
        <p:nvSpPr>
          <p:cNvPr id="18435" name="Rectangle 2"/>
          <p:cNvSpPr>
            <a:spLocks noGrp="1"/>
          </p:cNvSpPr>
          <p:nvPr>
            <p:ph type="ctrTitle" sz="quarter"/>
          </p:nvPr>
        </p:nvSpPr>
        <p:spPr>
          <a:xfrm>
            <a:off x="533400" y="228600"/>
            <a:ext cx="8305800" cy="685800"/>
          </a:xfrm>
          <a:ln/>
        </p:spPr>
        <p:txBody>
          <a:bodyPr vert="horz" wrap="square" lIns="92075" tIns="46038" rIns="92075" bIns="46038" anchor="b" anchorCtr="0"/>
          <a:p>
            <a:pPr eaLnBrk="1" hangingPunct="1">
              <a:buClrTx/>
              <a:buSzTx/>
              <a:buFontTx/>
            </a:pPr>
            <a:r>
              <a:rPr lang="en-GB" altLang="x-none" b="1" u="sng" dirty="0">
                <a:effectLst/>
                <a:latin typeface="+mj-lt"/>
                <a:ea typeface="+mj-ea"/>
                <a:cs typeface="+mj-cs"/>
              </a:rPr>
              <a:t>GENERATING OUTPUT</a:t>
            </a:r>
            <a:endParaRPr b="1" u="sng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8436" name="Rectangle 3"/>
          <p:cNvSpPr>
            <a:spLocks noGrp="1"/>
          </p:cNvSpPr>
          <p:nvPr>
            <p:ph type="subTitle" sz="quarter" idx="1"/>
          </p:nvPr>
        </p:nvSpPr>
        <p:spPr>
          <a:xfrm>
            <a:off x="228600" y="762000"/>
            <a:ext cx="8686800" cy="5638800"/>
          </a:xfrm>
          <a:ln/>
        </p:spPr>
        <p:txBody>
          <a:bodyPr vert="horz" wrap="square" lIns="92075" tIns="46038" rIns="92075" bIns="46038" anchor="ctr" anchorCtr="0"/>
          <a:p>
            <a:pPr marL="882650" indent="-533400" algn="l" eaLnBrk="1" hangingPunct="1">
              <a:buSzPct val="80000"/>
            </a:pPr>
            <a:r>
              <a:rPr lang="en-GB" altLang="x-none" dirty="0">
                <a:latin typeface="+mn-lt"/>
                <a:ea typeface="+mn-ea"/>
                <a:cs typeface="+mn-cs"/>
              </a:rPr>
              <a:t>Second, </a:t>
            </a:r>
            <a:r>
              <a:rPr lang="en-GB" altLang="x-none" sz="2800" dirty="0">
                <a:latin typeface="+mn-lt"/>
                <a:ea typeface="+mn-ea"/>
                <a:cs typeface="+mn-cs"/>
              </a:rPr>
              <a:t>use </a:t>
            </a:r>
            <a:r>
              <a:rPr lang="en-US" altLang="en-GB" sz="2800" b="1" dirty="0">
                <a:solidFill>
                  <a:schemeClr val="hlink"/>
                </a:solidFill>
                <a:latin typeface="+mn-lt"/>
                <a:ea typeface="+mn-ea"/>
                <a:cs typeface="+mn-cs"/>
              </a:rPr>
              <a:t>RAISE NOTICE</a:t>
            </a:r>
            <a:r>
              <a:rPr lang="en-GB" altLang="x-none" sz="2800" dirty="0">
                <a:latin typeface="+mn-lt"/>
                <a:ea typeface="+mn-ea"/>
                <a:cs typeface="+mn-cs"/>
              </a:rPr>
              <a:t> in your executable section to display any message you want to the screen.</a:t>
            </a:r>
            <a:endParaRPr lang="en-GB" altLang="x-none" sz="28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GB" altLang="x-none" b="1" dirty="0">
                <a:latin typeface="+mn-lt"/>
                <a:ea typeface="+mn-ea"/>
                <a:cs typeface="+mn-cs"/>
              </a:rPr>
              <a:t>Syntax for displaying a message:</a:t>
            </a:r>
            <a:endParaRPr lang="en-GB" altLang="x-none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2800" dirty="0">
                <a:latin typeface="+mn-lt"/>
                <a:ea typeface="+mn-ea"/>
                <a:cs typeface="+mn-cs"/>
              </a:rPr>
              <a:t>RAISE NOTICE 'message';</a:t>
            </a:r>
            <a:endParaRPr lang="en-US" altLang="en-US" sz="28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b="1" dirty="0">
                <a:solidFill>
                  <a:schemeClr val="hlink"/>
                </a:solidFill>
                <a:latin typeface="+mn-lt"/>
                <a:ea typeface="+mn-ea"/>
                <a:cs typeface="+mn-cs"/>
              </a:rPr>
              <a:t>RAISE NOTICE 'My age is %', num_age;</a:t>
            </a:r>
            <a:endParaRPr lang="en-US" altLang="en-US" b="1" dirty="0">
              <a:solidFill>
                <a:schemeClr val="hlink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103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lIns="92075" tIns="46038" rIns="92075" bIns="46038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  <p:sp>
        <p:nvSpPr>
          <p:cNvPr id="19459" name="Rectangle 2"/>
          <p:cNvSpPr>
            <a:spLocks noGrp="1"/>
          </p:cNvSpPr>
          <p:nvPr>
            <p:ph type="ctrTitle" sz="quarter"/>
          </p:nvPr>
        </p:nvSpPr>
        <p:spPr>
          <a:xfrm>
            <a:off x="533400" y="0"/>
            <a:ext cx="8305800" cy="685800"/>
          </a:xfrm>
          <a:ln/>
        </p:spPr>
        <p:txBody>
          <a:bodyPr vert="horz" wrap="square" lIns="92075" tIns="46038" rIns="92075" bIns="46038" anchor="b" anchorCtr="0"/>
          <a:p>
            <a:pPr algn="l" eaLnBrk="1" hangingPunct="1">
              <a:buClrTx/>
              <a:buSzTx/>
              <a:buFontTx/>
            </a:pPr>
            <a:r>
              <a:rPr sz="3600" b="1" u="sng" dirty="0">
                <a:effectLst/>
                <a:latin typeface="+mj-lt"/>
                <a:ea typeface="+mj-ea"/>
                <a:cs typeface="+mj-cs"/>
              </a:rPr>
              <a:t>EXAMPLE</a:t>
            </a:r>
            <a:endParaRPr sz="3600" u="sng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9460" name="Rectangle 3"/>
          <p:cNvSpPr>
            <a:spLocks noGrp="1"/>
          </p:cNvSpPr>
          <p:nvPr>
            <p:ph type="subTitle" sz="quarter" idx="1"/>
          </p:nvPr>
        </p:nvSpPr>
        <p:spPr>
          <a:xfrm>
            <a:off x="228600" y="914400"/>
            <a:ext cx="8686800" cy="5486400"/>
          </a:xfrm>
          <a:ln/>
        </p:spPr>
        <p:txBody>
          <a:bodyPr vert="horz" wrap="square" lIns="92075" tIns="46038" rIns="92075" bIns="46038" anchor="ctr" anchorCtr="0"/>
          <a:p>
            <a:pPr marL="882650" indent="-533400" algn="l" eaLnBrk="1" hangingPunct="1">
              <a:buSzPct val="80000"/>
            </a:pPr>
            <a:r>
              <a:rPr lang="en-US" altLang="en-US" sz="1800" dirty="0">
                <a:latin typeface="+mn-lt"/>
                <a:ea typeface="+mn-ea"/>
                <a:cs typeface="+mn-cs"/>
              </a:rPr>
              <a:t>DO $$</a:t>
            </a:r>
            <a:endParaRPr lang="en-US" altLang="en-US" sz="18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1800" dirty="0">
                <a:latin typeface="+mn-lt"/>
                <a:ea typeface="+mn-ea"/>
                <a:cs typeface="+mn-cs"/>
              </a:rPr>
              <a:t>DECLARE</a:t>
            </a:r>
            <a:endParaRPr lang="en-US" altLang="en-US" sz="18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1800" dirty="0">
                <a:latin typeface="+mn-lt"/>
                <a:ea typeface="+mn-ea"/>
                <a:cs typeface="+mn-cs"/>
              </a:rPr>
              <a:t>   v_student_id INTEGER := 123;  -- replace with required value</a:t>
            </a:r>
            <a:endParaRPr lang="en-US" altLang="en-US" sz="18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1800" dirty="0">
                <a:latin typeface="+mn-lt"/>
                <a:ea typeface="+mn-ea"/>
                <a:cs typeface="+mn-cs"/>
              </a:rPr>
              <a:t>   v_first_name VARCHAR(35);</a:t>
            </a:r>
            <a:endParaRPr lang="en-US" altLang="en-US" sz="18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1800" dirty="0">
                <a:latin typeface="+mn-lt"/>
                <a:ea typeface="+mn-ea"/>
                <a:cs typeface="+mn-cs"/>
              </a:rPr>
              <a:t>   v_last_name  VARCHAR(35);</a:t>
            </a:r>
            <a:endParaRPr lang="en-US" altLang="en-US" sz="18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1800" dirty="0">
                <a:latin typeface="+mn-lt"/>
                <a:ea typeface="+mn-ea"/>
                <a:cs typeface="+mn-cs"/>
              </a:rPr>
              <a:t>BEGIN</a:t>
            </a:r>
            <a:endParaRPr lang="en-US" altLang="en-US" sz="18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1800" dirty="0">
                <a:latin typeface="+mn-lt"/>
                <a:ea typeface="+mn-ea"/>
                <a:cs typeface="+mn-cs"/>
              </a:rPr>
              <a:t>   SELECT first_name, last_name</a:t>
            </a:r>
            <a:endParaRPr lang="en-US" altLang="en-US" sz="18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1800" dirty="0">
                <a:latin typeface="+mn-lt"/>
                <a:ea typeface="+mn-ea"/>
                <a:cs typeface="+mn-cs"/>
              </a:rPr>
              <a:t>   INTO STRICT v_first_name, v_last_name</a:t>
            </a:r>
            <a:endParaRPr lang="en-US" altLang="en-US" sz="18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1800" dirty="0">
                <a:latin typeface="+mn-lt"/>
                <a:ea typeface="+mn-ea"/>
                <a:cs typeface="+mn-cs"/>
              </a:rPr>
              <a:t>   FROM student</a:t>
            </a:r>
            <a:endParaRPr lang="en-US" altLang="en-US" sz="18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1800" dirty="0">
                <a:latin typeface="+mn-lt"/>
                <a:ea typeface="+mn-ea"/>
                <a:cs typeface="+mn-cs"/>
              </a:rPr>
              <a:t>   WHERE student_id = v_student_id;</a:t>
            </a:r>
            <a:endParaRPr lang="en-US" altLang="en-US" sz="18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endParaRPr lang="en-US" altLang="en-US" sz="18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1800" dirty="0">
                <a:latin typeface="+mn-lt"/>
                <a:ea typeface="+mn-ea"/>
                <a:cs typeface="+mn-cs"/>
              </a:rPr>
              <a:t>   RAISE NOTICE 'Student name: % %', v_first_name, v_last_name;</a:t>
            </a:r>
            <a:endParaRPr lang="en-US" altLang="en-US" sz="18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endParaRPr lang="en-US" altLang="en-US" sz="18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1800" dirty="0">
                <a:latin typeface="+mn-lt"/>
                <a:ea typeface="+mn-ea"/>
                <a:cs typeface="+mn-cs"/>
              </a:rPr>
              <a:t>EXCEPTION</a:t>
            </a:r>
            <a:endParaRPr lang="en-US" altLang="en-US" sz="18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1800" dirty="0">
                <a:latin typeface="+mn-lt"/>
                <a:ea typeface="+mn-ea"/>
                <a:cs typeface="+mn-cs"/>
              </a:rPr>
              <a:t>   WHEN NO_DATA_FOUND THEN</a:t>
            </a:r>
            <a:endParaRPr lang="en-US" altLang="en-US" sz="18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1800" dirty="0">
                <a:latin typeface="+mn-lt"/>
                <a:ea typeface="+mn-ea"/>
                <a:cs typeface="+mn-cs"/>
              </a:rPr>
              <a:t>      RAISE NOTICE 'There is no such student';</a:t>
            </a:r>
            <a:endParaRPr lang="en-US" altLang="en-US" sz="18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1800" dirty="0">
                <a:latin typeface="+mn-lt"/>
                <a:ea typeface="+mn-ea"/>
                <a:cs typeface="+mn-cs"/>
              </a:rPr>
              <a:t>END;</a:t>
            </a:r>
            <a:endParaRPr lang="en-US" altLang="en-US" sz="18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1800" dirty="0">
                <a:latin typeface="+mn-lt"/>
                <a:ea typeface="+mn-ea"/>
                <a:cs typeface="+mn-cs"/>
              </a:rPr>
              <a:t>$$;</a:t>
            </a:r>
            <a:endParaRPr lang="en-US" altLang="en-US" sz="18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103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lIns="92075" tIns="46038" rIns="92075" bIns="46038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  <p:sp>
        <p:nvSpPr>
          <p:cNvPr id="20483" name="Rectangle 2"/>
          <p:cNvSpPr>
            <a:spLocks noGrp="1"/>
          </p:cNvSpPr>
          <p:nvPr>
            <p:ph type="ctrTitle" sz="quarter"/>
          </p:nvPr>
        </p:nvSpPr>
        <p:spPr>
          <a:xfrm>
            <a:off x="533400" y="0"/>
            <a:ext cx="8305800" cy="685800"/>
          </a:xfrm>
          <a:ln/>
        </p:spPr>
        <p:txBody>
          <a:bodyPr vert="horz" wrap="square" lIns="92075" tIns="46038" rIns="92075" bIns="46038" anchor="b" anchorCtr="0"/>
          <a:p>
            <a:pPr algn="l" eaLnBrk="1" hangingPunct="1">
              <a:buClrTx/>
              <a:buSzTx/>
              <a:buFontTx/>
            </a:pPr>
            <a:r>
              <a:rPr sz="3600" b="1" u="sng" dirty="0">
                <a:effectLst/>
                <a:latin typeface="+mj-lt"/>
                <a:ea typeface="+mj-ea"/>
                <a:cs typeface="+mj-cs"/>
              </a:rPr>
              <a:t>EXAMPLE</a:t>
            </a:r>
            <a:endParaRPr sz="3600" u="sng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20484" name="Rectangle 3"/>
          <p:cNvSpPr>
            <a:spLocks noGrp="1"/>
          </p:cNvSpPr>
          <p:nvPr>
            <p:ph type="subTitle" sz="quarter" idx="1"/>
          </p:nvPr>
        </p:nvSpPr>
        <p:spPr>
          <a:xfrm>
            <a:off x="228600" y="914400"/>
            <a:ext cx="8686800" cy="5486400"/>
          </a:xfrm>
          <a:ln/>
        </p:spPr>
        <p:txBody>
          <a:bodyPr vert="horz" wrap="square" lIns="92075" tIns="46038" rIns="92075" bIns="46038" anchor="ctr" anchorCtr="0"/>
          <a:p>
            <a:pPr marL="882650" indent="-533400" algn="l" eaLnBrk="1" hangingPunct="1">
              <a:buSzPct val="80000"/>
              <a:buFont typeface="Wingdings" panose="05000000000000000000" pitchFamily="2" charset="2"/>
              <a:buChar char="l"/>
            </a:pPr>
            <a:r>
              <a:rPr sz="2800" dirty="0">
                <a:latin typeface="+mn-lt"/>
                <a:ea typeface="+mn-ea"/>
                <a:cs typeface="+mn-cs"/>
              </a:rPr>
              <a:t>When this example is executed, the user is asked to provide a value for the student ID.</a:t>
            </a:r>
            <a:endParaRPr sz="28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  <a:buFont typeface="Wingdings" panose="05000000000000000000" pitchFamily="2" charset="2"/>
              <a:buChar char="l"/>
            </a:pPr>
            <a:r>
              <a:rPr sz="2800" dirty="0">
                <a:latin typeface="+mn-lt"/>
                <a:ea typeface="+mn-ea"/>
                <a:cs typeface="+mn-cs"/>
              </a:rPr>
              <a:t>The example shown above uses a single ampersand for the substitution variable.</a:t>
            </a:r>
            <a:endParaRPr sz="28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  <a:buFont typeface="Wingdings" panose="05000000000000000000" pitchFamily="2" charset="2"/>
              <a:buChar char="l"/>
            </a:pPr>
            <a:r>
              <a:rPr sz="2800" dirty="0">
                <a:latin typeface="+mn-lt"/>
                <a:ea typeface="+mn-ea"/>
                <a:cs typeface="+mn-cs"/>
              </a:rPr>
              <a:t>When a single ampersand is used throughout the PL/</a:t>
            </a:r>
            <a:r>
              <a:rPr lang="en-US" sz="2800" dirty="0">
                <a:latin typeface="+mn-lt"/>
                <a:ea typeface="+mn-ea"/>
                <a:cs typeface="+mn-cs"/>
              </a:rPr>
              <a:t>pg</a:t>
            </a:r>
            <a:r>
              <a:rPr sz="2800" dirty="0">
                <a:latin typeface="+mn-lt"/>
                <a:ea typeface="+mn-ea"/>
                <a:cs typeface="+mn-cs"/>
              </a:rPr>
              <a:t>SQL block, the user is asked to provide a value for each occurrence of the substitution variable.</a:t>
            </a:r>
            <a:endParaRPr sz="28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  <a:buFont typeface="Wingdings" panose="05000000000000000000" pitchFamily="2" charset="2"/>
              <a:buChar char="l"/>
            </a:pPr>
            <a:endParaRPr sz="20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103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lIns="92075" tIns="46038" rIns="92075" bIns="46038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  <p:sp>
        <p:nvSpPr>
          <p:cNvPr id="21507" name="Rectangle 2"/>
          <p:cNvSpPr>
            <a:spLocks noGrp="1"/>
          </p:cNvSpPr>
          <p:nvPr>
            <p:ph type="ctrTitle" sz="quarter"/>
          </p:nvPr>
        </p:nvSpPr>
        <p:spPr>
          <a:xfrm>
            <a:off x="533400" y="0"/>
            <a:ext cx="8305800" cy="685800"/>
          </a:xfrm>
          <a:ln/>
        </p:spPr>
        <p:txBody>
          <a:bodyPr vert="horz" wrap="square" lIns="92075" tIns="46038" rIns="92075" bIns="46038" anchor="b" anchorCtr="0"/>
          <a:p>
            <a:pPr algn="l" eaLnBrk="1" hangingPunct="1">
              <a:buClrTx/>
              <a:buSzTx/>
              <a:buFontTx/>
            </a:pPr>
            <a:r>
              <a:rPr sz="3600" b="1" u="sng" dirty="0">
                <a:effectLst/>
                <a:latin typeface="+mj-lt"/>
                <a:ea typeface="+mj-ea"/>
                <a:cs typeface="+mj-cs"/>
              </a:rPr>
              <a:t>EXAMPLE</a:t>
            </a:r>
            <a:endParaRPr sz="3600" u="sng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21508" name="Rectangle 3"/>
          <p:cNvSpPr>
            <a:spLocks noGrp="1"/>
          </p:cNvSpPr>
          <p:nvPr>
            <p:ph type="subTitle" sz="quarter" idx="1"/>
          </p:nvPr>
        </p:nvSpPr>
        <p:spPr>
          <a:xfrm>
            <a:off x="228600" y="914400"/>
            <a:ext cx="8686800" cy="5486400"/>
          </a:xfrm>
          <a:ln/>
        </p:spPr>
        <p:txBody>
          <a:bodyPr vert="horz" wrap="square" lIns="92075" tIns="46038" rIns="92075" bIns="46038" anchor="ctr" anchorCtr="0"/>
          <a:p>
            <a:pPr marL="882650" indent="-533400" algn="l" eaLnBrk="1" hangingPunct="1">
              <a:buSzPct val="80000"/>
            </a:pPr>
            <a:r>
              <a:rPr lang="en-US" altLang="en-US" sz="2000" dirty="0">
                <a:latin typeface="+mn-lt"/>
                <a:ea typeface="+mn-ea"/>
                <a:cs typeface="+mn-cs"/>
              </a:rPr>
              <a:t>\prompt 'Enter value for today: ' sv_day_today</a:t>
            </a:r>
            <a:endParaRPr lang="en-US" altLang="en-US" sz="20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2000" dirty="0">
                <a:latin typeface="+mn-lt"/>
                <a:ea typeface="+mn-ea"/>
                <a:cs typeface="+mn-cs"/>
              </a:rPr>
              <a:t>\prompt 'Enter value for tomorrow: ' sv_day_tomorrow</a:t>
            </a:r>
            <a:endParaRPr lang="en-US" altLang="en-US" sz="20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endParaRPr lang="en-US" altLang="en-US" sz="20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2000" dirty="0">
                <a:latin typeface="+mn-lt"/>
                <a:ea typeface="+mn-ea"/>
                <a:cs typeface="+mn-cs"/>
              </a:rPr>
              <a:t>SELECT set_config('my.today', :'sv_day_today', false);</a:t>
            </a:r>
            <a:endParaRPr lang="en-US" altLang="en-US" sz="20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2000" dirty="0">
                <a:latin typeface="+mn-lt"/>
                <a:ea typeface="+mn-ea"/>
                <a:cs typeface="+mn-cs"/>
              </a:rPr>
              <a:t>SELECT set_config('my.tomorrow', :'sv_day_tomorrow', false);</a:t>
            </a:r>
            <a:endParaRPr lang="en-US" altLang="en-US" sz="20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endParaRPr lang="en-US" altLang="en-US" sz="20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2000" dirty="0">
                <a:latin typeface="+mn-lt"/>
                <a:ea typeface="+mn-ea"/>
                <a:cs typeface="+mn-cs"/>
              </a:rPr>
              <a:t>DO $$</a:t>
            </a:r>
            <a:endParaRPr lang="en-US" altLang="en-US" sz="20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2000" dirty="0">
                <a:latin typeface="+mn-lt"/>
                <a:ea typeface="+mn-ea"/>
                <a:cs typeface="+mn-cs"/>
              </a:rPr>
              <a:t>DECLARE</a:t>
            </a:r>
            <a:endParaRPr lang="en-US" altLang="en-US" sz="20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2000" dirty="0">
                <a:latin typeface="+mn-lt"/>
                <a:ea typeface="+mn-ea"/>
                <a:cs typeface="+mn-cs"/>
              </a:rPr>
              <a:t>   v_today TEXT := current_setting('my.today');</a:t>
            </a:r>
            <a:endParaRPr lang="en-US" altLang="en-US" sz="20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2000" dirty="0">
                <a:latin typeface="+mn-lt"/>
                <a:ea typeface="+mn-ea"/>
                <a:cs typeface="+mn-cs"/>
              </a:rPr>
              <a:t>   v_tomorrow TEXT := current_setting('my.tomorrow');</a:t>
            </a:r>
            <a:endParaRPr lang="en-US" altLang="en-US" sz="20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2000" dirty="0">
                <a:latin typeface="+mn-lt"/>
                <a:ea typeface="+mn-ea"/>
                <a:cs typeface="+mn-cs"/>
              </a:rPr>
              <a:t>BEGIN</a:t>
            </a:r>
            <a:endParaRPr lang="en-US" altLang="en-US" sz="20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2000" dirty="0">
                <a:latin typeface="+mn-lt"/>
                <a:ea typeface="+mn-ea"/>
                <a:cs typeface="+mn-cs"/>
              </a:rPr>
              <a:t>   RAISE NOTICE 'Today is %', v_today;</a:t>
            </a:r>
            <a:endParaRPr lang="en-US" altLang="en-US" sz="20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2000" dirty="0">
                <a:latin typeface="+mn-lt"/>
                <a:ea typeface="+mn-ea"/>
                <a:cs typeface="+mn-cs"/>
              </a:rPr>
              <a:t>   RAISE NOTICE 'Tomorrow will be %', v_tomorrow;</a:t>
            </a:r>
            <a:endParaRPr lang="en-US" altLang="en-US" sz="20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2000" dirty="0">
                <a:latin typeface="+mn-lt"/>
                <a:ea typeface="+mn-ea"/>
                <a:cs typeface="+mn-cs"/>
              </a:rPr>
              <a:t>END;</a:t>
            </a:r>
            <a:endParaRPr lang="en-US" altLang="en-US" sz="2000" dirty="0">
              <a:latin typeface="+mn-lt"/>
              <a:ea typeface="+mn-ea"/>
              <a:cs typeface="+mn-cs"/>
            </a:endParaRPr>
          </a:p>
          <a:p>
            <a:pPr marL="882650" indent="-533400" algn="l" eaLnBrk="1" hangingPunct="1">
              <a:buSzPct val="80000"/>
            </a:pPr>
            <a:r>
              <a:rPr lang="en-US" altLang="en-US" sz="2000" dirty="0">
                <a:latin typeface="+mn-lt"/>
                <a:ea typeface="+mn-ea"/>
                <a:cs typeface="+mn-cs"/>
              </a:rPr>
              <a:t>$$;</a:t>
            </a:r>
            <a:endParaRPr lang="en-US" altLang="en-US" sz="20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65341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syntax of if</a:t>
            </a: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7772400" cy="5423535"/>
          </a:xfrm>
          <a:ln/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en-US" altLang="en-US" sz="2000" dirty="0"/>
              <a:t>DO $$</a:t>
            </a:r>
            <a:endParaRPr lang="en-US" altLang="en-US" sz="2000" dirty="0"/>
          </a:p>
          <a:p>
            <a:pPr>
              <a:buNone/>
            </a:pPr>
            <a:r>
              <a:rPr lang="en-US" altLang="en-US" sz="2000" dirty="0"/>
              <a:t>DECLARE</a:t>
            </a:r>
            <a:endParaRPr lang="en-US" altLang="en-US" sz="2000" dirty="0"/>
          </a:p>
          <a:p>
            <a:pPr>
              <a:buNone/>
            </a:pPr>
            <a:r>
              <a:rPr lang="en-US" altLang="en-US" sz="2000" dirty="0"/>
              <a:t>   v_num INT := 10;</a:t>
            </a:r>
            <a:endParaRPr lang="en-US" altLang="en-US" sz="2000" dirty="0"/>
          </a:p>
          <a:p>
            <a:pPr>
              <a:buNone/>
            </a:pPr>
            <a:r>
              <a:rPr lang="en-US" altLang="en-US" sz="2000" dirty="0"/>
              <a:t>BEGIN</a:t>
            </a:r>
            <a:endParaRPr lang="en-US" altLang="en-US" sz="2000" dirty="0"/>
          </a:p>
          <a:p>
            <a:pPr>
              <a:buNone/>
            </a:pPr>
            <a:r>
              <a:rPr lang="en-US" altLang="en-US" sz="2000" dirty="0"/>
              <a:t>   IF v_num &gt; 10 THEN</a:t>
            </a:r>
            <a:endParaRPr lang="en-US" altLang="en-US" sz="2000" dirty="0"/>
          </a:p>
          <a:p>
            <a:pPr>
              <a:buNone/>
            </a:pPr>
            <a:r>
              <a:rPr lang="en-US" altLang="en-US" sz="2000" dirty="0"/>
              <a:t>      RAISE NOTICE 'Greater than 10';</a:t>
            </a:r>
            <a:endParaRPr lang="en-US" altLang="en-US" sz="2000" dirty="0"/>
          </a:p>
          <a:p>
            <a:pPr>
              <a:buNone/>
            </a:pPr>
            <a:endParaRPr lang="en-US" altLang="en-US" sz="2000" dirty="0"/>
          </a:p>
          <a:p>
            <a:pPr>
              <a:buNone/>
            </a:pPr>
            <a:r>
              <a:rPr lang="en-US" altLang="en-US" sz="2000" dirty="0"/>
              <a:t>   ELSIF v_num = 10 THEN</a:t>
            </a:r>
            <a:endParaRPr lang="en-US" altLang="en-US" sz="2000" dirty="0"/>
          </a:p>
          <a:p>
            <a:pPr>
              <a:buNone/>
            </a:pPr>
            <a:r>
              <a:rPr lang="en-US" altLang="en-US" sz="2000" dirty="0"/>
              <a:t>      RAISE NOTICE 'Equal to 10';</a:t>
            </a:r>
            <a:endParaRPr lang="en-US" altLang="en-US" sz="2000" dirty="0"/>
          </a:p>
          <a:p>
            <a:pPr>
              <a:buNone/>
            </a:pPr>
            <a:endParaRPr lang="en-US" altLang="en-US" sz="2000" dirty="0"/>
          </a:p>
          <a:p>
            <a:pPr>
              <a:buNone/>
            </a:pPr>
            <a:r>
              <a:rPr lang="en-US" altLang="en-US" sz="2000" dirty="0"/>
              <a:t>   ELSE</a:t>
            </a:r>
            <a:endParaRPr lang="en-US" altLang="en-US" sz="2000" dirty="0"/>
          </a:p>
          <a:p>
            <a:pPr>
              <a:buNone/>
            </a:pPr>
            <a:r>
              <a:rPr lang="en-US" altLang="en-US" sz="2000" dirty="0"/>
              <a:t>      RAISE NOTICE 'Less than 10';</a:t>
            </a:r>
            <a:endParaRPr lang="en-US" altLang="en-US" sz="2000" dirty="0"/>
          </a:p>
          <a:p>
            <a:pPr>
              <a:buNone/>
            </a:pPr>
            <a:r>
              <a:rPr lang="en-US" altLang="en-US" sz="2000" dirty="0"/>
              <a:t>   END IF;</a:t>
            </a:r>
            <a:endParaRPr lang="en-US" altLang="en-US" sz="2000" dirty="0"/>
          </a:p>
          <a:p>
            <a:pPr>
              <a:buNone/>
            </a:pPr>
            <a:r>
              <a:rPr lang="en-US" altLang="en-US" sz="2000" dirty="0"/>
              <a:t>END;</a:t>
            </a:r>
            <a:endParaRPr lang="en-US" altLang="en-US" sz="2000" dirty="0"/>
          </a:p>
          <a:p>
            <a:pPr>
              <a:buNone/>
            </a:pPr>
            <a:r>
              <a:rPr lang="en-US" altLang="en-US" sz="2000" dirty="0"/>
              <a:t>$$;</a:t>
            </a:r>
            <a:endParaRPr lang="en-US" altLang="en-US" sz="2000" dirty="0"/>
          </a:p>
        </p:txBody>
      </p:sp>
      <p:sp>
        <p:nvSpPr>
          <p:cNvPr id="26628" name="Slide Number Placeholder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Syntax of while loop</a:t>
            </a: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558800" y="1752600"/>
            <a:ext cx="7899400" cy="4631055"/>
          </a:xfrm>
          <a:ln/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en-US" altLang="en-US" sz="2400" dirty="0"/>
              <a:t>DO $$</a:t>
            </a:r>
            <a:endParaRPr lang="en-US" altLang="en-US" sz="2400" dirty="0"/>
          </a:p>
          <a:p>
            <a:pPr>
              <a:buNone/>
            </a:pPr>
            <a:r>
              <a:rPr lang="en-US" altLang="en-US" sz="2400" dirty="0"/>
              <a:t>DECLARE</a:t>
            </a:r>
            <a:endParaRPr lang="en-US" altLang="en-US" sz="2400" dirty="0"/>
          </a:p>
          <a:p>
            <a:pPr>
              <a:buNone/>
            </a:pPr>
            <a:r>
              <a:rPr lang="en-US" altLang="en-US" sz="2400" dirty="0"/>
              <a:t>   i INT := 1;</a:t>
            </a:r>
            <a:endParaRPr lang="en-US" altLang="en-US" sz="2400" dirty="0"/>
          </a:p>
          <a:p>
            <a:pPr>
              <a:buNone/>
            </a:pPr>
            <a:r>
              <a:rPr lang="en-US" altLang="en-US" sz="2400" dirty="0"/>
              <a:t>BEGIN</a:t>
            </a:r>
            <a:endParaRPr lang="en-US" altLang="en-US" sz="2400" dirty="0"/>
          </a:p>
          <a:p>
            <a:pPr>
              <a:buNone/>
            </a:pPr>
            <a:r>
              <a:rPr lang="en-US" altLang="en-US" sz="2400" dirty="0"/>
              <a:t>   WHILE i &lt;= 5 LOOP</a:t>
            </a:r>
            <a:endParaRPr lang="en-US" altLang="en-US" sz="2400" dirty="0"/>
          </a:p>
          <a:p>
            <a:pPr>
              <a:buNone/>
            </a:pPr>
            <a:r>
              <a:rPr lang="en-US" altLang="en-US" sz="2400" dirty="0"/>
              <a:t>      RAISE NOTICE 'Value of i: %', i;</a:t>
            </a:r>
            <a:endParaRPr lang="en-US" altLang="en-US" sz="2400" dirty="0"/>
          </a:p>
          <a:p>
            <a:pPr>
              <a:buNone/>
            </a:pPr>
            <a:r>
              <a:rPr lang="en-US" altLang="en-US" sz="2400" dirty="0"/>
              <a:t>      i := i + 1;</a:t>
            </a:r>
            <a:endParaRPr lang="en-US" altLang="en-US" sz="2400" dirty="0"/>
          </a:p>
          <a:p>
            <a:pPr>
              <a:buNone/>
            </a:pPr>
            <a:r>
              <a:rPr lang="en-US" altLang="en-US" sz="2400" dirty="0"/>
              <a:t>   END LOOP;</a:t>
            </a:r>
            <a:endParaRPr lang="en-US" altLang="en-US" sz="2400" dirty="0"/>
          </a:p>
          <a:p>
            <a:pPr>
              <a:buNone/>
            </a:pPr>
            <a:r>
              <a:rPr lang="en-US" altLang="en-US" sz="2400" dirty="0"/>
              <a:t>END;</a:t>
            </a:r>
            <a:endParaRPr lang="en-US" altLang="en-US" sz="2400" dirty="0"/>
          </a:p>
          <a:p>
            <a:pPr>
              <a:buNone/>
            </a:pPr>
            <a:r>
              <a:rPr lang="en-US" altLang="en-US" sz="2400" dirty="0"/>
              <a:t>$$;</a:t>
            </a:r>
            <a:endParaRPr lang="en-US" altLang="en-US" sz="2400" dirty="0"/>
          </a:p>
        </p:txBody>
      </p:sp>
      <p:sp>
        <p:nvSpPr>
          <p:cNvPr id="27652" name="Slide Number Placeholder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lIns="92075" tIns="46038" rIns="92075" bIns="46038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Designs\Soaring.pot</Template>
  <TotalTime>0</TotalTime>
  <Words>6982</Words>
  <Application>WPS Presentation</Application>
  <PresentationFormat>On-screen Show (4:3)</PresentationFormat>
  <Paragraphs>270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SimSun</vt:lpstr>
      <vt:lpstr>Wingdings</vt:lpstr>
      <vt:lpstr>Times New Roman</vt:lpstr>
      <vt:lpstr>Arial Unicode MS</vt:lpstr>
      <vt:lpstr>Microsoft YaHei</vt:lpstr>
      <vt:lpstr>Arial Unicode MS</vt:lpstr>
      <vt:lpstr>Soaring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SIUE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Academic Computing</dc:creator>
  <cp:lastModifiedBy>Ganesh Maharna</cp:lastModifiedBy>
  <cp:revision>255</cp:revision>
  <dcterms:created xsi:type="dcterms:W3CDTF">2001-10-17T20:51:44Z</dcterms:created>
  <dcterms:modified xsi:type="dcterms:W3CDTF">2026-04-23T14:06:33Z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1033-12.1.0.25830</vt:lpwstr>
  </property>
  <property fmtid="{D5CDD505-2E9C-101B-9397-08002B2CF9AE}" pid="3" name="ICV">
    <vt:lpwstr>AE92459F8B1C455FB46121DEB5674D0E_13</vt:lpwstr>
  </property>
</Properties>
</file>