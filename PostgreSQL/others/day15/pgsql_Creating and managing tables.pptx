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73" r:id="rId2"/>
    <p:sldId id="257" r:id="rId3"/>
    <p:sldId id="258" r:id="rId4"/>
    <p:sldId id="259" r:id="rId5"/>
    <p:sldId id="280" r:id="rId6"/>
    <p:sldId id="260" r:id="rId7"/>
    <p:sldId id="261" r:id="rId8"/>
    <p:sldId id="279" r:id="rId9"/>
    <p:sldId id="281" r:id="rId10"/>
    <p:sldId id="282" r:id="rId11"/>
    <p:sldId id="264" r:id="rId12"/>
    <p:sldId id="283" r:id="rId13"/>
    <p:sldId id="284" r:id="rId14"/>
    <p:sldId id="265" r:id="rId15"/>
    <p:sldId id="266" r:id="rId16"/>
    <p:sldId id="268" r:id="rId17"/>
    <p:sldId id="269" r:id="rId18"/>
    <p:sldId id="285" r:id="rId19"/>
    <p:sldId id="286" r:id="rId20"/>
    <p:sldId id="287" r:id="rId21"/>
    <p:sldId id="288" r:id="rId22"/>
    <p:sldId id="289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E020B-73DC-48A6-BD50-D77155D8F115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2573D-EFDC-4FB9-88FA-FB141078B7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5092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2573D-EFDC-4FB9-88FA-FB141078B7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146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A08E3-1D6C-461D-A0D1-4A359D263DBD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3F71-5EE7-4252-931F-CAAD77DE46C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DD632-5D62-4A60-BA29-501EA528CCE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AF15-4600-4E84-9567-95EFDEC5784E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A625-719E-45DD-9AD3-3AE7A68CDBCB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2C75-2119-4A18-A145-9DF9DDA0C350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B472-7EB2-4999-93D6-8B82AA9E3E6F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91947-4D2B-4B7D-95ED-99F021996951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34373-8720-4C2E-A500-C979A340C050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6E44-7C70-4795-A18A-B367E42C62CA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Bikram K.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89AD0-449F-40EB-BD40-42AA4BF1963A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Bikram K. Mishra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AB00-55EA-40CE-9CF9-84899FA44A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17/static/sql-createtable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4600" y="762000"/>
            <a:ext cx="4055919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Castellar" pitchFamily="18" charset="0"/>
              </a:rPr>
              <a:t>Creating</a:t>
            </a:r>
            <a:r>
              <a:rPr lang="en-US" sz="4400" b="1" dirty="0">
                <a:latin typeface="Castellar" pitchFamily="18" charset="0"/>
              </a:rPr>
              <a:t> </a:t>
            </a:r>
          </a:p>
          <a:p>
            <a:pPr algn="ctr"/>
            <a:r>
              <a:rPr lang="en-US" sz="4400" b="1" dirty="0">
                <a:latin typeface="Castellar" pitchFamily="18" charset="0"/>
              </a:rPr>
              <a:t>and </a:t>
            </a:r>
          </a:p>
          <a:p>
            <a:pPr algn="ctr"/>
            <a:r>
              <a:rPr lang="en-US" sz="4400" b="1" dirty="0">
                <a:solidFill>
                  <a:srgbClr val="FF0000"/>
                </a:solidFill>
                <a:latin typeface="Castellar" pitchFamily="18" charset="0"/>
              </a:rPr>
              <a:t>Managing</a:t>
            </a:r>
            <a:r>
              <a:rPr lang="en-US" sz="4400" b="1" dirty="0">
                <a:latin typeface="Castellar" pitchFamily="18" charset="0"/>
              </a:rPr>
              <a:t> </a:t>
            </a:r>
          </a:p>
          <a:p>
            <a:pPr algn="ctr"/>
            <a:r>
              <a:rPr lang="en-US" sz="4400" b="1" dirty="0">
                <a:latin typeface="Castellar" pitchFamily="18" charset="0"/>
              </a:rPr>
              <a:t>Tables</a:t>
            </a:r>
            <a:endParaRPr lang="en-US" sz="4400" dirty="0">
              <a:latin typeface="Castellar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884238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Objective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1"/>
            <a:ext cx="8229600" cy="3200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  <a:buFontTx/>
              <a:buNone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Create main database objects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Create tables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Describe the data types that can be used when specifying column definition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Alter table definition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Drop, rename, truncate tables 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FontTx/>
              <a:buNone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Database Objects</a:t>
            </a:r>
          </a:p>
        </p:txBody>
      </p:sp>
      <p:graphicFrame>
        <p:nvGraphicFramePr>
          <p:cNvPr id="38955" name="Group 43"/>
          <p:cNvGraphicFramePr>
            <a:graphicFrameLocks noGrp="1"/>
          </p:cNvGraphicFramePr>
          <p:nvPr/>
        </p:nvGraphicFramePr>
        <p:xfrm>
          <a:off x="685800" y="1752599"/>
          <a:ext cx="7772400" cy="3962401"/>
        </p:xfrm>
        <a:graphic>
          <a:graphicData uri="http://schemas.openxmlformats.org/drawingml/2006/table">
            <a:tbl>
              <a:tblPr/>
              <a:tblGrid>
                <a:gridCol w="18842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881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26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Objects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 Description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99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Table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Basic unit storage ; composed of rows and columns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9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View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Logically represents subset of data from one or more tables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00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Sequence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Numeric value generator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61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Index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Improves the performance of some queries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700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Synonyms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Give alternate names to objects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Naming Rules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Aft>
                <a:spcPts val="1200"/>
              </a:spcAft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Table names and Column name :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Must begin with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letter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Must be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1 to 30 character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long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Must contain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only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A-Z , a-z , 0-9 , _ , $ , #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Must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not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duplicate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the name of another object owned by the same user.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Must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not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be </a:t>
            </a:r>
            <a:r>
              <a:rPr lang="en-US" sz="2000">
                <a:latin typeface="Verdana" pitchFamily="34" charset="0"/>
                <a:ea typeface="Verdana" pitchFamily="34" charset="0"/>
              </a:rPr>
              <a:t>an </a:t>
            </a:r>
            <a:r>
              <a:rPr lang="en-US" sz="2000" b="1">
                <a:latin typeface="Verdana" pitchFamily="34" charset="0"/>
                <a:ea typeface="Verdana" pitchFamily="34" charset="0"/>
              </a:rPr>
              <a:t>reserved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word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Database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DDL (Data Definition Language) statements </a:t>
            </a:r>
          </a:p>
          <a:p>
            <a:r>
              <a:rPr lang="en-IN" dirty="0"/>
              <a:t>DML (Data Manipulation Language) statements</a:t>
            </a:r>
          </a:p>
          <a:p>
            <a:r>
              <a:rPr lang="en-IN" dirty="0"/>
              <a:t>DCL/TCL (Data Control/ Transaction Control Language) statements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451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CREATE TABLE Statement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9624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Purpose: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To create a table</a:t>
            </a:r>
            <a:endParaRPr lang="en-US" sz="2000" b="1" dirty="0">
              <a:solidFill>
                <a:srgbClr val="7030A0"/>
              </a:solidFill>
              <a:latin typeface="Verdana" pitchFamily="34" charset="0"/>
              <a:ea typeface="Verdana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Syntax: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CREATE TABLE &lt;table name&gt;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                       (column1 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datatype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(size), column2 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datatype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  (size),………..,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columnn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datatype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(size))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You specify 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	     - table name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	     - column name, column data type, column size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Create Table Example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417637"/>
            <a:ext cx="64008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itchFamily="49" charset="0"/>
              </a:rPr>
              <a:t>SQL&gt;</a:t>
            </a:r>
            <a:r>
              <a:rPr lang="en-US" b="1" u="sng" dirty="0">
                <a:hlinkClick r:id="rId2"/>
              </a:rPr>
              <a:t>CREATE TABLE</a:t>
            </a:r>
            <a:r>
              <a:rPr lang="en-US" dirty="0"/>
              <a:t> dept (</a:t>
            </a:r>
            <a:br>
              <a:rPr lang="en-US" dirty="0"/>
            </a:br>
            <a:r>
              <a:rPr lang="en-US" dirty="0"/>
              <a:t>                        </a:t>
            </a:r>
            <a:r>
              <a:rPr lang="en-US" dirty="0" err="1"/>
              <a:t>deptno</a:t>
            </a:r>
            <a:r>
              <a:rPr lang="en-US" dirty="0"/>
              <a:t> int,</a:t>
            </a:r>
            <a:br>
              <a:rPr lang="en-US" dirty="0"/>
            </a:br>
            <a:r>
              <a:rPr lang="en-US" dirty="0"/>
              <a:t>			 </a:t>
            </a:r>
            <a:r>
              <a:rPr lang="en-US" dirty="0" err="1"/>
              <a:t>dname</a:t>
            </a:r>
            <a:r>
              <a:rPr lang="en-US" dirty="0"/>
              <a:t> varchar(15),</a:t>
            </a:r>
            <a:br>
              <a:rPr lang="en-US" dirty="0"/>
            </a:br>
            <a:r>
              <a:rPr lang="en-US" dirty="0"/>
              <a:t>			 </a:t>
            </a:r>
            <a:r>
              <a:rPr lang="en-US" dirty="0" err="1"/>
              <a:t>dloc</a:t>
            </a:r>
            <a:r>
              <a:rPr lang="en-US" dirty="0"/>
              <a:t>  varchar(10));</a:t>
            </a:r>
          </a:p>
          <a:p>
            <a:pPr eaLnBrk="1" hangingPunct="1">
              <a:buFontTx/>
              <a:buNone/>
            </a:pPr>
            <a:r>
              <a:rPr lang="en-US" sz="2400" dirty="0">
                <a:solidFill>
                  <a:srgbClr val="0070C0"/>
                </a:solidFill>
                <a:latin typeface="Consolas" pitchFamily="49" charset="0"/>
              </a:rPr>
              <a:t>Table created</a:t>
            </a:r>
            <a:r>
              <a:rPr lang="en-US" sz="2400" dirty="0">
                <a:latin typeface="Consolas" pitchFamily="49" charset="0"/>
              </a:rPr>
              <a:t>.</a:t>
            </a:r>
          </a:p>
          <a:p>
            <a:pPr eaLnBrk="1" hangingPunct="1"/>
            <a:endParaRPr lang="en-US" sz="2400" dirty="0">
              <a:latin typeface="Consolas" pitchFamily="49" charset="0"/>
            </a:endParaRPr>
          </a:p>
          <a:p>
            <a:pPr eaLnBrk="1" hangingPunct="1"/>
            <a:endParaRPr lang="en-US" sz="2400" dirty="0">
              <a:latin typeface="Consolas" pitchFamily="49" charset="0"/>
            </a:endParaRPr>
          </a:p>
          <a:p>
            <a:pPr eaLnBrk="1" hangingPunct="1">
              <a:buFontTx/>
              <a:buNone/>
            </a:pPr>
            <a:endParaRPr lang="en-US" sz="2400" dirty="0">
              <a:latin typeface="Consolas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ALTER TABLE Statement</a:t>
            </a:r>
            <a:endParaRPr lang="en-IN" sz="3200" b="1" dirty="0">
              <a:solidFill>
                <a:srgbClr val="FF0000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6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Purpose:</a:t>
            </a:r>
            <a:r>
              <a:rPr lang="en-IN" dirty="0"/>
              <a:t> To alter the structure of the table. It has 3 variations:</a:t>
            </a:r>
          </a:p>
          <a:p>
            <a:r>
              <a:rPr lang="en-IN" b="1" dirty="0"/>
              <a:t>Alter with add: </a:t>
            </a:r>
            <a:r>
              <a:rPr lang="en-IN" dirty="0"/>
              <a:t>used to add columns in an existing table.</a:t>
            </a:r>
          </a:p>
          <a:p>
            <a:pPr marL="0" indent="0">
              <a:buNone/>
            </a:pPr>
            <a:r>
              <a:rPr lang="en-IN" b="1" dirty="0"/>
              <a:t>Syntax:</a:t>
            </a:r>
            <a:r>
              <a:rPr lang="en-IN" dirty="0"/>
              <a:t> alter table &lt;table name&gt; add &lt;new column name&gt; </a:t>
            </a:r>
            <a:r>
              <a:rPr lang="en-IN" dirty="0" err="1"/>
              <a:t>datatype</a:t>
            </a:r>
            <a:r>
              <a:rPr lang="en-IN" dirty="0"/>
              <a:t> (size)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r>
              <a:rPr lang="en-US" dirty="0"/>
              <a:t>alter table emp add age int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202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87" y="457200"/>
            <a:ext cx="8915400" cy="5791200"/>
          </a:xfrm>
        </p:spPr>
        <p:txBody>
          <a:bodyPr/>
          <a:lstStyle/>
          <a:p>
            <a:r>
              <a:rPr lang="en-IN" b="1" dirty="0"/>
              <a:t>Alter with drop: </a:t>
            </a:r>
            <a:r>
              <a:rPr lang="en-IN" dirty="0"/>
              <a:t>used to remove a column from an existing table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syntax: </a:t>
            </a:r>
            <a:r>
              <a:rPr lang="en-IN" dirty="0"/>
              <a:t>alter table &lt;table name&gt; drop  &lt;column    </a:t>
            </a:r>
          </a:p>
          <a:p>
            <a:pPr marL="0" indent="0">
              <a:buNone/>
            </a:pPr>
            <a:r>
              <a:rPr lang="en-IN" dirty="0"/>
              <a:t>                  name&gt;</a:t>
            </a:r>
          </a:p>
          <a:p>
            <a:pPr marL="0" indent="0">
              <a:buNone/>
            </a:pPr>
            <a:r>
              <a:rPr lang="en-IN" b="1" dirty="0"/>
              <a:t>    Example: </a:t>
            </a:r>
            <a:r>
              <a:rPr lang="en-IN" dirty="0"/>
              <a:t>alter table </a:t>
            </a:r>
            <a:r>
              <a:rPr lang="en-IN" dirty="0" err="1"/>
              <a:t>emp</a:t>
            </a:r>
            <a:r>
              <a:rPr lang="en-IN" dirty="0"/>
              <a:t> drop age</a:t>
            </a:r>
          </a:p>
          <a:p>
            <a:r>
              <a:rPr lang="en-IN" b="1" dirty="0"/>
              <a:t>Alter with modify: </a:t>
            </a:r>
            <a:r>
              <a:rPr lang="en-IN" dirty="0"/>
              <a:t>used to modify an existing column </a:t>
            </a:r>
          </a:p>
          <a:p>
            <a:pPr marL="0" indent="0">
              <a:buNone/>
            </a:pPr>
            <a:r>
              <a:rPr lang="en-IN" b="1" dirty="0"/>
              <a:t>   syntax: </a:t>
            </a:r>
            <a:r>
              <a:rPr lang="en-IN" dirty="0"/>
              <a:t>alter table &lt;table name&gt; modify  &lt;column    </a:t>
            </a:r>
          </a:p>
          <a:p>
            <a:pPr marL="0" indent="0">
              <a:buNone/>
            </a:pPr>
            <a:r>
              <a:rPr lang="en-IN" dirty="0"/>
              <a:t>                  name&gt; </a:t>
            </a:r>
            <a:r>
              <a:rPr lang="en-IN" dirty="0" err="1" smtClean="0"/>
              <a:t>new_datatype</a:t>
            </a:r>
            <a:r>
              <a:rPr lang="en-IN" dirty="0" smtClean="0"/>
              <a:t> </a:t>
            </a:r>
            <a:r>
              <a:rPr lang="en-IN" dirty="0"/>
              <a:t>(new size)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58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DROP and Rename TABLE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u="sng" dirty="0"/>
              <a:t>DROP Table statement</a:t>
            </a:r>
          </a:p>
          <a:p>
            <a:pPr marL="0" indent="0">
              <a:buNone/>
            </a:pPr>
            <a:r>
              <a:rPr lang="en-IN" b="1" dirty="0"/>
              <a:t>Purpose: </a:t>
            </a:r>
            <a:r>
              <a:rPr lang="en-IN" dirty="0"/>
              <a:t>To destroy a table permanently.</a:t>
            </a:r>
          </a:p>
          <a:p>
            <a:pPr marL="0" indent="0">
              <a:buNone/>
            </a:pPr>
            <a:r>
              <a:rPr lang="en-IN" b="1" dirty="0"/>
              <a:t>Syntax:  </a:t>
            </a:r>
            <a:r>
              <a:rPr lang="en-IN" dirty="0"/>
              <a:t>drop table &lt;table name&gt;</a:t>
            </a:r>
          </a:p>
          <a:p>
            <a:pPr marL="0" indent="0">
              <a:buNone/>
            </a:pPr>
            <a:r>
              <a:rPr lang="en-IN" b="1" dirty="0"/>
              <a:t>Example: </a:t>
            </a:r>
            <a:r>
              <a:rPr lang="en-IN" dirty="0"/>
              <a:t>drop table Employee</a:t>
            </a:r>
          </a:p>
          <a:p>
            <a:pPr marL="0" indent="0">
              <a:buNone/>
            </a:pPr>
            <a:r>
              <a:rPr lang="en-IN" b="1" u="sng" dirty="0"/>
              <a:t>Rename table statement</a:t>
            </a:r>
          </a:p>
          <a:p>
            <a:pPr marL="0" indent="0">
              <a:buNone/>
            </a:pPr>
            <a:r>
              <a:rPr lang="en-IN" b="1" dirty="0"/>
              <a:t>Purpose: </a:t>
            </a:r>
            <a:r>
              <a:rPr lang="en-IN" dirty="0"/>
              <a:t>To rename an existing table.</a:t>
            </a:r>
          </a:p>
          <a:p>
            <a:pPr marL="0" indent="0">
              <a:buNone/>
            </a:pPr>
            <a:r>
              <a:rPr lang="en-IN" b="1" dirty="0"/>
              <a:t>Syntax: </a:t>
            </a:r>
            <a:r>
              <a:rPr lang="en-IN" dirty="0"/>
              <a:t>rename table &lt;old table name&gt; to &lt;new table name&gt;</a:t>
            </a:r>
          </a:p>
          <a:p>
            <a:pPr marL="0" indent="0">
              <a:buNone/>
            </a:pPr>
            <a:r>
              <a:rPr lang="en-IN" b="1" dirty="0"/>
              <a:t>Example: </a:t>
            </a:r>
            <a:r>
              <a:rPr lang="en-IN" dirty="0"/>
              <a:t>rename table </a:t>
            </a:r>
            <a:r>
              <a:rPr lang="en-IN" dirty="0" err="1"/>
              <a:t>Emp</a:t>
            </a:r>
            <a:r>
              <a:rPr lang="en-IN" dirty="0"/>
              <a:t> to Employee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1809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Data Types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353EAFFA-FA96-7C99-A152-BDD130AA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57" y="1142680"/>
            <a:ext cx="8859486" cy="54105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AA5EAC-799A-16F3-2564-8705D471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xmlns="" id="{BAE5F3D7-A060-974D-9315-7A84E71DB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5001"/>
            <a:ext cx="8229600" cy="32328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EC527B-1FA9-EC13-158E-EF34FE42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11063A-CC3B-70A7-BB73-0682A923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6798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485C80-E8D7-E5B5-E655-45FB32CB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625A63EE-069E-EA5A-EA76-DDDC6BD74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807886"/>
            <a:ext cx="8229600" cy="21105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028DCF-918F-C7DD-F7D1-17DFC33F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4E4AAF-23F2-8324-EFBC-DBDC65D9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00325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09800"/>
            <a:ext cx="7772400" cy="20574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  <a:latin typeface="Castellar" pitchFamily="18" charset="0"/>
              </a:rPr>
              <a:t>Manipulating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Objectives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600200"/>
            <a:ext cx="5486400" cy="3276600"/>
          </a:xfrm>
        </p:spPr>
        <p:txBody>
          <a:bodyPr>
            <a:normAutofit/>
          </a:bodyPr>
          <a:lstStyle/>
          <a:p>
            <a:pPr eaLnBrk="1" hangingPunct="1">
              <a:spcAft>
                <a:spcPts val="1200"/>
              </a:spcAft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Insert rows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into table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Update rows in a table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Delete rows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from a table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Merge rows in a table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Describe each DML statement</a:t>
            </a:r>
          </a:p>
          <a:p>
            <a:pPr eaLnBrk="1" hangingPunct="1"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Control Transactions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INSERT Statement Syntax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2971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Verdana" pitchFamily="34" charset="0"/>
                <a:ea typeface="Verdana" pitchFamily="34" charset="0"/>
              </a:rPr>
              <a:t>Add a new row to a table using the INSERT statement								</a:t>
            </a:r>
          </a:p>
          <a:p>
            <a:pPr eaLnBrk="1" hangingPunct="1">
              <a:buNone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	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SQL&gt; </a:t>
            </a:r>
            <a:r>
              <a:rPr lang="en-US" sz="2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INSERT INTO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table [(column [,column…])]	   </a:t>
            </a:r>
            <a:r>
              <a:rPr lang="en-US" sz="2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VALUES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  (value [, value…]);</a:t>
            </a:r>
          </a:p>
          <a:p>
            <a:pPr eaLnBrk="1" hangingPunct="1">
              <a:buFontTx/>
              <a:buNone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eaLnBrk="1" hangingPunct="1"/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eaLnBrk="1" hangingPunct="1"/>
            <a:r>
              <a:rPr lang="en-US" sz="2000" dirty="0">
                <a:latin typeface="Verdana" pitchFamily="34" charset="0"/>
                <a:ea typeface="Verdana" pitchFamily="34" charset="0"/>
              </a:rPr>
              <a:t>Only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one rows is inserted at a time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with this syntax.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rgbClr val="FFFF00"/>
          </a:solidFill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EXAMPLE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3200400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en-US" sz="2400" dirty="0">
                <a:latin typeface="Consolas" pitchFamily="49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</a:rPr>
              <a:t>INSERT INTO </a:t>
            </a:r>
            <a:r>
              <a:rPr lang="en-US" sz="2400" dirty="0">
                <a:latin typeface="Consolas" pitchFamily="49" charset="0"/>
              </a:rPr>
              <a:t>Deposit(</a:t>
            </a:r>
            <a:r>
              <a:rPr lang="en-US" sz="2400" dirty="0" err="1">
                <a:solidFill>
                  <a:srgbClr val="0000CC"/>
                </a:solidFill>
                <a:latin typeface="Consolas" pitchFamily="49" charset="0"/>
              </a:rPr>
              <a:t>b_name,c_name,ac_no,balance</a:t>
            </a:r>
            <a:r>
              <a:rPr lang="en-US" sz="2400" dirty="0">
                <a:latin typeface="Consolas" pitchFamily="49" charset="0"/>
              </a:rPr>
              <a:t>)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</a:rPr>
              <a:t>	VALUES</a:t>
            </a:r>
            <a:r>
              <a:rPr lang="en-US" sz="2400" dirty="0">
                <a:latin typeface="Consolas" pitchFamily="49" charset="0"/>
              </a:rPr>
              <a:t>(‘BBSR’,’AYAAN’,12345,5000);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nsolas" pitchFamily="49" charset="0"/>
              </a:rPr>
              <a:t>                        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nsolas" pitchFamily="49" charset="0"/>
              </a:rPr>
              <a:t>				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</a:rPr>
              <a:t>OR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nsolas" pitchFamily="49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sz="2400" dirty="0">
                <a:latin typeface="Consolas" pitchFamily="49" charset="0"/>
              </a:rPr>
              <a:t>     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</a:rPr>
              <a:t>INSERT INTO </a:t>
            </a:r>
            <a:r>
              <a:rPr lang="en-US" sz="2400" dirty="0">
                <a:latin typeface="Consolas" pitchFamily="49" charset="0"/>
              </a:rPr>
              <a:t>Deposit	</a:t>
            </a:r>
            <a:r>
              <a:rPr lang="en-US" sz="2400" b="1" dirty="0">
                <a:solidFill>
                  <a:srgbClr val="FF0000"/>
                </a:solidFill>
                <a:latin typeface="Consolas" pitchFamily="49" charset="0"/>
              </a:rPr>
              <a:t>VALUES</a:t>
            </a:r>
            <a:r>
              <a:rPr lang="en-US" sz="2400" dirty="0">
                <a:latin typeface="Consolas" pitchFamily="49" charset="0"/>
              </a:rPr>
              <a:t>(‘BBSR’,’AYAAN’,12345,5000);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C9700C-BECD-F243-6165-01824959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in a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4F24DD-1AC7-4987-38BC-5AF23018F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 INTO employee (</a:t>
            </a:r>
            <a:r>
              <a:rPr lang="en-US" dirty="0" err="1"/>
              <a:t>emp_id</a:t>
            </a:r>
            <a:r>
              <a:rPr lang="en-US" dirty="0"/>
              <a:t>, name, </a:t>
            </a:r>
            <a:r>
              <a:rPr lang="en-US" dirty="0" err="1"/>
              <a:t>dept_id</a:t>
            </a:r>
            <a:r>
              <a:rPr lang="en-US" dirty="0"/>
              <a:t>, salary, </a:t>
            </a:r>
            <a:r>
              <a:rPr lang="en-US" dirty="0" err="1"/>
              <a:t>joining_date</a:t>
            </a:r>
            <a:r>
              <a:rPr lang="en-US" dirty="0"/>
              <a:t>) VALUES (1, 'Alice', 101, 50000, '2025-01-15'), (2, 'Bob', 102, 45000, '2025-02-20'), (3, 'Charlie', 101, 55000, '2025-03-10');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2BEC31-97E7-9344-ADB9-B5EDD83E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5771F7-A161-E8D6-F7C7-302D8E2C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120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A0356A-8AD7-3024-3BBB-E5587E3E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E62D0A-34EB-BE47-855A-80102C72B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Step 1: Open any web browser and visit (Make sure you are connected to campus internet):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http://192.168.1.17/adminer.php</a:t>
            </a:r>
          </a:p>
          <a:p>
            <a:pPr marL="0" indent="0">
              <a:buNone/>
            </a:pPr>
            <a:r>
              <a:rPr lang="en-US" dirty="0"/>
              <a:t>Step 2: In the </a:t>
            </a:r>
            <a:r>
              <a:rPr lang="en-US" dirty="0" err="1"/>
              <a:t>Adminer</a:t>
            </a:r>
            <a:r>
              <a:rPr lang="en-US" dirty="0"/>
              <a:t> login page:</a:t>
            </a:r>
          </a:p>
          <a:p>
            <a:pPr marL="0" indent="0">
              <a:buNone/>
            </a:pPr>
            <a:r>
              <a:rPr lang="en-US" dirty="0"/>
              <a:t>System: Select PostgreSQL</a:t>
            </a:r>
          </a:p>
          <a:p>
            <a:pPr marL="0" indent="0">
              <a:buNone/>
            </a:pPr>
            <a:r>
              <a:rPr lang="en-US" dirty="0"/>
              <a:t>Username: Enter your SIC number (in all lowercase)</a:t>
            </a:r>
          </a:p>
          <a:p>
            <a:pPr marL="0" indent="0">
              <a:buNone/>
            </a:pPr>
            <a:r>
              <a:rPr lang="en-US" dirty="0"/>
              <a:t>Password: Enter your SIC number (in all lowercase)</a:t>
            </a:r>
          </a:p>
          <a:p>
            <a:pPr marL="0" indent="0">
              <a:buNone/>
            </a:pPr>
            <a:r>
              <a:rPr lang="en-US" dirty="0"/>
              <a:t>Database: </a:t>
            </a:r>
            <a:r>
              <a:rPr lang="en-US" dirty="0" err="1"/>
              <a:t>cse_db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4E9A6-A865-5CCB-0F53-E41EBB8A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BA7972-202E-0B05-C411-471F645A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1587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C56523-A5BC-0D52-35F3-AD3AA1D4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screenshot of a login screen&#10;&#10;AI-generated content may be incorrect.">
            <a:extLst>
              <a:ext uri="{FF2B5EF4-FFF2-40B4-BE49-F238E27FC236}">
                <a16:creationId xmlns:a16="http://schemas.microsoft.com/office/drawing/2014/main" xmlns="" id="{C2EE31A8-D372-23BB-9AEA-7D2B96796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1"/>
            <a:ext cx="8229600" cy="376514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492C97-51E2-2951-9291-DB601A5F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E7FABB1-E853-23B6-B06E-53171C1F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7789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B869E1-EC74-94B1-55FC-7BC5DBD7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E60EF756-7492-CA09-C65C-6D5CB6295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107" y="1600200"/>
            <a:ext cx="7599785" cy="45259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D3F01A-AAC1-EF95-070F-F4EA09CC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BE3BD0-8C60-6959-DB08-84948175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4112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DEB057-C5FD-8BB5-6BBB-5C988E14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64824BA3-8721-A549-CDB3-5D0E04DA4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54002"/>
            <a:ext cx="8229600" cy="40183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686410-7ECD-4109-3864-88E44EC5C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D1FA6-91DB-4FE5-ACC0-31604E516276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D96675-9700-1233-DB60-4F50811D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4615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AB00-55EA-40CE-9CF9-84899FA44A70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981200"/>
            <a:ext cx="6193249" cy="210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573</Words>
  <Application>Microsoft Office PowerPoint</Application>
  <PresentationFormat>On-screen Show (4:3)</PresentationFormat>
  <Paragraphs>132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Objective </vt:lpstr>
      <vt:lpstr>Database Objects</vt:lpstr>
      <vt:lpstr>Naming Rules</vt:lpstr>
      <vt:lpstr>Database Languages</vt:lpstr>
      <vt:lpstr>CREATE TABLE Statement</vt:lpstr>
      <vt:lpstr>Create Table Example</vt:lpstr>
      <vt:lpstr>ALTER TABLE Statement</vt:lpstr>
      <vt:lpstr>Slide 9</vt:lpstr>
      <vt:lpstr>DROP and Rename TABLE Statement</vt:lpstr>
      <vt:lpstr>Data Types</vt:lpstr>
      <vt:lpstr>Slide 12</vt:lpstr>
      <vt:lpstr>Slide 13</vt:lpstr>
      <vt:lpstr>Manipulating Data</vt:lpstr>
      <vt:lpstr>Objectives</vt:lpstr>
      <vt:lpstr>INSERT Statement Syntax</vt:lpstr>
      <vt:lpstr>EXAMPLE</vt:lpstr>
      <vt:lpstr>Insert in a group</vt:lpstr>
      <vt:lpstr>Slide 19</vt:lpstr>
      <vt:lpstr>Slide 20</vt:lpstr>
      <vt:lpstr>Slide 21</vt:lpstr>
      <vt:lpstr>Slide 22</vt:lpstr>
      <vt:lpstr>Slide 23</vt:lpstr>
    </vt:vector>
  </TitlesOfParts>
  <Company>SIT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and Managing Tables</dc:title>
  <dc:creator>Lab-9</dc:creator>
  <cp:lastModifiedBy>acer</cp:lastModifiedBy>
  <cp:revision>43</cp:revision>
  <dcterms:created xsi:type="dcterms:W3CDTF">2012-09-13T06:23:49Z</dcterms:created>
  <dcterms:modified xsi:type="dcterms:W3CDTF">2026-03-16T06:32:47Z</dcterms:modified>
</cp:coreProperties>
</file>