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0EF00-1899-4E67-87FD-E594F2068AB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76260-6C0B-4A7C-9F85-1309BECC5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72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0EF00-1899-4E67-87FD-E594F2068AB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76260-6C0B-4A7C-9F85-1309BECC5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43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0EF00-1899-4E67-87FD-E594F2068AB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76260-6C0B-4A7C-9F85-1309BECC5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151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0EF00-1899-4E67-87FD-E594F2068AB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76260-6C0B-4A7C-9F85-1309BECC5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904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0EF00-1899-4E67-87FD-E594F2068AB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76260-6C0B-4A7C-9F85-1309BECC5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93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0EF00-1899-4E67-87FD-E594F2068AB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76260-6C0B-4A7C-9F85-1309BECC5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583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0EF00-1899-4E67-87FD-E594F2068AB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76260-6C0B-4A7C-9F85-1309BECC5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189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0EF00-1899-4E67-87FD-E594F2068AB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76260-6C0B-4A7C-9F85-1309BECC5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00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0EF00-1899-4E67-87FD-E594F2068AB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76260-6C0B-4A7C-9F85-1309BECC5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655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0EF00-1899-4E67-87FD-E594F2068AB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76260-6C0B-4A7C-9F85-1309BECC5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883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0EF00-1899-4E67-87FD-E594F2068AB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76260-6C0B-4A7C-9F85-1309BECC5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863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0EF00-1899-4E67-87FD-E594F2068AB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76260-6C0B-4A7C-9F85-1309BECC5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>
          <a:xfrm>
            <a:off x="1930400" y="838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en-US" smtClean="0"/>
              <a:t>Example(Library Policies/ Rules)</a:t>
            </a:r>
            <a:br>
              <a:rPr lang="en-US" altLang="en-US" smtClean="0"/>
            </a:br>
            <a:endParaRPr lang="en-IN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Aft>
                <a:spcPts val="600"/>
              </a:spcAft>
            </a:pPr>
            <a:r>
              <a:rPr lang="en-US" altLang="en-US" sz="2400"/>
              <a:t>A teacher can take a book for full semester.</a:t>
            </a:r>
          </a:p>
          <a:p>
            <a:pPr algn="just">
              <a:spcAft>
                <a:spcPts val="600"/>
              </a:spcAft>
            </a:pPr>
            <a:r>
              <a:rPr lang="en-US" altLang="en-US" sz="2400"/>
              <a:t>A student can take for 2 weeks.</a:t>
            </a:r>
          </a:p>
          <a:p>
            <a:pPr algn="just">
              <a:spcAft>
                <a:spcPts val="600"/>
              </a:spcAft>
            </a:pPr>
            <a:r>
              <a:rPr lang="en-US" altLang="en-US" sz="2400"/>
              <a:t>A visitor can take for 1 week after submitting security deposit.</a:t>
            </a:r>
          </a:p>
          <a:p>
            <a:pPr algn="just">
              <a:spcAft>
                <a:spcPts val="600"/>
              </a:spcAft>
            </a:pPr>
            <a:r>
              <a:rPr lang="en-US" altLang="en-US" sz="2400"/>
              <a:t>If book is not available, then teacher/student can reserve the book.</a:t>
            </a:r>
          </a:p>
          <a:p>
            <a:pPr algn="just">
              <a:spcAft>
                <a:spcPts val="600"/>
              </a:spcAft>
            </a:pPr>
            <a:r>
              <a:rPr lang="en-US" altLang="en-US" sz="2400"/>
              <a:t>If delay in return, a student is fined Rs. 50.</a:t>
            </a:r>
          </a:p>
          <a:p>
            <a:pPr algn="just">
              <a:spcAft>
                <a:spcPts val="600"/>
              </a:spcAft>
            </a:pPr>
            <a:r>
              <a:rPr lang="en-US" altLang="en-US" sz="2400"/>
              <a:t>If delay in return, a visitor is fined Rs. 100.</a:t>
            </a:r>
          </a:p>
          <a:p>
            <a:pPr algn="just">
              <a:spcAft>
                <a:spcPts val="600"/>
              </a:spcAft>
            </a:pPr>
            <a:r>
              <a:rPr lang="en-US" altLang="en-US" sz="2400"/>
              <a:t>Visitor’s security deposit is refunded on return of book.</a:t>
            </a:r>
          </a:p>
          <a:p>
            <a:endParaRPr lang="en-US" altLang="en-US" sz="2400"/>
          </a:p>
          <a:p>
            <a:endParaRPr lang="en-IN" altLang="en-US" sz="240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AAA58CA9-F96B-4F5E-B292-AB2496D162C2}" type="slidenum">
              <a:rPr kumimoji="0"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1</a:t>
            </a:fld>
            <a:endParaRPr kumimoji="0"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590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Decision Table for Library I S</a:t>
            </a:r>
            <a:endParaRPr lang="en-IN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676400"/>
            <a:ext cx="8915400" cy="5010150"/>
          </a:xfrm>
        </p:spPr>
        <p:txBody>
          <a:bodyPr/>
          <a:lstStyle/>
          <a:p>
            <a:r>
              <a:rPr lang="en-US" altLang="en-US" sz="2400" b="1"/>
              <a:t>Library Policies/ Rules</a:t>
            </a:r>
          </a:p>
          <a:p>
            <a:pPr algn="just">
              <a:spcAft>
                <a:spcPts val="600"/>
              </a:spcAft>
            </a:pPr>
            <a:r>
              <a:rPr lang="en-US" altLang="en-US" sz="2400" b="1" u="sng">
                <a:solidFill>
                  <a:srgbClr val="FF0000"/>
                </a:solidFill>
              </a:rPr>
              <a:t>A teacher</a:t>
            </a:r>
            <a:r>
              <a:rPr lang="en-US" altLang="en-US" sz="2400"/>
              <a:t> can take a book for </a:t>
            </a:r>
            <a:r>
              <a:rPr lang="en-US" altLang="en-US" sz="2400" b="1" u="sng">
                <a:solidFill>
                  <a:srgbClr val="00B050"/>
                </a:solidFill>
              </a:rPr>
              <a:t>full semester.</a:t>
            </a:r>
          </a:p>
          <a:p>
            <a:pPr algn="just">
              <a:spcAft>
                <a:spcPts val="600"/>
              </a:spcAft>
            </a:pPr>
            <a:r>
              <a:rPr lang="en-US" altLang="en-US" sz="2400" b="1" u="sng">
                <a:solidFill>
                  <a:srgbClr val="FF0000"/>
                </a:solidFill>
              </a:rPr>
              <a:t>A student </a:t>
            </a:r>
            <a:r>
              <a:rPr lang="en-US" altLang="en-US" sz="2400"/>
              <a:t>can take for </a:t>
            </a:r>
            <a:r>
              <a:rPr lang="en-US" altLang="en-US" sz="2400" b="1" u="sng">
                <a:solidFill>
                  <a:srgbClr val="00B050"/>
                </a:solidFill>
              </a:rPr>
              <a:t>2 weeks</a:t>
            </a:r>
            <a:r>
              <a:rPr lang="en-US" altLang="en-US" sz="2400"/>
              <a:t>.</a:t>
            </a:r>
          </a:p>
          <a:p>
            <a:pPr algn="just">
              <a:spcAft>
                <a:spcPts val="600"/>
              </a:spcAft>
            </a:pPr>
            <a:r>
              <a:rPr lang="en-US" altLang="en-US" sz="2400" b="1" u="sng">
                <a:solidFill>
                  <a:srgbClr val="FF0000"/>
                </a:solidFill>
              </a:rPr>
              <a:t>A visitor </a:t>
            </a:r>
            <a:r>
              <a:rPr lang="en-US" altLang="en-US" sz="2400"/>
              <a:t>can </a:t>
            </a:r>
            <a:r>
              <a:rPr lang="en-US" altLang="en-US" sz="2400" b="1" u="sng">
                <a:solidFill>
                  <a:srgbClr val="00B050"/>
                </a:solidFill>
              </a:rPr>
              <a:t>take for 1 week after submitting security deposit</a:t>
            </a:r>
            <a:r>
              <a:rPr lang="en-US" altLang="en-US" sz="2400"/>
              <a:t>.</a:t>
            </a:r>
          </a:p>
          <a:p>
            <a:pPr algn="just">
              <a:spcAft>
                <a:spcPts val="600"/>
              </a:spcAft>
            </a:pPr>
            <a:r>
              <a:rPr lang="en-US" altLang="en-US" sz="2400" b="1" u="sng">
                <a:solidFill>
                  <a:srgbClr val="FF0000"/>
                </a:solidFill>
              </a:rPr>
              <a:t>If book is not available</a:t>
            </a:r>
            <a:r>
              <a:rPr lang="en-US" altLang="en-US" sz="2400"/>
              <a:t>, then teacher/student can </a:t>
            </a:r>
            <a:r>
              <a:rPr lang="en-US" altLang="en-US" sz="2400" b="1" u="sng">
                <a:solidFill>
                  <a:srgbClr val="00B050"/>
                </a:solidFill>
              </a:rPr>
              <a:t>reserve the book.</a:t>
            </a:r>
          </a:p>
          <a:p>
            <a:pPr algn="just">
              <a:spcAft>
                <a:spcPts val="600"/>
              </a:spcAft>
            </a:pPr>
            <a:r>
              <a:rPr lang="en-US" altLang="en-US" sz="2400" b="1">
                <a:solidFill>
                  <a:srgbClr val="FF0000"/>
                </a:solidFill>
              </a:rPr>
              <a:t>If delay </a:t>
            </a:r>
            <a:r>
              <a:rPr lang="en-US" altLang="en-US" sz="2400"/>
              <a:t>in </a:t>
            </a:r>
            <a:r>
              <a:rPr lang="en-US" altLang="en-US" sz="2400" b="1">
                <a:solidFill>
                  <a:srgbClr val="FF0000"/>
                </a:solidFill>
              </a:rPr>
              <a:t>return</a:t>
            </a:r>
            <a:r>
              <a:rPr lang="en-US" altLang="en-US" sz="2400"/>
              <a:t>, a student </a:t>
            </a:r>
            <a:r>
              <a:rPr lang="en-US" altLang="en-US" sz="2400" b="1" u="sng">
                <a:solidFill>
                  <a:srgbClr val="00B050"/>
                </a:solidFill>
              </a:rPr>
              <a:t>is fined Rs. 50</a:t>
            </a:r>
            <a:r>
              <a:rPr lang="en-US" altLang="en-US" sz="2400"/>
              <a:t>.</a:t>
            </a:r>
          </a:p>
          <a:p>
            <a:pPr algn="just">
              <a:spcAft>
                <a:spcPts val="600"/>
              </a:spcAft>
            </a:pPr>
            <a:r>
              <a:rPr lang="en-US" altLang="en-US" sz="2400"/>
              <a:t>If </a:t>
            </a:r>
            <a:r>
              <a:rPr lang="en-US" altLang="en-US" sz="2400" b="1">
                <a:solidFill>
                  <a:srgbClr val="FF0000"/>
                </a:solidFill>
              </a:rPr>
              <a:t>delay</a:t>
            </a:r>
            <a:r>
              <a:rPr lang="en-US" altLang="en-US" sz="2400"/>
              <a:t> in </a:t>
            </a:r>
            <a:r>
              <a:rPr lang="en-US" altLang="en-US" sz="2400" b="1">
                <a:solidFill>
                  <a:srgbClr val="FF0000"/>
                </a:solidFill>
              </a:rPr>
              <a:t>return</a:t>
            </a:r>
            <a:r>
              <a:rPr lang="en-US" altLang="en-US" sz="2400"/>
              <a:t>, a visitor </a:t>
            </a:r>
            <a:r>
              <a:rPr lang="en-US" altLang="en-US" sz="2400" b="1" u="sng">
                <a:solidFill>
                  <a:srgbClr val="00B050"/>
                </a:solidFill>
              </a:rPr>
              <a:t>is fined Rs. 100</a:t>
            </a:r>
            <a:r>
              <a:rPr lang="en-US" altLang="en-US" sz="2400"/>
              <a:t>.</a:t>
            </a:r>
          </a:p>
          <a:p>
            <a:pPr algn="just">
              <a:spcAft>
                <a:spcPts val="600"/>
              </a:spcAft>
            </a:pPr>
            <a:r>
              <a:rPr lang="en-US" altLang="en-US" sz="2400"/>
              <a:t>Visitor’s security </a:t>
            </a:r>
            <a:r>
              <a:rPr lang="en-US" altLang="en-US" sz="2400" b="1" u="sng">
                <a:solidFill>
                  <a:srgbClr val="00B050"/>
                </a:solidFill>
              </a:rPr>
              <a:t>deposit is refunded </a:t>
            </a:r>
            <a:r>
              <a:rPr lang="en-US" altLang="en-US" sz="2400"/>
              <a:t>on return of book.</a:t>
            </a:r>
          </a:p>
          <a:p>
            <a:endParaRPr lang="en-US" altLang="en-US" sz="2400"/>
          </a:p>
          <a:p>
            <a:endParaRPr lang="en-IN" altLang="en-US" sz="240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98DE3627-4329-485D-9A98-6645578245DC}" type="slidenum">
              <a:rPr kumimoji="0"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2</a:t>
            </a:fld>
            <a:endParaRPr kumimoji="0"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8432800" y="1671638"/>
            <a:ext cx="21590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2400" b="1">
                <a:solidFill>
                  <a:srgbClr val="FF0000"/>
                </a:solidFill>
                <a:latin typeface="Arial Narrow" panose="020B0606020202030204" pitchFamily="34" charset="0"/>
              </a:rPr>
              <a:t>Red</a:t>
            </a:r>
            <a:r>
              <a:rPr kumimoji="0" lang="en-US" altLang="en-US" sz="2400">
                <a:latin typeface="Arial Narrow" panose="020B0606020202030204" pitchFamily="34" charset="0"/>
              </a:rPr>
              <a:t>- Conditions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2400" b="1">
                <a:solidFill>
                  <a:srgbClr val="00B050"/>
                </a:solidFill>
                <a:latin typeface="Arial Narrow" panose="020B0606020202030204" pitchFamily="34" charset="0"/>
              </a:rPr>
              <a:t>Green</a:t>
            </a:r>
            <a:r>
              <a:rPr kumimoji="0" lang="en-US" altLang="en-US" sz="2400">
                <a:latin typeface="Arial Narrow" panose="020B0606020202030204" pitchFamily="34" charset="0"/>
              </a:rPr>
              <a:t>- Actions</a:t>
            </a:r>
            <a:endParaRPr kumimoji="0" lang="en-IN" altLang="en-US" sz="240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9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1" y="76200"/>
            <a:ext cx="1077913" cy="6705600"/>
          </a:xfrm>
        </p:spPr>
      </p:pic>
      <p:sp>
        <p:nvSpPr>
          <p:cNvPr id="6144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27B4D838-BCBD-497C-BAC5-5B53C98D36DC}" type="slidenum">
              <a:rPr kumimoji="0"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3</a:t>
            </a:fld>
            <a:endParaRPr kumimoji="0"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164" y="457200"/>
            <a:ext cx="655637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6214" y="3305176"/>
            <a:ext cx="522287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457201"/>
            <a:ext cx="5867400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184526"/>
            <a:ext cx="6127750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547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1F696C29-06BB-4987-AC79-1661A4821CEA}" type="slidenum">
              <a:rPr kumimoji="0"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4</a:t>
            </a:fld>
            <a:endParaRPr kumimoji="0"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828800" y="1"/>
          <a:ext cx="8077200" cy="7021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612"/>
                <a:gridCol w="574272"/>
                <a:gridCol w="435988"/>
                <a:gridCol w="734291"/>
                <a:gridCol w="734291"/>
                <a:gridCol w="734291"/>
                <a:gridCol w="734291"/>
                <a:gridCol w="734291"/>
                <a:gridCol w="734291"/>
                <a:gridCol w="734291"/>
                <a:gridCol w="734291"/>
              </a:tblGrid>
              <a:tr h="379669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conditions</a:t>
                      </a:r>
                      <a:endParaRPr lang="en-IN" sz="1400" dirty="0"/>
                    </a:p>
                  </a:txBody>
                  <a:tcPr marT="45707" marB="45707"/>
                </a:tc>
                <a:tc gridSpan="10"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T="45707" marB="45707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96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TEACHER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</a:tr>
              <a:tr h="3796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STUDENT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</a:tr>
              <a:tr h="3796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VISITOR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</a:tr>
              <a:tr h="3796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ISSUE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</a:tr>
              <a:tr h="3796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AVAILABLE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</a:tr>
              <a:tr h="3796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RETURN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</a:tr>
              <a:tr h="3796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DELAY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</a:tr>
              <a:tr h="379669">
                <a:tc>
                  <a:txBody>
                    <a:bodyPr/>
                    <a:lstStyle/>
                    <a:p>
                      <a:r>
                        <a:rPr lang="en-IN" sz="14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ACTIONS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 marT="45707" marB="45707"/>
                </a:tc>
                <a:tc gridSpan="10"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T="45707" marB="45707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96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FULL SEM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</a:tr>
              <a:tr h="3796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2 WEEKS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</a:tr>
              <a:tr h="3796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1 WEEK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</a:tr>
              <a:tr h="3796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RESERVE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</a:tr>
              <a:tr h="3796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FINE 50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</a:tr>
              <a:tr h="3796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FINE 100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</a:tr>
              <a:tr h="4675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DEPOSIT SECURITY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</a:tr>
              <a:tr h="4675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REFUND SECURITY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/>
                </a:tc>
              </a:tr>
              <a:tr h="391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RETURN BOOK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Arial Black" panose="020B0A04020102020204" pitchFamily="34" charset="0"/>
                          <a:ea typeface="Aptos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815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User Authentication System</a:t>
            </a:r>
            <a:endParaRPr lang="en-IN" altLang="en-US" smtClean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981200" y="1885950"/>
          <a:ext cx="81788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760"/>
                <a:gridCol w="1635760"/>
                <a:gridCol w="1635760"/>
                <a:gridCol w="1635760"/>
                <a:gridCol w="16357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CONDITIONS</a:t>
                      </a:r>
                      <a:endParaRPr lang="en-IN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Username Valid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y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Y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N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N</a:t>
                      </a:r>
                      <a:endParaRPr lang="en-IN" sz="2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Password Correct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y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N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Y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N</a:t>
                      </a:r>
                      <a:endParaRPr lang="en-IN" sz="2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ACTIONS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Grant Access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T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Error </a:t>
                      </a:r>
                      <a:r>
                        <a:rPr lang="en-US" b="1" dirty="0" err="1" smtClean="0"/>
                        <a:t>Msg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T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T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T</a:t>
                      </a:r>
                      <a:endParaRPr lang="en-IN" sz="2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Lock account after 3 attempts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T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T</a:t>
                      </a:r>
                      <a:endParaRPr lang="en-IN" sz="24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353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54A2D916-51C1-4666-A652-AC4681AEE587}" type="slidenum">
              <a:rPr kumimoji="0"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5</a:t>
            </a:fld>
            <a:endParaRPr kumimoji="0"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389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E-Commerce Discount Engine</a:t>
            </a:r>
            <a:endParaRPr lang="en-IN" altLang="en-US" smtClean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981200" y="1885951"/>
          <a:ext cx="8178800" cy="2493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760"/>
                <a:gridCol w="1635760"/>
                <a:gridCol w="1635760"/>
                <a:gridCol w="1635760"/>
                <a:gridCol w="1635760"/>
              </a:tblGrid>
              <a:tr h="3707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CONDITIONS</a:t>
                      </a:r>
                      <a:endParaRPr lang="en-IN" sz="1800" b="1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IN" sz="1800" b="1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IN" sz="1800" b="1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IN" sz="1800" b="1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IN" sz="1800" b="1"/>
                    </a:p>
                  </a:txBody>
                  <a:tcPr marT="45713" marB="45713"/>
                </a:tc>
              </a:tr>
              <a:tr h="64006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Loyalty Member</a:t>
                      </a:r>
                      <a:endParaRPr lang="en-IN" sz="1800" b="1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Y</a:t>
                      </a:r>
                      <a:endParaRPr lang="en-IN" sz="1800" b="1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Y</a:t>
                      </a:r>
                      <a:endParaRPr lang="en-IN" sz="1800" b="1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N</a:t>
                      </a:r>
                      <a:endParaRPr lang="en-IN" sz="1800" b="1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N</a:t>
                      </a:r>
                      <a:endParaRPr lang="en-IN" sz="1800" b="1" dirty="0"/>
                    </a:p>
                  </a:txBody>
                  <a:tcPr marT="45713" marB="45713"/>
                </a:tc>
              </a:tr>
              <a:tr h="3707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Order &gt; 1000</a:t>
                      </a:r>
                      <a:endParaRPr lang="en-IN" sz="1800" b="1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Y</a:t>
                      </a:r>
                      <a:endParaRPr lang="en-IN" sz="1800" b="1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N</a:t>
                      </a:r>
                      <a:endParaRPr lang="en-IN" sz="1800" b="1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Y</a:t>
                      </a:r>
                      <a:endParaRPr lang="en-IN" sz="1800" b="1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N</a:t>
                      </a:r>
                      <a:endParaRPr lang="en-IN" sz="1800" b="1" dirty="0"/>
                    </a:p>
                  </a:txBody>
                  <a:tcPr marT="45713" marB="45713"/>
                </a:tc>
              </a:tr>
              <a:tr h="3707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ACTIONS</a:t>
                      </a:r>
                      <a:endParaRPr lang="en-IN" sz="1800" b="1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IN" sz="1800" b="1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IN" sz="1800" b="1"/>
                    </a:p>
                  </a:txBody>
                  <a:tcPr marT="45713" marB="45713"/>
                </a:tc>
              </a:tr>
              <a:tr h="3707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15% Disc</a:t>
                      </a:r>
                      <a:endParaRPr lang="en-IN" sz="1800" b="1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T</a:t>
                      </a:r>
                      <a:endParaRPr lang="en-IN" sz="1800" b="1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-</a:t>
                      </a:r>
                      <a:endParaRPr lang="en-IN" sz="1800" b="1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-</a:t>
                      </a:r>
                      <a:endParaRPr lang="en-IN" sz="1800" b="1" dirty="0"/>
                    </a:p>
                  </a:txBody>
                  <a:tcPr marT="45713" marB="45713"/>
                </a:tc>
              </a:tr>
              <a:tr h="3707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10% Disc</a:t>
                      </a:r>
                      <a:endParaRPr lang="en-IN" sz="1800" b="1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IN" sz="1800" b="1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T</a:t>
                      </a:r>
                      <a:endParaRPr lang="en-IN" sz="1800" b="1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-</a:t>
                      </a:r>
                      <a:endParaRPr lang="en-IN" sz="1800" b="1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-</a:t>
                      </a:r>
                      <a:endParaRPr lang="en-IN" sz="1800" b="1" dirty="0"/>
                    </a:p>
                  </a:txBody>
                  <a:tcPr marT="45713" marB="45713"/>
                </a:tc>
              </a:tr>
            </a:tbl>
          </a:graphicData>
        </a:graphic>
      </p:graphicFrame>
      <p:sp>
        <p:nvSpPr>
          <p:cNvPr id="6455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B7C14C16-85B1-4671-9460-047AC3FDBCFD}" type="slidenum">
              <a:rPr kumimoji="0"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6</a:t>
            </a:fld>
            <a:endParaRPr kumimoji="0"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311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>
          <a:xfrm>
            <a:off x="1930400" y="2286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altLang="en-US" smtClean="0"/>
              <a:t>LMS</a:t>
            </a:r>
            <a:endParaRPr lang="en-IN" altLang="en-US" smtClean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600200" y="712789"/>
          <a:ext cx="9067800" cy="6943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2600">
                  <a:extLst>
                    <a:ext uri="{9D8B030D-6E8A-4147-A177-3AD203B41FA5}"/>
                  </a:extLst>
                </a:gridCol>
                <a:gridCol w="3022600">
                  <a:extLst>
                    <a:ext uri="{9D8B030D-6E8A-4147-A177-3AD203B41FA5}"/>
                  </a:extLst>
                </a:gridCol>
                <a:gridCol w="3022600">
                  <a:extLst>
                    <a:ext uri="{9D8B030D-6E8A-4147-A177-3AD203B41FA5}"/>
                  </a:extLst>
                </a:gridCol>
              </a:tblGrid>
              <a:tr h="6943725"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buFont typeface="Monotype Sorts" pitchFamily="2" charset="2"/>
                        <a:buNone/>
                      </a:pPr>
                      <a:r>
                        <a:rPr lang="en-GB" altLang="en-US" sz="2000" dirty="0" smtClean="0"/>
                        <a:t>When the </a:t>
                      </a:r>
                      <a:r>
                        <a:rPr lang="en-GB" altLang="en-US" sz="2000" u="sng" dirty="0" smtClean="0">
                          <a:solidFill>
                            <a:srgbClr val="000099"/>
                          </a:solidFill>
                        </a:rPr>
                        <a:t>new member</a:t>
                      </a:r>
                      <a:r>
                        <a:rPr lang="en-GB" altLang="en-US" sz="2000" dirty="0" smtClean="0"/>
                        <a:t> option is selected, the software asks details about the member: </a:t>
                      </a:r>
                    </a:p>
                    <a:p>
                      <a:pPr lvl="2">
                        <a:spcBef>
                          <a:spcPts val="625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 dirty="0" smtClean="0"/>
                        <a:t>name, </a:t>
                      </a:r>
                    </a:p>
                    <a:p>
                      <a:pPr lvl="2">
                        <a:spcBef>
                          <a:spcPts val="625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 dirty="0" smtClean="0"/>
                        <a:t>address, </a:t>
                      </a:r>
                    </a:p>
                    <a:p>
                      <a:pPr lvl="2">
                        <a:spcBef>
                          <a:spcPts val="625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 dirty="0" smtClean="0"/>
                        <a:t>phone number, etc.</a:t>
                      </a:r>
                    </a:p>
                    <a:p>
                      <a:pPr>
                        <a:spcBef>
                          <a:spcPts val="800"/>
                        </a:spcBef>
                        <a:buFont typeface="Monotype Sorts" pitchFamily="2" charset="2"/>
                        <a:buNone/>
                      </a:pPr>
                      <a:r>
                        <a:rPr lang="en-GB" altLang="en-US" sz="2000" dirty="0" smtClean="0"/>
                        <a:t>If proper information is entered, </a:t>
                      </a:r>
                    </a:p>
                    <a:p>
                      <a:pPr lvl="1">
                        <a:spcBef>
                          <a:spcPts val="725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 dirty="0" smtClean="0"/>
                        <a:t>a membership record for the member is created</a:t>
                      </a:r>
                    </a:p>
                    <a:p>
                      <a:pPr lvl="1">
                        <a:spcBef>
                          <a:spcPts val="725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 dirty="0" smtClean="0"/>
                        <a:t>a bill is printed for the annual membership charge plus the security deposit payable. </a:t>
                      </a:r>
                    </a:p>
                    <a:p>
                      <a:endParaRPr lang="en-IN" sz="2000" dirty="0"/>
                    </a:p>
                  </a:txBody>
                  <a:tcPr marT="45644" marB="45644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0"/>
                        </a:spcBef>
                        <a:buFont typeface="Monotype Sorts" pitchFamily="2" charset="2"/>
                        <a:buNone/>
                      </a:pPr>
                      <a:r>
                        <a:rPr lang="en-GB" altLang="en-US" sz="2000" b="1" dirty="0" smtClean="0"/>
                        <a:t>If the </a:t>
                      </a:r>
                      <a:r>
                        <a:rPr lang="en-GB" altLang="en-US" sz="2000" b="1" u="sng" dirty="0" smtClean="0">
                          <a:solidFill>
                            <a:srgbClr val="000099"/>
                          </a:solidFill>
                        </a:rPr>
                        <a:t>renewal</a:t>
                      </a:r>
                      <a:r>
                        <a:rPr lang="en-GB" altLang="en-US" sz="2000" b="1" dirty="0" smtClean="0"/>
                        <a:t> option is chosen, </a:t>
                      </a:r>
                    </a:p>
                    <a:p>
                      <a:pPr lvl="1">
                        <a:spcBef>
                          <a:spcPts val="725"/>
                        </a:spcBef>
                        <a:buFont typeface="Monotype Sorts" pitchFamily="2" charset="2"/>
                        <a:buNone/>
                      </a:pPr>
                      <a:r>
                        <a:rPr lang="en-GB" altLang="en-US" sz="2000" b="1" dirty="0" smtClean="0"/>
                        <a:t>- LMS asks the member's name and his membership number</a:t>
                      </a:r>
                    </a:p>
                    <a:p>
                      <a:pPr lvl="2">
                        <a:spcBef>
                          <a:spcPts val="625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 b="1" dirty="0" smtClean="0"/>
                        <a:t>checks whether  he is a valid member.</a:t>
                      </a:r>
                    </a:p>
                    <a:p>
                      <a:pPr lvl="1">
                        <a:spcBef>
                          <a:spcPts val="725"/>
                        </a:spcBef>
                        <a:buFont typeface="Monotype Sorts" pitchFamily="2" charset="2"/>
                        <a:buNone/>
                      </a:pPr>
                      <a:r>
                        <a:rPr lang="en-GB" altLang="en-US" sz="2000" b="1" dirty="0" smtClean="0"/>
                        <a:t>- If the name represents a valid member, </a:t>
                      </a:r>
                    </a:p>
                    <a:p>
                      <a:pPr lvl="2">
                        <a:spcBef>
                          <a:spcPts val="625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 b="1" dirty="0" smtClean="0"/>
                        <a:t>the membership expiry date  is updated and the</a:t>
                      </a:r>
                    </a:p>
                    <a:p>
                      <a:pPr lvl="2">
                        <a:spcBef>
                          <a:spcPts val="625"/>
                        </a:spcBef>
                        <a:buFont typeface="Monotype Sorts" pitchFamily="2" charset="2"/>
                        <a:buNone/>
                      </a:pPr>
                      <a:r>
                        <a:rPr lang="en-GB" altLang="en-US" sz="2000" b="1" dirty="0" smtClean="0"/>
                        <a:t>annual membership bill is printed, </a:t>
                      </a:r>
                    </a:p>
                    <a:p>
                      <a:pPr lvl="2">
                        <a:spcBef>
                          <a:spcPts val="625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 b="1" dirty="0" smtClean="0"/>
                        <a:t>an error message is displayed.</a:t>
                      </a:r>
                    </a:p>
                    <a:p>
                      <a:endParaRPr lang="en-IN" sz="1800" dirty="0"/>
                    </a:p>
                  </a:txBody>
                  <a:tcPr marT="45644" marB="45644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800"/>
                        </a:spcBef>
                        <a:buFont typeface="Monotype Sorts" pitchFamily="2" charset="2"/>
                        <a:buNone/>
                      </a:pPr>
                      <a:r>
                        <a:rPr lang="en-GB" altLang="en-US" sz="2000" dirty="0" smtClean="0"/>
                        <a:t>If the </a:t>
                      </a:r>
                      <a:r>
                        <a:rPr lang="en-GB" altLang="en-US" sz="2000" u="sng" dirty="0" smtClean="0">
                          <a:solidFill>
                            <a:srgbClr val="000099"/>
                          </a:solidFill>
                        </a:rPr>
                        <a:t>cancel membership</a:t>
                      </a:r>
                      <a:r>
                        <a:rPr lang="en-GB" altLang="en-US" sz="2000" dirty="0" smtClean="0"/>
                        <a:t> option is selected and the</a:t>
                      </a:r>
                    </a:p>
                    <a:p>
                      <a:pPr>
                        <a:lnSpc>
                          <a:spcPct val="90000"/>
                        </a:lnSpc>
                        <a:spcBef>
                          <a:spcPts val="800"/>
                        </a:spcBef>
                        <a:buFont typeface="Monotype Sorts" pitchFamily="2" charset="2"/>
                        <a:buNone/>
                      </a:pPr>
                      <a:r>
                        <a:rPr lang="en-GB" altLang="en-US" sz="2000" dirty="0" smtClean="0"/>
                        <a:t>name of a valid member is entered, </a:t>
                      </a:r>
                    </a:p>
                    <a:p>
                      <a:pPr lvl="1">
                        <a:lnSpc>
                          <a:spcPct val="90000"/>
                        </a:lnSpc>
                        <a:spcBef>
                          <a:spcPts val="725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 dirty="0" smtClean="0"/>
                        <a:t>the membership is cancelled, </a:t>
                      </a:r>
                    </a:p>
                    <a:p>
                      <a:pPr lvl="1">
                        <a:lnSpc>
                          <a:spcPct val="90000"/>
                        </a:lnSpc>
                        <a:spcBef>
                          <a:spcPts val="725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 dirty="0" smtClean="0"/>
                        <a:t>a cheque for the balance amount due to the member is printed </a:t>
                      </a:r>
                    </a:p>
                    <a:p>
                      <a:pPr lvl="1">
                        <a:lnSpc>
                          <a:spcPct val="90000"/>
                        </a:lnSpc>
                        <a:spcBef>
                          <a:spcPts val="725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 dirty="0" smtClean="0"/>
                        <a:t>the membership record is deleted.</a:t>
                      </a:r>
                    </a:p>
                    <a:p>
                      <a:endParaRPr lang="en-IN" sz="2000" dirty="0"/>
                    </a:p>
                  </a:txBody>
                  <a:tcPr marT="45644" marB="45644"/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7374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D5F5F2F5-4AD5-4554-9CC5-9534FD9FFFBF}" type="slidenum">
              <a:rPr kumimoji="0"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7</a:t>
            </a:fld>
            <a:endParaRPr kumimoji="0"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138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469F4BC0-FEC1-42E5-B3B5-6BA30B47E740}" type="slidenum">
              <a:rPr kumimoji="0"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8</a:t>
            </a:fld>
            <a:endParaRPr kumimoji="0"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1" y="152400"/>
            <a:ext cx="3057525" cy="670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213" y="166688"/>
            <a:ext cx="495300" cy="669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389" y="166688"/>
            <a:ext cx="890587" cy="669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438" y="166688"/>
            <a:ext cx="671512" cy="669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6414" y="166688"/>
            <a:ext cx="1004887" cy="669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755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</Words>
  <Application>Microsoft Office PowerPoint</Application>
  <PresentationFormat>Widescreen</PresentationFormat>
  <Paragraphs>268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Arial</vt:lpstr>
      <vt:lpstr>Arial Black</vt:lpstr>
      <vt:lpstr>Arial Narrow</vt:lpstr>
      <vt:lpstr>Calibri</vt:lpstr>
      <vt:lpstr>Calibri Light</vt:lpstr>
      <vt:lpstr>Monotype Sorts</vt:lpstr>
      <vt:lpstr>Times New Roman</vt:lpstr>
      <vt:lpstr>Office Theme</vt:lpstr>
      <vt:lpstr>Example(Library Policies/ Rules) </vt:lpstr>
      <vt:lpstr>Decision Table for Library I S</vt:lpstr>
      <vt:lpstr>PowerPoint Presentation</vt:lpstr>
      <vt:lpstr>PowerPoint Presentation</vt:lpstr>
      <vt:lpstr>User Authentication System</vt:lpstr>
      <vt:lpstr>E-Commerce Discount Engine</vt:lpstr>
      <vt:lpstr>LMS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Example(Library Policies/ Rules) </dc:title>
  <dc:creator>silicon</dc:creator>
  <cp:lastModifiedBy>silicon</cp:lastModifiedBy>
  <cp:revision>1</cp:revision>
  <dcterms:created xsi:type="dcterms:W3CDTF">2026-09-17T02:56:34Z</dcterms:created>
  <dcterms:modified xsi:type="dcterms:W3CDTF">2026-09-17T02:56:44Z</dcterms:modified>
</cp:coreProperties>
</file>