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5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C0A4C-BA58-4AFD-B6D7-13B34A250322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53BA4-0240-4F93-9398-BB3F734164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26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253BA4-0240-4F93-9398-BB3F734164C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25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20961-ED4D-4DD9-ACF2-765FC3753B4D}" type="datetime1">
              <a:rPr lang="en-US" smtClean="0"/>
              <a:t>11/18/2025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8403B-A7B5-440E-8487-FF119CB4CD2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B3399-3239-4B40-AA14-C34EC8E5CB59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1D204-7C94-472D-83EC-F7315E21D05D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1F6F-8E73-43FC-BCDC-020781F9B413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85229-5506-4D72-97C9-37FEF9D69425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47759-DB85-4176-8DFF-D2C604E3AB57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3A01E-94DD-41EC-801A-505C4F802173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04E84-13E0-4974-BDFA-93E4182A57D3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C3D72-9AA1-4077-829C-FF33AD44F7A5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AE432-9196-4B45-A879-D8D5017BF5A7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EFD1E27-716C-4853-8626-92489011E4FE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Cloning objects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04800" y="6096000"/>
            <a:ext cx="2057400" cy="3810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0" indent="0" algn="ctr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2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None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70"/>
              </a:spcBef>
              <a:buClr>
                <a:schemeClr val="accent3"/>
              </a:buClr>
              <a:buNone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70"/>
              </a:spcBef>
              <a:buClr>
                <a:schemeClr val="accent2"/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Prepared by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5562600" y="6019800"/>
            <a:ext cx="327660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Courier New" pitchFamily="49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/>
              <a:t>Rajesh Kumar </a:t>
            </a:r>
            <a:r>
              <a:rPr lang="en-US" sz="1800" dirty="0" err="1"/>
              <a:t>Ojha</a:t>
            </a:r>
            <a:endParaRPr lang="en-US" sz="1800" dirty="0"/>
          </a:p>
          <a:p>
            <a:pPr algn="l"/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537667-6809-8CDA-C19F-8D8D73530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3519951"/>
            <a:ext cx="3124200" cy="163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8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Copying objects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62626"/>
                </a:solidFill>
              </a:rPr>
              <a:t>In other languages (common in C++), to enable clients to easily make copies of an object, you can supply a </a:t>
            </a:r>
            <a:r>
              <a:rPr lang="en-US" altLang="en-US" i="1">
                <a:solidFill>
                  <a:srgbClr val="262626"/>
                </a:solidFill>
              </a:rPr>
              <a:t>copy constructor</a:t>
            </a:r>
            <a:r>
              <a:rPr lang="en-US" altLang="en-US">
                <a:solidFill>
                  <a:srgbClr val="262626"/>
                </a:solidFill>
              </a:rPr>
              <a:t> :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6600"/>
                </a:solidFill>
                <a:latin typeface="Courier New" panose="02070309020205020404" pitchFamily="49" charset="0"/>
              </a:rPr>
              <a:t>// in client code</a:t>
            </a:r>
            <a:endParaRPr lang="en-US" altLang="en-US" sz="2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404040"/>
                </a:solidFill>
                <a:latin typeface="Courier New" panose="02070309020205020404" pitchFamily="49" charset="0"/>
              </a:rPr>
              <a:t>Point p1 = new Point(-3, 5);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404040"/>
                </a:solidFill>
                <a:latin typeface="Courier New" panose="02070309020205020404" pitchFamily="49" charset="0"/>
              </a:rPr>
              <a:t>Point p2 = </a:t>
            </a:r>
            <a:r>
              <a:rPr lang="en-US" altLang="en-US" sz="2000" b="1">
                <a:solidFill>
                  <a:srgbClr val="404040"/>
                </a:solidFill>
                <a:latin typeface="Courier New" panose="02070309020205020404" pitchFamily="49" charset="0"/>
              </a:rPr>
              <a:t>new Point(p1)</a:t>
            </a:r>
            <a:r>
              <a:rPr lang="en-US" altLang="en-US" sz="2000">
                <a:solidFill>
                  <a:srgbClr val="404040"/>
                </a:solidFill>
                <a:latin typeface="Courier New" panose="02070309020205020404" pitchFamily="49" charset="0"/>
              </a:rPr>
              <a:t>;     </a:t>
            </a:r>
            <a:r>
              <a:rPr lang="en-US" altLang="en-US" sz="2000">
                <a:solidFill>
                  <a:srgbClr val="006600"/>
                </a:solidFill>
                <a:latin typeface="Courier New" panose="02070309020205020404" pitchFamily="49" charset="0"/>
              </a:rPr>
              <a:t>// make p2 a copy of p1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6600"/>
                </a:solidFill>
                <a:latin typeface="Courier New" panose="02070309020205020404" pitchFamily="49" charset="0"/>
              </a:rPr>
              <a:t>// in Point.java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000" b="1">
                <a:solidFill>
                  <a:srgbClr val="404040"/>
                </a:solidFill>
                <a:latin typeface="Courier New" panose="02070309020205020404" pitchFamily="49" charset="0"/>
              </a:rPr>
              <a:t>public Point(Point blueprint)</a:t>
            </a:r>
            <a:r>
              <a:rPr lang="en-US" altLang="en-US" sz="2000">
                <a:solidFill>
                  <a:srgbClr val="404040"/>
                </a:solidFill>
                <a:latin typeface="Courier New" panose="02070309020205020404" pitchFamily="49" charset="0"/>
              </a:rPr>
              <a:t> {   </a:t>
            </a:r>
            <a:r>
              <a:rPr lang="en-US" altLang="en-US" sz="2000">
                <a:solidFill>
                  <a:srgbClr val="006600"/>
                </a:solidFill>
                <a:latin typeface="Courier New" panose="02070309020205020404" pitchFamily="49" charset="0"/>
              </a:rPr>
              <a:t>// copy constructor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404040"/>
                </a:solidFill>
                <a:latin typeface="Courier New" panose="02070309020205020404" pitchFamily="49" charset="0"/>
              </a:rPr>
              <a:t>    this.x = blueprint.x;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404040"/>
                </a:solidFill>
                <a:latin typeface="Courier New" panose="02070309020205020404" pitchFamily="49" charset="0"/>
              </a:rPr>
              <a:t>    this.y = blueprint.y;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404040"/>
                </a:solidFill>
                <a:latin typeface="Courier New" panose="02070309020205020404" pitchFamily="49" charset="0"/>
              </a:rPr>
              <a:t>}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0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Java has some copy constructors but also has a different way...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000">
              <a:solidFill>
                <a:srgbClr val="404040"/>
              </a:solidFill>
              <a:latin typeface="Courier New" panose="02070309020205020404" pitchFamily="49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68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 clone method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>
                <a:solidFill>
                  <a:srgbClr val="262626"/>
                </a:solidFill>
              </a:rPr>
              <a:t>	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protected Object </a:t>
            </a:r>
            <a:r>
              <a:rPr lang="en-US" altLang="en-US" sz="2000" b="1">
                <a:solidFill>
                  <a:srgbClr val="262626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()</a:t>
            </a:r>
            <a:b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</a:b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        throws CloneNotSupportedException</a:t>
            </a:r>
          </a:p>
          <a:p>
            <a:pPr lvl="1">
              <a:buFont typeface="Arial" panose="020B0604020202020204" pitchFamily="34" charset="0"/>
              <a:buChar char="–"/>
            </a:pPr>
            <a:endParaRPr lang="en-US" altLang="en-US" sz="1200">
              <a:solidFill>
                <a:srgbClr val="404040"/>
              </a:solidFill>
            </a:endParaRP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Creates and returns a copy of this object.  General intent: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>
                <a:latin typeface="Courier New" panose="02070309020205020404" pitchFamily="49" charset="0"/>
              </a:rPr>
              <a:t> x.clone() != x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>
                <a:latin typeface="Courier New" panose="02070309020205020404" pitchFamily="49" charset="0"/>
              </a:rPr>
              <a:t> x.clone().equals(x)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>
                <a:latin typeface="Courier New" panose="02070309020205020404" pitchFamily="49" charset="0"/>
              </a:rPr>
              <a:t> x.clone().getClass() == x.getClass()</a:t>
            </a:r>
          </a:p>
          <a:p>
            <a:pPr lvl="3">
              <a:buFont typeface="Arial" panose="020B0604020202020204" pitchFamily="34" charset="0"/>
              <a:buChar char="–"/>
            </a:pPr>
            <a:r>
              <a:rPr lang="en-US" altLang="en-US"/>
              <a:t>(though none of the above are absolute requirements)</a:t>
            </a:r>
          </a:p>
          <a:p>
            <a:pPr lvl="1">
              <a:buFont typeface="Arial" panose="020B0604020202020204" pitchFamily="34" charset="0"/>
              <a:buChar char="–"/>
            </a:pPr>
            <a:endParaRPr lang="en-US" altLang="en-US">
              <a:solidFill>
                <a:srgbClr val="404040"/>
              </a:solidFill>
            </a:endParaRP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The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Object</a:t>
            </a:r>
            <a:r>
              <a:rPr lang="en-US" altLang="en-US">
                <a:solidFill>
                  <a:srgbClr val="404040"/>
                </a:solidFill>
              </a:rPr>
              <a:t> class's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>
                <a:solidFill>
                  <a:srgbClr val="404040"/>
                </a:solidFill>
              </a:rPr>
              <a:t> method makes a "shallow copy" of the object, but by convention, the object returned by this method should be </a:t>
            </a:r>
            <a:r>
              <a:rPr lang="en-US" altLang="en-US" b="1">
                <a:solidFill>
                  <a:srgbClr val="404040"/>
                </a:solidFill>
              </a:rPr>
              <a:t>independent</a:t>
            </a:r>
            <a:r>
              <a:rPr lang="en-US" altLang="en-US">
                <a:solidFill>
                  <a:srgbClr val="404040"/>
                </a:solidFill>
              </a:rPr>
              <a:t> of this object (which is being cloned).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2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Protected access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>
                <a:solidFill>
                  <a:srgbClr val="262626"/>
                </a:solidFill>
              </a:rPr>
              <a:t>	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protected Object </a:t>
            </a:r>
            <a:r>
              <a:rPr lang="en-US" altLang="en-US" sz="2000" b="1">
                <a:solidFill>
                  <a:srgbClr val="262626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()</a:t>
            </a:r>
            <a:b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</a:b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        throws CloneNotSupportedException</a:t>
            </a:r>
          </a:p>
          <a:p>
            <a:pPr lvl="1">
              <a:buFont typeface="Arial" panose="020B0604020202020204" pitchFamily="34" charset="0"/>
              <a:buChar char="–"/>
            </a:pPr>
            <a:endParaRPr lang="en-US" altLang="en-US" sz="1200">
              <a:solidFill>
                <a:srgbClr val="40404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262626"/>
                </a:solidFill>
              </a:rPr>
              <a:t>protected</a:t>
            </a:r>
            <a:r>
              <a:rPr lang="en-US" altLang="en-US">
                <a:solidFill>
                  <a:srgbClr val="262626"/>
                </a:solidFill>
              </a:rPr>
              <a:t>: Visible only to the class itself, its subclasses, and any other classes in the same package.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In other words, for most classes you are not allowed to call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>
                <a:solidFill>
                  <a:srgbClr val="404040"/>
                </a:solidFill>
              </a:rPr>
              <a:t> .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If you want to enable cloning, you must override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>
                <a:solidFill>
                  <a:srgbClr val="404040"/>
                </a:solidFill>
              </a:rPr>
              <a:t> 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/>
              <a:t>You should make it </a:t>
            </a:r>
            <a:r>
              <a:rPr lang="en-US" altLang="en-US">
                <a:latin typeface="Courier New" panose="02070309020205020404" pitchFamily="49" charset="0"/>
              </a:rPr>
              <a:t>public</a:t>
            </a:r>
            <a:r>
              <a:rPr lang="en-US" altLang="en-US"/>
              <a:t> so clients can call it.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/>
              <a:t>You can also change the return type to your class's type.  (good)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/>
              <a:t>You can also not throw the exception.  (good)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altLang="en-US" sz="800"/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You must also make your class implement the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Cloneable</a:t>
            </a:r>
            <a:r>
              <a:rPr lang="en-US" altLang="en-US">
                <a:solidFill>
                  <a:srgbClr val="404040"/>
                </a:solidFill>
              </a:rPr>
              <a:t> interface to signify that it is allowed to be cloned.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4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Cloneable interface</a:t>
            </a:r>
          </a:p>
        </p:txBody>
      </p:sp>
      <p:sp>
        <p:nvSpPr>
          <p:cNvPr id="5416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>
                <a:solidFill>
                  <a:srgbClr val="262626"/>
                </a:solidFill>
              </a:rPr>
              <a:t>	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public interface </a:t>
            </a:r>
            <a:r>
              <a:rPr lang="en-US" altLang="en-US" sz="2000" b="1">
                <a:solidFill>
                  <a:srgbClr val="262626"/>
                </a:solidFill>
                <a:latin typeface="Courier New" panose="02070309020205020404" pitchFamily="49" charset="0"/>
              </a:rPr>
              <a:t>Cloneable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 {}</a:t>
            </a:r>
          </a:p>
          <a:p>
            <a:pPr lvl="1">
              <a:buFont typeface="Arial" panose="020B0604020202020204" pitchFamily="34" charset="0"/>
              <a:buChar char="–"/>
            </a:pPr>
            <a:endParaRPr lang="en-US" altLang="en-US" sz="1200">
              <a:solidFill>
                <a:srgbClr val="40404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62626"/>
                </a:solidFill>
              </a:rPr>
              <a:t>Why would there ever be an interface with no methods?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Another example: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Set</a:t>
            </a:r>
            <a:r>
              <a:rPr lang="en-US" altLang="en-US">
                <a:solidFill>
                  <a:srgbClr val="404040"/>
                </a:solidFill>
              </a:rPr>
              <a:t> interface, a sub-interface of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Collection</a:t>
            </a:r>
          </a:p>
          <a:p>
            <a:pPr lvl="1">
              <a:buFont typeface="Arial" panose="020B0604020202020204" pitchFamily="34" charset="0"/>
              <a:buChar char="–"/>
            </a:pPr>
            <a:endParaRPr lang="en-US" altLang="en-US">
              <a:solidFill>
                <a:srgbClr val="40404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>
                <a:solidFill>
                  <a:srgbClr val="262626"/>
                </a:solidFill>
              </a:rPr>
              <a:t>tagging interface</a:t>
            </a:r>
            <a:r>
              <a:rPr lang="en-US" altLang="en-US">
                <a:solidFill>
                  <a:srgbClr val="262626"/>
                </a:solidFill>
              </a:rPr>
              <a:t>: One that does not contain/add any methods, but is meant to mark a class as having a certain quality or ability.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Generally a wart in the Java language;  a misuse of interfaces.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Now largely unnecessary thanks to </a:t>
            </a:r>
            <a:r>
              <a:rPr lang="en-US" altLang="en-US" i="1">
                <a:solidFill>
                  <a:srgbClr val="404040"/>
                </a:solidFill>
              </a:rPr>
              <a:t>annotations</a:t>
            </a:r>
            <a:r>
              <a:rPr lang="en-US" altLang="en-US">
                <a:solidFill>
                  <a:srgbClr val="404040"/>
                </a:solidFill>
              </a:rPr>
              <a:t>  (seen later).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But we still must interact with a few tagging interfaces, like this one.</a:t>
            </a:r>
          </a:p>
          <a:p>
            <a:pPr lvl="1">
              <a:buFont typeface="Arial" panose="020B0604020202020204" pitchFamily="34" charset="0"/>
              <a:buChar char="–"/>
            </a:pPr>
            <a:endParaRPr lang="en-US" altLang="en-US">
              <a:solidFill>
                <a:srgbClr val="40404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62626"/>
                </a:solidFill>
              </a:rPr>
              <a:t>Let's implement clone for a </a:t>
            </a:r>
            <a:r>
              <a:rPr lang="en-US" altLang="en-US">
                <a:solidFill>
                  <a:srgbClr val="262626"/>
                </a:solidFill>
                <a:latin typeface="Courier New" panose="02070309020205020404" pitchFamily="49" charset="0"/>
              </a:rPr>
              <a:t>Point</a:t>
            </a:r>
            <a:r>
              <a:rPr lang="en-US" altLang="en-US">
                <a:solidFill>
                  <a:srgbClr val="262626"/>
                </a:solidFill>
              </a:rPr>
              <a:t> class...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2009204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1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41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41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41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41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Flawed clone method 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>
                <a:solidFill>
                  <a:srgbClr val="262626"/>
                </a:solidFill>
              </a:rPr>
              <a:t>	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public class Point </a:t>
            </a:r>
            <a:r>
              <a:rPr lang="en-US" altLang="en-US" sz="2000" b="1">
                <a:solidFill>
                  <a:srgbClr val="262626"/>
                </a:solidFill>
                <a:latin typeface="Courier New" panose="02070309020205020404" pitchFamily="49" charset="0"/>
              </a:rPr>
              <a:t>implements Cloneable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private int x, y;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...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public Point </a:t>
            </a:r>
            <a:r>
              <a:rPr lang="en-US" altLang="en-US" sz="2000" b="1">
                <a:solidFill>
                  <a:srgbClr val="262626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          Point copy = new Point(this.x, this.y);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          return copy;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>
              <a:solidFill>
                <a:srgbClr val="262626"/>
              </a:solidFill>
            </a:endParaRPr>
          </a:p>
          <a:p>
            <a:pPr>
              <a:lnSpc>
                <a:spcPct val="70000"/>
              </a:lnSpc>
              <a:buFontTx/>
              <a:buNone/>
            </a:pPr>
            <a:endParaRPr lang="en-US" altLang="en-US">
              <a:solidFill>
                <a:srgbClr val="262626"/>
              </a:solidFill>
            </a:endParaRPr>
          </a:p>
          <a:p>
            <a:r>
              <a:rPr lang="en-US" altLang="en-US">
                <a:solidFill>
                  <a:srgbClr val="262626"/>
                </a:solidFill>
              </a:rPr>
              <a:t>What's wrong with the above method?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5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flaw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006600"/>
                </a:solidFill>
                <a:latin typeface="Courier New" panose="02070309020205020404" pitchFamily="49" charset="0"/>
              </a:rPr>
              <a:t>	// also implements Cloneable and inherits clone()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public class </a:t>
            </a:r>
            <a:r>
              <a:rPr lang="en-US" altLang="en-US" sz="2000" b="1">
                <a:solidFill>
                  <a:srgbClr val="262626"/>
                </a:solidFill>
                <a:latin typeface="Courier New" panose="02070309020205020404" pitchFamily="49" charset="0"/>
              </a:rPr>
              <a:t>Point3D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 extends Point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private int z;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...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>
              <a:solidFill>
                <a:srgbClr val="262626"/>
              </a:solidFill>
            </a:endParaRPr>
          </a:p>
          <a:p>
            <a:pPr>
              <a:lnSpc>
                <a:spcPct val="70000"/>
              </a:lnSpc>
              <a:buFontTx/>
              <a:buNone/>
            </a:pPr>
            <a:endParaRPr lang="en-US" altLang="en-US">
              <a:solidFill>
                <a:srgbClr val="262626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262626"/>
                </a:solidFill>
              </a:rPr>
              <a:t>The above </a:t>
            </a:r>
            <a:r>
              <a:rPr lang="en-US" altLang="en-US">
                <a:solidFill>
                  <a:srgbClr val="262626"/>
                </a:solidFill>
                <a:latin typeface="Courier New" panose="02070309020205020404" pitchFamily="49" charset="0"/>
              </a:rPr>
              <a:t>Point3D</a:t>
            </a:r>
            <a:r>
              <a:rPr lang="en-US" altLang="en-US">
                <a:solidFill>
                  <a:srgbClr val="262626"/>
                </a:solidFill>
              </a:rPr>
              <a:t> class's </a:t>
            </a:r>
            <a:r>
              <a:rPr lang="en-US" altLang="en-US">
                <a:solidFill>
                  <a:srgbClr val="262626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>
                <a:solidFill>
                  <a:srgbClr val="262626"/>
                </a:solidFill>
              </a:rPr>
              <a:t> method produces a </a:t>
            </a:r>
            <a:r>
              <a:rPr lang="en-US" altLang="en-US">
                <a:solidFill>
                  <a:srgbClr val="262626"/>
                </a:solidFill>
                <a:latin typeface="Courier New" panose="02070309020205020404" pitchFamily="49" charset="0"/>
              </a:rPr>
              <a:t>Point</a:t>
            </a:r>
            <a:r>
              <a:rPr lang="en-US" altLang="en-US">
                <a:solidFill>
                  <a:srgbClr val="262626"/>
                </a:solidFill>
              </a:rPr>
              <a:t>!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This is undesirable and unexpected behavior.</a:t>
            </a: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The only way to ensure that the clone will have exactly the same type as the original object (even in the presence of inheritance) is to call the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>
                <a:solidFill>
                  <a:srgbClr val="404040"/>
                </a:solidFill>
              </a:rPr>
              <a:t> method from class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Object</a:t>
            </a:r>
            <a:r>
              <a:rPr lang="en-US" altLang="en-US">
                <a:solidFill>
                  <a:srgbClr val="404040"/>
                </a:solidFill>
              </a:rPr>
              <a:t> with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super.clone()</a:t>
            </a:r>
            <a:r>
              <a:rPr lang="en-US" altLang="en-US">
                <a:solidFill>
                  <a:srgbClr val="404040"/>
                </a:solidFill>
              </a:rPr>
              <a:t> 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654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Proper clone method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>
                <a:solidFill>
                  <a:srgbClr val="262626"/>
                </a:solidFill>
              </a:rPr>
              <a:t>	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public class Point </a:t>
            </a:r>
            <a:r>
              <a:rPr lang="en-US" altLang="en-US" sz="2000" b="1">
                <a:solidFill>
                  <a:srgbClr val="262626"/>
                </a:solidFill>
                <a:latin typeface="Courier New" panose="02070309020205020404" pitchFamily="49" charset="0"/>
              </a:rPr>
              <a:t>implements Cloneable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private int x, y;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...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public Point </a:t>
            </a:r>
            <a:r>
              <a:rPr lang="en-US" altLang="en-US" sz="2000" b="1">
                <a:solidFill>
                  <a:srgbClr val="262626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    try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        Point copy = (Point) </a:t>
            </a:r>
            <a:r>
              <a:rPr lang="en-US" altLang="en-US" sz="2000" b="1">
                <a:solidFill>
                  <a:srgbClr val="262626"/>
                </a:solidFill>
                <a:latin typeface="Courier New" panose="02070309020205020404" pitchFamily="49" charset="0"/>
              </a:rPr>
              <a:t>super.clone</a:t>
            </a: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();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        return copy;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    } catch (CloneNotSupportedException e)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        </a:t>
            </a:r>
            <a:r>
              <a:rPr lang="en-US" altLang="en-US" sz="2000">
                <a:solidFill>
                  <a:srgbClr val="006600"/>
                </a:solidFill>
                <a:latin typeface="Courier New" panose="02070309020205020404" pitchFamily="49" charset="0"/>
              </a:rPr>
              <a:t>// this will never happen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        return null;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000">
                <a:solidFill>
                  <a:srgbClr val="262626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>
              <a:solidFill>
                <a:srgbClr val="262626"/>
              </a:solidFill>
            </a:endParaRPr>
          </a:p>
          <a:p>
            <a:pPr>
              <a:lnSpc>
                <a:spcPct val="70000"/>
              </a:lnSpc>
              <a:buFontTx/>
              <a:buNone/>
            </a:pPr>
            <a:endParaRPr lang="en-US" altLang="en-US">
              <a:solidFill>
                <a:srgbClr val="262626"/>
              </a:solidFill>
            </a:endParaRPr>
          </a:p>
          <a:p>
            <a:pPr lvl="1"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404040"/>
                </a:solidFill>
              </a:rPr>
              <a:t>To call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Object</a:t>
            </a:r>
            <a:r>
              <a:rPr lang="en-US" altLang="en-US">
                <a:solidFill>
                  <a:srgbClr val="404040"/>
                </a:solidFill>
              </a:rPr>
              <a:t>'s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>
                <a:solidFill>
                  <a:srgbClr val="404040"/>
                </a:solidFill>
              </a:rPr>
              <a:t> method, you must use </a:t>
            </a:r>
            <a:r>
              <a:rPr lang="en-US" altLang="en-US">
                <a:solidFill>
                  <a:srgbClr val="404040"/>
                </a:solidFill>
                <a:latin typeface="Courier New" panose="02070309020205020404" pitchFamily="49" charset="0"/>
              </a:rPr>
              <a:t>try/catch</a:t>
            </a:r>
            <a:r>
              <a:rPr lang="en-US" altLang="en-US">
                <a:solidFill>
                  <a:srgbClr val="404040"/>
                </a:solidFill>
              </a:rPr>
              <a:t>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en-US"/>
              <a:t>But if you implement </a:t>
            </a:r>
            <a:r>
              <a:rPr lang="en-US" altLang="en-US">
                <a:latin typeface="Courier New" panose="02070309020205020404" pitchFamily="49" charset="0"/>
              </a:rPr>
              <a:t>Cloneable</a:t>
            </a:r>
            <a:r>
              <a:rPr lang="en-US" altLang="en-US"/>
              <a:t>, the exception will not be thrown.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3072581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Flawed clone method 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public class BankAccount </a:t>
            </a:r>
            <a:r>
              <a:rPr lang="en-US" altLang="en-US" sz="1800" b="1">
                <a:solidFill>
                  <a:srgbClr val="404040"/>
                </a:solidFill>
                <a:latin typeface="Courier New" panose="02070309020205020404" pitchFamily="49" charset="0"/>
              </a:rPr>
              <a:t>implements Cloneable</a:t>
            </a: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{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   private String name;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   private List&lt;String&gt; transactions;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   ...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   public BankAccount </a:t>
            </a:r>
            <a:r>
              <a:rPr lang="en-US" altLang="en-US" sz="1800" b="1">
                <a:solidFill>
                  <a:srgbClr val="404040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() {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       try {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           BankAccount copy = (BankAccount) super.clone();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           return copy;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       } catch (CloneNotSupportedException e) {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           return null;   </a:t>
            </a:r>
            <a:r>
              <a:rPr lang="en-US" altLang="en-US" sz="1800">
                <a:solidFill>
                  <a:srgbClr val="006600"/>
                </a:solidFill>
                <a:latin typeface="Courier New" panose="02070309020205020404" pitchFamily="49" charset="0"/>
              </a:rPr>
              <a:t>// won't ever happen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       }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    }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800">
                <a:solidFill>
                  <a:srgbClr val="404040"/>
                </a:solidFill>
                <a:latin typeface="Courier New" panose="02070309020205020404" pitchFamily="49" charset="0"/>
              </a:rPr>
              <a:t>}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18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r>
              <a:rPr lang="en-US" altLang="en-US">
                <a:solidFill>
                  <a:srgbClr val="262626"/>
                </a:solidFill>
              </a:rPr>
              <a:t>What's wrong with the above method?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75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Shallow vs. deep copy</a:t>
            </a:r>
          </a:p>
        </p:txBody>
      </p:sp>
      <p:sp>
        <p:nvSpPr>
          <p:cNvPr id="5386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95400"/>
            <a:ext cx="9144000" cy="5562600"/>
          </a:xfrm>
        </p:spPr>
        <p:txBody>
          <a:bodyPr rtlCol="0">
            <a:normAutofit fontScale="92500" lnSpcReduction="20000"/>
          </a:bodyPr>
          <a:lstStyle/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>
                <a:solidFill>
                  <a:srgbClr val="262626"/>
                </a:solidFill>
              </a:rPr>
              <a:t>shallow copy</a:t>
            </a:r>
            <a:r>
              <a:rPr lang="en-US" dirty="0">
                <a:solidFill>
                  <a:srgbClr val="262626"/>
                </a:solidFill>
              </a:rPr>
              <a:t>: Duplicates an object without duplicating any other objects to which it refers.</a:t>
            </a:r>
          </a:p>
          <a:p>
            <a:pPr marL="548640" lvl="1" fontAlgn="auto">
              <a:spcBef>
                <a:spcPts val="37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548640" lvl="1" fontAlgn="auto">
              <a:spcBef>
                <a:spcPts val="37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548640" lvl="1" fontAlgn="auto">
              <a:spcBef>
                <a:spcPts val="37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548640" lvl="1" fontAlgn="auto">
              <a:spcBef>
                <a:spcPts val="37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548640" lvl="1" fontAlgn="auto">
              <a:spcBef>
                <a:spcPts val="370"/>
              </a:spcBef>
              <a:spcAft>
                <a:spcPts val="0"/>
              </a:spcAft>
              <a:buFont typeface="Wingdings 2"/>
              <a:buNone/>
              <a:defRPr/>
            </a:pPr>
            <a:endParaRPr lang="en-US" dirty="0">
              <a:solidFill>
                <a:srgbClr val="404040"/>
              </a:solidFill>
            </a:endParaRP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b="1" dirty="0">
                <a:solidFill>
                  <a:srgbClr val="262626"/>
                </a:solidFill>
              </a:rPr>
              <a:t>deep copy</a:t>
            </a:r>
            <a:r>
              <a:rPr lang="en-US" dirty="0">
                <a:solidFill>
                  <a:srgbClr val="262626"/>
                </a:solidFill>
              </a:rPr>
              <a:t>: Duplicates an object's entire </a:t>
            </a:r>
            <a:r>
              <a:rPr lang="en-US" i="1" dirty="0">
                <a:solidFill>
                  <a:srgbClr val="262626"/>
                </a:solidFill>
              </a:rPr>
              <a:t>reference graph</a:t>
            </a:r>
            <a:r>
              <a:rPr lang="en-US" dirty="0">
                <a:solidFill>
                  <a:srgbClr val="262626"/>
                </a:solidFill>
              </a:rPr>
              <a:t>: copies itself and deep copies any other objects to which it refers.</a:t>
            </a: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solidFill>
                <a:srgbClr val="262626"/>
              </a:solidFill>
            </a:endParaRP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solidFill>
                <a:srgbClr val="262626"/>
              </a:solidFill>
            </a:endParaRP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solidFill>
                <a:srgbClr val="262626"/>
              </a:solidFill>
            </a:endParaRP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solidFill>
                <a:srgbClr val="262626"/>
              </a:solidFill>
            </a:endParaRPr>
          </a:p>
          <a:p>
            <a:pPr marL="274320" indent="-274320" fontAlgn="auto">
              <a:spcBef>
                <a:spcPts val="58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solidFill>
                <a:srgbClr val="262626"/>
              </a:solidFill>
            </a:endParaRPr>
          </a:p>
          <a:p>
            <a:pPr marL="548640" lvl="1" fontAlgn="auto">
              <a:spcBef>
                <a:spcPts val="370"/>
              </a:spcBef>
              <a:spcAft>
                <a:spcPts val="0"/>
              </a:spcAft>
              <a:buFont typeface="Arial" pitchFamily="34" charset="0"/>
              <a:buChar char="–"/>
              <a:defRPr/>
            </a:pPr>
            <a:r>
              <a:rPr lang="en-US" dirty="0">
                <a:solidFill>
                  <a:srgbClr val="404040"/>
                </a:solidFill>
                <a:latin typeface="Courier New" pitchFamily="49" charset="0"/>
              </a:rPr>
              <a:t>Object</a:t>
            </a:r>
            <a:r>
              <a:rPr lang="en-US" dirty="0">
                <a:solidFill>
                  <a:srgbClr val="404040"/>
                </a:solidFill>
              </a:rPr>
              <a:t>'s </a:t>
            </a:r>
            <a:r>
              <a:rPr lang="en-US" dirty="0">
                <a:solidFill>
                  <a:srgbClr val="404040"/>
                </a:solidFill>
                <a:latin typeface="Courier New" pitchFamily="49" charset="0"/>
              </a:rPr>
              <a:t>clone</a:t>
            </a:r>
            <a:r>
              <a:rPr lang="en-US" dirty="0">
                <a:solidFill>
                  <a:srgbClr val="404040"/>
                </a:solidFill>
              </a:rPr>
              <a:t> method makes a shallow copy by default.  (Why?)</a:t>
            </a:r>
          </a:p>
        </p:txBody>
      </p:sp>
      <p:grpSp>
        <p:nvGrpSpPr>
          <p:cNvPr id="15364" name="Group 27"/>
          <p:cNvGrpSpPr>
            <a:grpSpLocks/>
          </p:cNvGrpSpPr>
          <p:nvPr/>
        </p:nvGrpSpPr>
        <p:grpSpPr bwMode="auto">
          <a:xfrm>
            <a:off x="533400" y="2209800"/>
            <a:ext cx="3962400" cy="1323975"/>
            <a:chOff x="528" y="1392"/>
            <a:chExt cx="2496" cy="834"/>
          </a:xfrm>
        </p:grpSpPr>
        <p:sp>
          <p:nvSpPr>
            <p:cNvPr id="15381" name="Text Box 4"/>
            <p:cNvSpPr txBox="1">
              <a:spLocks noChangeArrowheads="1"/>
            </p:cNvSpPr>
            <p:nvPr/>
          </p:nvSpPr>
          <p:spPr bwMode="auto">
            <a:xfrm>
              <a:off x="528" y="1392"/>
              <a:ext cx="1152" cy="83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u="sng"/>
                <a:t>original</a:t>
              </a:r>
            </a:p>
            <a:p>
              <a:pPr eaLnBrk="1" hangingPunct="1"/>
              <a:r>
                <a:rPr lang="en-US" altLang="en-US" sz="1600"/>
                <a:t>int x = [42]</a:t>
              </a:r>
            </a:p>
            <a:p>
              <a:pPr eaLnBrk="1" hangingPunct="1"/>
              <a:r>
                <a:rPr lang="en-US" altLang="en-US" sz="1600"/>
                <a:t>double y = [3.14]</a:t>
              </a:r>
            </a:p>
            <a:p>
              <a:pPr eaLnBrk="1" hangingPunct="1"/>
              <a:r>
                <a:rPr lang="en-US" altLang="en-US" sz="1600"/>
                <a:t>Scanner in = [   ]</a:t>
              </a:r>
            </a:p>
            <a:p>
              <a:pPr eaLnBrk="1" hangingPunct="1"/>
              <a:r>
                <a:rPr lang="en-US" altLang="en-US" sz="1600"/>
                <a:t>List data = [   ]</a:t>
              </a:r>
            </a:p>
          </p:txBody>
        </p:sp>
        <p:sp>
          <p:nvSpPr>
            <p:cNvPr id="15382" name="Text Box 5"/>
            <p:cNvSpPr txBox="1">
              <a:spLocks noChangeArrowheads="1"/>
            </p:cNvSpPr>
            <p:nvPr/>
          </p:nvSpPr>
          <p:spPr bwMode="auto">
            <a:xfrm>
              <a:off x="2020" y="1920"/>
              <a:ext cx="1004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ArrayList object</a:t>
              </a:r>
            </a:p>
          </p:txBody>
        </p:sp>
        <p:sp>
          <p:nvSpPr>
            <p:cNvPr id="15383" name="Text Box 6"/>
            <p:cNvSpPr txBox="1">
              <a:spLocks noChangeArrowheads="1"/>
            </p:cNvSpPr>
            <p:nvPr/>
          </p:nvSpPr>
          <p:spPr bwMode="auto">
            <a:xfrm>
              <a:off x="2016" y="1584"/>
              <a:ext cx="975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Scanner object</a:t>
              </a:r>
            </a:p>
          </p:txBody>
        </p:sp>
        <p:sp>
          <p:nvSpPr>
            <p:cNvPr id="15384" name="Line 7"/>
            <p:cNvSpPr>
              <a:spLocks noChangeShapeType="1"/>
            </p:cNvSpPr>
            <p:nvPr/>
          </p:nvSpPr>
          <p:spPr bwMode="auto">
            <a:xfrm flipV="1">
              <a:off x="1536" y="1680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Line 8"/>
            <p:cNvSpPr>
              <a:spLocks noChangeShapeType="1"/>
            </p:cNvSpPr>
            <p:nvPr/>
          </p:nvSpPr>
          <p:spPr bwMode="auto">
            <a:xfrm flipV="1">
              <a:off x="1536" y="2016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5" name="Group 28"/>
          <p:cNvGrpSpPr>
            <a:grpSpLocks/>
          </p:cNvGrpSpPr>
          <p:nvPr/>
        </p:nvGrpSpPr>
        <p:grpSpPr bwMode="auto">
          <a:xfrm>
            <a:off x="4419600" y="2133600"/>
            <a:ext cx="2362200" cy="1323975"/>
            <a:chOff x="2976" y="1344"/>
            <a:chExt cx="1488" cy="834"/>
          </a:xfrm>
        </p:grpSpPr>
        <p:sp>
          <p:nvSpPr>
            <p:cNvPr id="15378" name="Text Box 9"/>
            <p:cNvSpPr txBox="1">
              <a:spLocks noChangeArrowheads="1"/>
            </p:cNvSpPr>
            <p:nvPr/>
          </p:nvSpPr>
          <p:spPr bwMode="auto">
            <a:xfrm>
              <a:off x="3312" y="1344"/>
              <a:ext cx="1152" cy="83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u="sng"/>
                <a:t>clone</a:t>
              </a:r>
            </a:p>
            <a:p>
              <a:pPr eaLnBrk="1" hangingPunct="1"/>
              <a:r>
                <a:rPr lang="en-US" altLang="en-US" sz="1600"/>
                <a:t>int x = [42]</a:t>
              </a:r>
            </a:p>
            <a:p>
              <a:pPr eaLnBrk="1" hangingPunct="1"/>
              <a:r>
                <a:rPr lang="en-US" altLang="en-US" sz="1600"/>
                <a:t>double y = [3.14]</a:t>
              </a:r>
            </a:p>
            <a:p>
              <a:pPr eaLnBrk="1" hangingPunct="1"/>
              <a:r>
                <a:rPr lang="en-US" altLang="en-US" sz="1600"/>
                <a:t>Scanner in = [   ]</a:t>
              </a:r>
            </a:p>
            <a:p>
              <a:pPr eaLnBrk="1" hangingPunct="1"/>
              <a:r>
                <a:rPr lang="en-US" altLang="en-US" sz="1600"/>
                <a:t>List data = [   ]</a:t>
              </a:r>
            </a:p>
          </p:txBody>
        </p:sp>
        <p:sp>
          <p:nvSpPr>
            <p:cNvPr id="15379" name="Line 10"/>
            <p:cNvSpPr>
              <a:spLocks noChangeShapeType="1"/>
            </p:cNvSpPr>
            <p:nvPr/>
          </p:nvSpPr>
          <p:spPr bwMode="auto">
            <a:xfrm flipH="1" flipV="1">
              <a:off x="2976" y="1680"/>
              <a:ext cx="13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Line 11"/>
            <p:cNvSpPr>
              <a:spLocks noChangeShapeType="1"/>
            </p:cNvSpPr>
            <p:nvPr/>
          </p:nvSpPr>
          <p:spPr bwMode="auto">
            <a:xfrm flipH="1" flipV="1">
              <a:off x="3024" y="2016"/>
              <a:ext cx="12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6" name="Group 29"/>
          <p:cNvGrpSpPr>
            <a:grpSpLocks/>
          </p:cNvGrpSpPr>
          <p:nvPr/>
        </p:nvGrpSpPr>
        <p:grpSpPr bwMode="auto">
          <a:xfrm>
            <a:off x="533400" y="4619625"/>
            <a:ext cx="3962400" cy="1323975"/>
            <a:chOff x="528" y="1392"/>
            <a:chExt cx="2496" cy="834"/>
          </a:xfrm>
        </p:grpSpPr>
        <p:sp>
          <p:nvSpPr>
            <p:cNvPr id="15373" name="Text Box 30"/>
            <p:cNvSpPr txBox="1">
              <a:spLocks noChangeArrowheads="1"/>
            </p:cNvSpPr>
            <p:nvPr/>
          </p:nvSpPr>
          <p:spPr bwMode="auto">
            <a:xfrm>
              <a:off x="528" y="1392"/>
              <a:ext cx="1152" cy="83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u="sng"/>
                <a:t>original</a:t>
              </a:r>
            </a:p>
            <a:p>
              <a:pPr eaLnBrk="1" hangingPunct="1"/>
              <a:r>
                <a:rPr lang="en-US" altLang="en-US" sz="1600"/>
                <a:t>int x = [42]</a:t>
              </a:r>
            </a:p>
            <a:p>
              <a:pPr eaLnBrk="1" hangingPunct="1"/>
              <a:r>
                <a:rPr lang="en-US" altLang="en-US" sz="1600"/>
                <a:t>double y = [3.14]</a:t>
              </a:r>
            </a:p>
            <a:p>
              <a:pPr eaLnBrk="1" hangingPunct="1"/>
              <a:r>
                <a:rPr lang="en-US" altLang="en-US" sz="1600"/>
                <a:t>Scanner in = [   ]</a:t>
              </a:r>
            </a:p>
            <a:p>
              <a:pPr eaLnBrk="1" hangingPunct="1"/>
              <a:r>
                <a:rPr lang="en-US" altLang="en-US" sz="1600"/>
                <a:t>List data = [   ]</a:t>
              </a:r>
            </a:p>
          </p:txBody>
        </p:sp>
        <p:sp>
          <p:nvSpPr>
            <p:cNvPr id="15374" name="Text Box 31"/>
            <p:cNvSpPr txBox="1">
              <a:spLocks noChangeArrowheads="1"/>
            </p:cNvSpPr>
            <p:nvPr/>
          </p:nvSpPr>
          <p:spPr bwMode="auto">
            <a:xfrm>
              <a:off x="2020" y="1920"/>
              <a:ext cx="1004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ArrayList object</a:t>
              </a:r>
            </a:p>
          </p:txBody>
        </p:sp>
        <p:sp>
          <p:nvSpPr>
            <p:cNvPr id="15375" name="Text Box 32"/>
            <p:cNvSpPr txBox="1">
              <a:spLocks noChangeArrowheads="1"/>
            </p:cNvSpPr>
            <p:nvPr/>
          </p:nvSpPr>
          <p:spPr bwMode="auto">
            <a:xfrm>
              <a:off x="2016" y="1584"/>
              <a:ext cx="975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Scanner object</a:t>
              </a:r>
            </a:p>
          </p:txBody>
        </p:sp>
        <p:sp>
          <p:nvSpPr>
            <p:cNvPr id="15376" name="Line 33"/>
            <p:cNvSpPr>
              <a:spLocks noChangeShapeType="1"/>
            </p:cNvSpPr>
            <p:nvPr/>
          </p:nvSpPr>
          <p:spPr bwMode="auto">
            <a:xfrm flipV="1">
              <a:off x="1536" y="1680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Line 34"/>
            <p:cNvSpPr>
              <a:spLocks noChangeShapeType="1"/>
            </p:cNvSpPr>
            <p:nvPr/>
          </p:nvSpPr>
          <p:spPr bwMode="auto">
            <a:xfrm flipV="1">
              <a:off x="1536" y="2016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7" name="Group 35"/>
          <p:cNvGrpSpPr>
            <a:grpSpLocks/>
          </p:cNvGrpSpPr>
          <p:nvPr/>
        </p:nvGrpSpPr>
        <p:grpSpPr bwMode="auto">
          <a:xfrm>
            <a:off x="4953000" y="4619625"/>
            <a:ext cx="3962400" cy="1323975"/>
            <a:chOff x="528" y="1392"/>
            <a:chExt cx="2496" cy="834"/>
          </a:xfrm>
        </p:grpSpPr>
        <p:sp>
          <p:nvSpPr>
            <p:cNvPr id="15368" name="Text Box 36"/>
            <p:cNvSpPr txBox="1">
              <a:spLocks noChangeArrowheads="1"/>
            </p:cNvSpPr>
            <p:nvPr/>
          </p:nvSpPr>
          <p:spPr bwMode="auto">
            <a:xfrm>
              <a:off x="528" y="1392"/>
              <a:ext cx="1152" cy="83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 u="sng"/>
                <a:t>clone</a:t>
              </a:r>
            </a:p>
            <a:p>
              <a:pPr eaLnBrk="1" hangingPunct="1"/>
              <a:r>
                <a:rPr lang="en-US" altLang="en-US" sz="1600"/>
                <a:t>int x = [42]</a:t>
              </a:r>
            </a:p>
            <a:p>
              <a:pPr eaLnBrk="1" hangingPunct="1"/>
              <a:r>
                <a:rPr lang="en-US" altLang="en-US" sz="1600"/>
                <a:t>double y = [3.14]</a:t>
              </a:r>
            </a:p>
            <a:p>
              <a:pPr eaLnBrk="1" hangingPunct="1"/>
              <a:r>
                <a:rPr lang="en-US" altLang="en-US" sz="1600"/>
                <a:t>Scanner in = [   ]</a:t>
              </a:r>
            </a:p>
            <a:p>
              <a:pPr eaLnBrk="1" hangingPunct="1"/>
              <a:r>
                <a:rPr lang="en-US" altLang="en-US" sz="1600"/>
                <a:t>List data = [   ]</a:t>
              </a:r>
            </a:p>
          </p:txBody>
        </p:sp>
        <p:sp>
          <p:nvSpPr>
            <p:cNvPr id="15369" name="Text Box 37"/>
            <p:cNvSpPr txBox="1">
              <a:spLocks noChangeArrowheads="1"/>
            </p:cNvSpPr>
            <p:nvPr/>
          </p:nvSpPr>
          <p:spPr bwMode="auto">
            <a:xfrm>
              <a:off x="2020" y="1920"/>
              <a:ext cx="1004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ArrayList object</a:t>
              </a:r>
            </a:p>
          </p:txBody>
        </p:sp>
        <p:sp>
          <p:nvSpPr>
            <p:cNvPr id="15370" name="Text Box 38"/>
            <p:cNvSpPr txBox="1">
              <a:spLocks noChangeArrowheads="1"/>
            </p:cNvSpPr>
            <p:nvPr/>
          </p:nvSpPr>
          <p:spPr bwMode="auto">
            <a:xfrm>
              <a:off x="2016" y="1584"/>
              <a:ext cx="975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/>
                <a:t>Scanner object</a:t>
              </a:r>
            </a:p>
          </p:txBody>
        </p:sp>
        <p:sp>
          <p:nvSpPr>
            <p:cNvPr id="15371" name="Line 39"/>
            <p:cNvSpPr>
              <a:spLocks noChangeShapeType="1"/>
            </p:cNvSpPr>
            <p:nvPr/>
          </p:nvSpPr>
          <p:spPr bwMode="auto">
            <a:xfrm flipV="1">
              <a:off x="1536" y="1680"/>
              <a:ext cx="48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Line 40"/>
            <p:cNvSpPr>
              <a:spLocks noChangeShapeType="1"/>
            </p:cNvSpPr>
            <p:nvPr/>
          </p:nvSpPr>
          <p:spPr bwMode="auto">
            <a:xfrm flipV="1">
              <a:off x="1536" y="2016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2312165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Proper clone method 2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public class BankAccount </a:t>
            </a:r>
            <a:r>
              <a:rPr lang="en-US" altLang="en-US" sz="1600" b="1">
                <a:solidFill>
                  <a:srgbClr val="404040"/>
                </a:solidFill>
                <a:latin typeface="Courier New" panose="02070309020205020404" pitchFamily="49" charset="0"/>
              </a:rPr>
              <a:t>implements Cloneable</a:t>
            </a: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{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  private String name;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  private List&lt;String&gt; transactions;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  ...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  public BankAccount </a:t>
            </a:r>
            <a:r>
              <a:rPr lang="en-US" altLang="en-US" sz="1600" b="1">
                <a:solidFill>
                  <a:srgbClr val="404040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() {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     try {              </a:t>
            </a:r>
            <a:r>
              <a:rPr lang="en-US" altLang="en-US" sz="1600">
                <a:solidFill>
                  <a:srgbClr val="006600"/>
                </a:solidFill>
                <a:latin typeface="Courier New" panose="02070309020205020404" pitchFamily="49" charset="0"/>
              </a:rPr>
              <a:t>// deep copy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        BankAccount copy = (BankAccount) super.clone();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 b="1">
                <a:solidFill>
                  <a:schemeClr val="accent2"/>
                </a:solidFill>
                <a:latin typeface="Courier New" panose="02070309020205020404" pitchFamily="49" charset="0"/>
              </a:rPr>
              <a:t>         copy.transactions = new ArrayList&lt;String&gt;(transactions);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        return copy;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     } catch (CloneNotSupportedException e) {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        return null;   </a:t>
            </a:r>
            <a:r>
              <a:rPr lang="en-US" altLang="en-US" sz="1600">
                <a:solidFill>
                  <a:srgbClr val="006600"/>
                </a:solidFill>
                <a:latin typeface="Courier New" panose="02070309020205020404" pitchFamily="49" charset="0"/>
              </a:rPr>
              <a:t>// won't ever happen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     }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   }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1600">
                <a:solidFill>
                  <a:srgbClr val="404040"/>
                </a:solidFill>
                <a:latin typeface="Courier New" panose="02070309020205020404" pitchFamily="49" charset="0"/>
              </a:rPr>
              <a:t>}</a:t>
            </a:r>
          </a:p>
          <a:p>
            <a:pPr lvl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1600">
              <a:solidFill>
                <a:srgbClr val="40404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altLang="en-US">
                <a:solidFill>
                  <a:srgbClr val="404040"/>
                </a:solidFill>
              </a:rPr>
              <a:t>Copying the list of transactions (and any other modifiable reference fields) produces a deep copy that is independent of the original.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67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Effective Tip 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95400"/>
            <a:ext cx="9144000" cy="5562600"/>
          </a:xfrm>
        </p:spPr>
        <p:txBody>
          <a:bodyPr/>
          <a:lstStyle/>
          <a:p>
            <a:pPr>
              <a:tabLst>
                <a:tab pos="860425" algn="l"/>
                <a:tab pos="1143000" algn="l"/>
                <a:tab pos="1431925" algn="l"/>
                <a:tab pos="2058988" algn="l"/>
              </a:tabLst>
            </a:pPr>
            <a:r>
              <a:rPr lang="en-US" altLang="en-US" b="1">
                <a:solidFill>
                  <a:srgbClr val="262626"/>
                </a:solidFill>
              </a:rPr>
              <a:t>Tip </a:t>
            </a:r>
            <a:r>
              <a:rPr lang="en-US" altLang="en-US">
                <a:solidFill>
                  <a:srgbClr val="262626"/>
                </a:solidFill>
              </a:rPr>
              <a:t>: Override </a:t>
            </a:r>
            <a:r>
              <a:rPr lang="en-US" altLang="en-US">
                <a:solidFill>
                  <a:srgbClr val="262626"/>
                </a:solidFill>
                <a:latin typeface="Courier New" panose="02070309020205020404" pitchFamily="49" charset="0"/>
              </a:rPr>
              <a:t>clone</a:t>
            </a:r>
            <a:r>
              <a:rPr lang="en-US" altLang="en-US">
                <a:solidFill>
                  <a:srgbClr val="262626"/>
                </a:solidFill>
              </a:rPr>
              <a:t> judiciously.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2058988" algn="l"/>
              </a:tabLst>
            </a:pPr>
            <a:endParaRPr lang="en-US" altLang="en-US">
              <a:solidFill>
                <a:srgbClr val="404040"/>
              </a:solidFill>
            </a:endParaRPr>
          </a:p>
          <a:p>
            <a:pPr>
              <a:tabLst>
                <a:tab pos="860425" algn="l"/>
                <a:tab pos="1143000" algn="l"/>
                <a:tab pos="1431925" algn="l"/>
                <a:tab pos="2058988" algn="l"/>
              </a:tabLst>
            </a:pPr>
            <a:r>
              <a:rPr lang="en-US" altLang="en-US">
                <a:solidFill>
                  <a:srgbClr val="262626"/>
                </a:solidFill>
              </a:rPr>
              <a:t>Cloning has many gotchas and warts: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2058988" algn="l"/>
              </a:tabLst>
            </a:pPr>
            <a:r>
              <a:rPr lang="en-US" altLang="en-US">
                <a:solidFill>
                  <a:srgbClr val="404040"/>
                </a:solidFill>
              </a:rPr>
              <a:t>protected vs. public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2058988" algn="l"/>
              </a:tabLst>
            </a:pPr>
            <a:r>
              <a:rPr lang="en-US" altLang="en-US">
                <a:solidFill>
                  <a:srgbClr val="404040"/>
                </a:solidFill>
              </a:rPr>
              <a:t>flaws in the presence of inheritance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2058988" algn="l"/>
              </a:tabLst>
            </a:pPr>
            <a:r>
              <a:rPr lang="en-US" altLang="en-US">
                <a:solidFill>
                  <a:srgbClr val="404040"/>
                </a:solidFill>
              </a:rPr>
              <a:t>requires the use of an ugly tagging interface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2058988" algn="l"/>
              </a:tabLst>
            </a:pPr>
            <a:r>
              <a:rPr lang="en-US" altLang="en-US">
                <a:solidFill>
                  <a:srgbClr val="404040"/>
                </a:solidFill>
              </a:rPr>
              <a:t>throws an ugly checked exception</a:t>
            </a:r>
          </a:p>
          <a:p>
            <a:pPr lvl="1">
              <a:tabLst>
                <a:tab pos="860425" algn="l"/>
                <a:tab pos="1143000" algn="l"/>
                <a:tab pos="1431925" algn="l"/>
                <a:tab pos="2058988" algn="l"/>
              </a:tabLst>
            </a:pPr>
            <a:r>
              <a:rPr lang="en-US" altLang="en-US">
                <a:solidFill>
                  <a:srgbClr val="404040"/>
                </a:solidFill>
              </a:rPr>
              <a:t>easy to get wrong by making a shallow copy instead of a deep copy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43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15464" y="2967335"/>
            <a:ext cx="35130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Thank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Silicon University</a:t>
            </a:r>
          </a:p>
        </p:txBody>
      </p:sp>
    </p:spTree>
    <p:extLst>
      <p:ext uri="{BB962C8B-B14F-4D97-AF65-F5344CB8AC3E}">
        <p14:creationId xmlns:p14="http://schemas.microsoft.com/office/powerpoint/2010/main" val="2992149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211</TotalTime>
  <Words>1201</Words>
  <Application>Microsoft Office PowerPoint</Application>
  <PresentationFormat>On-screen Show (4:3)</PresentationFormat>
  <Paragraphs>201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Courier New</vt:lpstr>
      <vt:lpstr>Franklin Gothic Book</vt:lpstr>
      <vt:lpstr>Perpetua</vt:lpstr>
      <vt:lpstr>Wingdings</vt:lpstr>
      <vt:lpstr>Wingdings 2</vt:lpstr>
      <vt:lpstr>Equity</vt:lpstr>
      <vt:lpstr>Cloning objects</vt:lpstr>
      <vt:lpstr>Copying objects</vt:lpstr>
      <vt:lpstr>Object clone method</vt:lpstr>
      <vt:lpstr>Protected access</vt:lpstr>
      <vt:lpstr>The Cloneable interface</vt:lpstr>
      <vt:lpstr>Flawed clone method 1</vt:lpstr>
      <vt:lpstr>The flaw</vt:lpstr>
      <vt:lpstr>Proper clone method</vt:lpstr>
      <vt:lpstr>Flawed clone method 2</vt:lpstr>
      <vt:lpstr>Shallow vs. deep copy</vt:lpstr>
      <vt:lpstr>Proper clone method 2</vt:lpstr>
      <vt:lpstr>Effective Tip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JDBC PART-II</dc:title>
  <dc:creator>Rajesh</dc:creator>
  <cp:lastModifiedBy>dr.rajeshkojha@gmail.com</cp:lastModifiedBy>
  <cp:revision>25</cp:revision>
  <dcterms:created xsi:type="dcterms:W3CDTF">2006-08-16T00:00:00Z</dcterms:created>
  <dcterms:modified xsi:type="dcterms:W3CDTF">2025-11-18T10:21:24Z</dcterms:modified>
</cp:coreProperties>
</file>