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34"/>
  </p:notesMasterIdLst>
  <p:sldIdLst>
    <p:sldId id="365" r:id="rId2"/>
    <p:sldId id="292" r:id="rId3"/>
    <p:sldId id="264" r:id="rId4"/>
    <p:sldId id="265" r:id="rId5"/>
    <p:sldId id="266" r:id="rId6"/>
    <p:sldId id="267" r:id="rId7"/>
    <p:sldId id="479" r:id="rId8"/>
    <p:sldId id="270" r:id="rId9"/>
    <p:sldId id="271" r:id="rId10"/>
    <p:sldId id="477" r:id="rId11"/>
    <p:sldId id="478" r:id="rId12"/>
    <p:sldId id="273" r:id="rId13"/>
    <p:sldId id="274" r:id="rId14"/>
    <p:sldId id="275" r:id="rId15"/>
    <p:sldId id="276" r:id="rId16"/>
    <p:sldId id="277" r:id="rId17"/>
    <p:sldId id="293" r:id="rId18"/>
    <p:sldId id="294" r:id="rId19"/>
    <p:sldId id="474" r:id="rId20"/>
    <p:sldId id="475" r:id="rId21"/>
    <p:sldId id="278" r:id="rId22"/>
    <p:sldId id="279" r:id="rId23"/>
    <p:sldId id="295" r:id="rId24"/>
    <p:sldId id="296" r:id="rId25"/>
    <p:sldId id="297" r:id="rId26"/>
    <p:sldId id="298" r:id="rId27"/>
    <p:sldId id="371" r:id="rId28"/>
    <p:sldId id="476" r:id="rId29"/>
    <p:sldId id="283" r:id="rId30"/>
    <p:sldId id="284" r:id="rId31"/>
    <p:sldId id="285" r:id="rId32"/>
    <p:sldId id="25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714" y="10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1C0A4C-BA58-4AFD-B6D7-13B34A250322}" type="datetimeFigureOut">
              <a:rPr lang="en-US" smtClean="0"/>
              <a:pPr/>
              <a:t>12/2/2025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253BA4-0240-4F93-9398-BB3F734164CB}" type="slidenum">
              <a:rPr lang="en-US" smtClean="0"/>
              <a:pPr/>
              <a:t>‹#›</a:t>
            </a:fld>
            <a:endParaRPr lang="en-US"/>
          </a:p>
        </p:txBody>
      </p:sp>
    </p:spTree>
    <p:extLst>
      <p:ext uri="{BB962C8B-B14F-4D97-AF65-F5344CB8AC3E}">
        <p14:creationId xmlns:p14="http://schemas.microsoft.com/office/powerpoint/2010/main" val="3738226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62372C-FE7C-4277-9087-130A8F6CF368}" type="datetime1">
              <a:rPr lang="en-US" smtClean="0"/>
              <a:t>12/2/2025</a:t>
            </a:fld>
            <a:endParaRPr lang="en-US"/>
          </a:p>
        </p:txBody>
      </p:sp>
      <p:sp>
        <p:nvSpPr>
          <p:cNvPr id="5" name="Footer Placeholder 4"/>
          <p:cNvSpPr>
            <a:spLocks noGrp="1"/>
          </p:cNvSpPr>
          <p:nvPr>
            <p:ph type="ftr" sz="quarter" idx="11"/>
          </p:nvPr>
        </p:nvSpPr>
        <p:spPr/>
        <p:txBody>
          <a:bodyPr/>
          <a:lstStyle/>
          <a:p>
            <a:r>
              <a:rPr lang="en-US"/>
              <a:t>Dr. R. K. Ojha, Department of Computer Science &amp; Engineering, Silicon University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1782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AF99F4-D504-4F2D-BBE0-A5380E0CEA7B}" type="datetime1">
              <a:rPr lang="en-US" smtClean="0"/>
              <a:t>12/2/2025</a:t>
            </a:fld>
            <a:endParaRPr lang="en-US"/>
          </a:p>
        </p:txBody>
      </p:sp>
      <p:sp>
        <p:nvSpPr>
          <p:cNvPr id="5" name="Footer Placeholder 4"/>
          <p:cNvSpPr>
            <a:spLocks noGrp="1"/>
          </p:cNvSpPr>
          <p:nvPr>
            <p:ph type="ftr" sz="quarter" idx="11"/>
          </p:nvPr>
        </p:nvSpPr>
        <p:spPr/>
        <p:txBody>
          <a:bodyPr/>
          <a:lstStyle/>
          <a:p>
            <a:r>
              <a:rPr lang="en-US"/>
              <a:t>Dr. R. K. Ojha, Department of Computer Science &amp; Engineering, Silicon University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74235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DFD1C4-FDDE-4D00-9033-531C6D1ECBF8}" type="datetime1">
              <a:rPr lang="en-US" smtClean="0"/>
              <a:t>12/2/2025</a:t>
            </a:fld>
            <a:endParaRPr lang="en-US"/>
          </a:p>
        </p:txBody>
      </p:sp>
      <p:sp>
        <p:nvSpPr>
          <p:cNvPr id="5" name="Footer Placeholder 4"/>
          <p:cNvSpPr>
            <a:spLocks noGrp="1"/>
          </p:cNvSpPr>
          <p:nvPr>
            <p:ph type="ftr" sz="quarter" idx="11"/>
          </p:nvPr>
        </p:nvSpPr>
        <p:spPr/>
        <p:txBody>
          <a:bodyPr/>
          <a:lstStyle/>
          <a:p>
            <a:r>
              <a:rPr lang="en-US"/>
              <a:t>Dr. R. K. Ojha, Department of Computer Science &amp; Engineering, Silicon University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282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434E70-CA2A-44A6-AD57-BD57164BC1A1}" type="datetime1">
              <a:rPr lang="en-US" smtClean="0"/>
              <a:t>12/2/2025</a:t>
            </a:fld>
            <a:endParaRPr lang="en-US"/>
          </a:p>
        </p:txBody>
      </p:sp>
      <p:sp>
        <p:nvSpPr>
          <p:cNvPr id="6" name="Footer Placeholder 5"/>
          <p:cNvSpPr>
            <a:spLocks noGrp="1"/>
          </p:cNvSpPr>
          <p:nvPr>
            <p:ph type="ftr" sz="quarter" idx="11"/>
          </p:nvPr>
        </p:nvSpPr>
        <p:spPr/>
        <p:txBody>
          <a:bodyPr/>
          <a:lstStyle/>
          <a:p>
            <a:r>
              <a:rPr lang="en-US"/>
              <a:t>Dr. R. K. Ojha, Department of Computer Science &amp; Engineering, Silicon University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1695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758232-FF4E-471D-BE0E-58EE7A29E53A}" type="datetime1">
              <a:rPr lang="en-US" smtClean="0"/>
              <a:t>12/2/2025</a:t>
            </a:fld>
            <a:endParaRPr lang="en-US"/>
          </a:p>
        </p:txBody>
      </p:sp>
      <p:sp>
        <p:nvSpPr>
          <p:cNvPr id="8" name="Footer Placeholder 7"/>
          <p:cNvSpPr>
            <a:spLocks noGrp="1"/>
          </p:cNvSpPr>
          <p:nvPr>
            <p:ph type="ftr" sz="quarter" idx="11"/>
          </p:nvPr>
        </p:nvSpPr>
        <p:spPr/>
        <p:txBody>
          <a:bodyPr/>
          <a:lstStyle/>
          <a:p>
            <a:r>
              <a:rPr lang="en-US"/>
              <a:t>Dr. R. K. Ojha, Department of Computer Science &amp; Engineering, Silicon University</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8133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B2DD4E-18FE-4A48-A274-C45E51BE5D5A}" type="datetime1">
              <a:rPr lang="en-US" smtClean="0"/>
              <a:t>12/2/2025</a:t>
            </a:fld>
            <a:endParaRPr lang="en-US"/>
          </a:p>
        </p:txBody>
      </p:sp>
      <p:sp>
        <p:nvSpPr>
          <p:cNvPr id="4" name="Footer Placeholder 3"/>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3127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5618CAF-AA0A-4FAD-A71D-D4C0619DE07F}" type="datetime1">
              <a:rPr lang="en-US" smtClean="0"/>
              <a:t>12/2/2025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Dr. R. K. Ojha, Department of Computer Science &amp; Engineering, Silicon University</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89952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7E73A22-0A4B-4D67-8EEA-2014980D4A32}" type="datetime1">
              <a:rPr lang="en-US" smtClean="0"/>
              <a:t>12/2/2025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Dr. R. K. Ojha, Department of Computer Science &amp; Engineering, Silicon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49992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5F87A8-3BA8-421B-B45B-8048DF4D024C}" type="datetime1">
              <a:rPr lang="en-US" smtClean="0"/>
              <a:t>12/2/2025</a:t>
            </a:fld>
            <a:endParaRPr lang="en-US"/>
          </a:p>
        </p:txBody>
      </p:sp>
      <p:sp>
        <p:nvSpPr>
          <p:cNvPr id="6" name="Footer Placeholder 5"/>
          <p:cNvSpPr>
            <a:spLocks noGrp="1"/>
          </p:cNvSpPr>
          <p:nvPr>
            <p:ph type="ftr" sz="quarter" idx="11"/>
          </p:nvPr>
        </p:nvSpPr>
        <p:spPr/>
        <p:txBody>
          <a:bodyPr/>
          <a:lstStyle/>
          <a:p>
            <a:r>
              <a:rPr lang="en-US"/>
              <a:t>Dr. R. K. Ojha, Department of Computer Science &amp; Engineering, Silicon University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35776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5D184-038E-4DD1-81EF-FFE515E661A9}" type="datetime1">
              <a:rPr lang="en-US" smtClean="0"/>
              <a:t>12/2/2025</a:t>
            </a:fld>
            <a:endParaRPr lang="en-US"/>
          </a:p>
        </p:txBody>
      </p:sp>
      <p:sp>
        <p:nvSpPr>
          <p:cNvPr id="5" name="Footer Placeholder 4"/>
          <p:cNvSpPr>
            <a:spLocks noGrp="1"/>
          </p:cNvSpPr>
          <p:nvPr>
            <p:ph type="ftr" sz="quarter" idx="11"/>
          </p:nvPr>
        </p:nvSpPr>
        <p:spPr/>
        <p:txBody>
          <a:bodyPr/>
          <a:lstStyle/>
          <a:p>
            <a:r>
              <a:rPr lang="en-US"/>
              <a:t>Dr. R. K. Ojha, Department of Computer Science &amp; Engineering, Silicon University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65323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913580-8C7E-4B34-BC38-EE8BE58EC8E9}" type="datetime1">
              <a:rPr lang="en-US" smtClean="0"/>
              <a:t>12/2/2025</a:t>
            </a:fld>
            <a:endParaRPr lang="en-US"/>
          </a:p>
        </p:txBody>
      </p:sp>
      <p:sp>
        <p:nvSpPr>
          <p:cNvPr id="5" name="Footer Placeholder 4"/>
          <p:cNvSpPr>
            <a:spLocks noGrp="1"/>
          </p:cNvSpPr>
          <p:nvPr>
            <p:ph type="ftr" sz="quarter" idx="11"/>
          </p:nvPr>
        </p:nvSpPr>
        <p:spPr/>
        <p:txBody>
          <a:bodyPr/>
          <a:lstStyle/>
          <a:p>
            <a:r>
              <a:rPr lang="en-US"/>
              <a:t>Dr. R. K. Ojha, Department of Computer Science &amp; Engineering, Silicon University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47103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7F29508-1D98-433F-AD67-91EECBECA4B1}" type="datetime1">
              <a:rPr lang="en-US" smtClean="0"/>
              <a:t>12/2/2025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Dr. R. K. Ojha, Department of Computer Science &amp; Engineering, Silicon University</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6F15528-21DE-4FAA-801E-634DDDAF4B2B}"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49813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3">
            <a:extLst>
              <a:ext uri="{FF2B5EF4-FFF2-40B4-BE49-F238E27FC236}">
                <a16:creationId xmlns:a16="http://schemas.microsoft.com/office/drawing/2014/main" id="{69488CD1-7CA4-3421-CAAA-2E7E356B9556}"/>
              </a:ext>
            </a:extLst>
          </p:cNvPr>
          <p:cNvSpPr txBox="1">
            <a:spLocks noChangeArrowheads="1"/>
          </p:cNvSpPr>
          <p:nvPr/>
        </p:nvSpPr>
        <p:spPr bwMode="auto">
          <a:xfrm>
            <a:off x="2438400" y="2173576"/>
            <a:ext cx="7162800"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5400" b="1" dirty="0">
                <a:solidFill>
                  <a:srgbClr val="0033CC"/>
                </a:solidFill>
                <a:latin typeface="Baskerville Old Face" panose="02020602080505020303" pitchFamily="18" charset="0"/>
              </a:rPr>
              <a:t>Layout Management in </a:t>
            </a:r>
          </a:p>
          <a:p>
            <a:pPr algn="ctr" eaLnBrk="1" hangingPunct="1">
              <a:spcBef>
                <a:spcPct val="50000"/>
              </a:spcBef>
            </a:pPr>
            <a:r>
              <a:rPr lang="en-US" altLang="en-US" sz="5400" b="1" dirty="0">
                <a:solidFill>
                  <a:srgbClr val="0033CC"/>
                </a:solidFill>
                <a:latin typeface="Baskerville Old Face" panose="02020602080505020303" pitchFamily="18" charset="0"/>
              </a:rPr>
              <a:t>JAVA</a:t>
            </a:r>
          </a:p>
        </p:txBody>
      </p:sp>
      <p:sp>
        <p:nvSpPr>
          <p:cNvPr id="2" name="Subtitle 2">
            <a:extLst>
              <a:ext uri="{FF2B5EF4-FFF2-40B4-BE49-F238E27FC236}">
                <a16:creationId xmlns:a16="http://schemas.microsoft.com/office/drawing/2014/main" id="{92DD720B-35C3-5972-69D5-7A60D2E84ED0}"/>
              </a:ext>
            </a:extLst>
          </p:cNvPr>
          <p:cNvSpPr txBox="1">
            <a:spLocks/>
          </p:cNvSpPr>
          <p:nvPr/>
        </p:nvSpPr>
        <p:spPr>
          <a:xfrm>
            <a:off x="7467600" y="5410200"/>
            <a:ext cx="1371600" cy="381000"/>
          </a:xfrm>
          <a:prstGeom prst="rect">
            <a:avLst/>
          </a:prstGeom>
        </p:spPr>
        <p:txBody>
          <a:bodyPr>
            <a:normAutofit/>
          </a:bodyPr>
          <a:lstStyle>
            <a:lvl1pPr marL="0" indent="0" algn="ctr" rtl="0" eaLnBrk="1" latinLnBrk="0" hangingPunct="1">
              <a:spcBef>
                <a:spcPts val="580"/>
              </a:spcBef>
              <a:buClr>
                <a:schemeClr val="accent1"/>
              </a:buClr>
              <a:buSzPct val="85000"/>
              <a:buFont typeface="Wingdings 2"/>
              <a:buNone/>
              <a:defRPr kumimoji="0" sz="2600" kern="1200">
                <a:solidFill>
                  <a:schemeClr val="tx2"/>
                </a:solidFill>
                <a:latin typeface="+mn-lt"/>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lgn="l"/>
            <a:r>
              <a:rPr lang="en-US" sz="1400" b="1" dirty="0"/>
              <a:t>Prepared by:</a:t>
            </a:r>
          </a:p>
        </p:txBody>
      </p:sp>
      <p:sp>
        <p:nvSpPr>
          <p:cNvPr id="3" name="Subtitle 2">
            <a:extLst>
              <a:ext uri="{FF2B5EF4-FFF2-40B4-BE49-F238E27FC236}">
                <a16:creationId xmlns:a16="http://schemas.microsoft.com/office/drawing/2014/main" id="{AAE462AF-A3C8-42E8-C370-C00C679E62E6}"/>
              </a:ext>
            </a:extLst>
          </p:cNvPr>
          <p:cNvSpPr txBox="1">
            <a:spLocks/>
          </p:cNvSpPr>
          <p:nvPr/>
        </p:nvSpPr>
        <p:spPr>
          <a:xfrm>
            <a:off x="8458200" y="5791200"/>
            <a:ext cx="1676400" cy="304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gn="l"/>
            <a:r>
              <a:rPr lang="en-US" sz="1200" b="1" dirty="0">
                <a:solidFill>
                  <a:schemeClr val="tx1">
                    <a:lumMod val="95000"/>
                    <a:lumOff val="5000"/>
                  </a:schemeClr>
                </a:solidFill>
              </a:rPr>
              <a:t>Dr. Rajesh Kumar Ojha</a:t>
            </a:r>
          </a:p>
          <a:p>
            <a:pPr algn="l"/>
            <a:endParaRPr lang="en-US" sz="1200" b="1" dirty="0">
              <a:solidFill>
                <a:schemeClr val="tx1">
                  <a:lumMod val="95000"/>
                  <a:lumOff val="5000"/>
                </a:schemeClr>
              </a:solidFill>
            </a:endParaRPr>
          </a:p>
        </p:txBody>
      </p:sp>
      <p:pic>
        <p:nvPicPr>
          <p:cNvPr id="4" name="Picture 3">
            <a:extLst>
              <a:ext uri="{FF2B5EF4-FFF2-40B4-BE49-F238E27FC236}">
                <a16:creationId xmlns:a16="http://schemas.microsoft.com/office/drawing/2014/main" id="{BAA3E7C3-738B-E99D-DAB6-195A3236F389}"/>
              </a:ext>
            </a:extLst>
          </p:cNvPr>
          <p:cNvPicPr>
            <a:picLocks noChangeAspect="1"/>
          </p:cNvPicPr>
          <p:nvPr/>
        </p:nvPicPr>
        <p:blipFill>
          <a:blip r:embed="rId2"/>
          <a:stretch>
            <a:fillRect/>
          </a:stretch>
        </p:blipFill>
        <p:spPr>
          <a:xfrm>
            <a:off x="5181600" y="4419600"/>
            <a:ext cx="1828800" cy="8770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Text Box 1027">
            <a:extLst>
              <a:ext uri="{FF2B5EF4-FFF2-40B4-BE49-F238E27FC236}">
                <a16:creationId xmlns:a16="http://schemas.microsoft.com/office/drawing/2014/main" id="{A8AD2091-2458-55F7-ECF9-1E9667E3CABA}"/>
              </a:ext>
            </a:extLst>
          </p:cNvPr>
          <p:cNvSpPr txBox="1">
            <a:spLocks noChangeArrowheads="1"/>
          </p:cNvSpPr>
          <p:nvPr/>
        </p:nvSpPr>
        <p:spPr bwMode="auto">
          <a:xfrm>
            <a:off x="4381428" y="685801"/>
            <a:ext cx="34291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latin typeface="Times-Roman"/>
              </a:rPr>
              <a:t>Layout Managers</a:t>
            </a:r>
          </a:p>
        </p:txBody>
      </p:sp>
      <p:sp>
        <p:nvSpPr>
          <p:cNvPr id="136196" name="Text Box 1028">
            <a:extLst>
              <a:ext uri="{FF2B5EF4-FFF2-40B4-BE49-F238E27FC236}">
                <a16:creationId xmlns:a16="http://schemas.microsoft.com/office/drawing/2014/main" id="{67B28872-F88B-AFB2-EECE-66DB8CC02351}"/>
              </a:ext>
            </a:extLst>
          </p:cNvPr>
          <p:cNvSpPr txBox="1">
            <a:spLocks noChangeArrowheads="1"/>
          </p:cNvSpPr>
          <p:nvPr/>
        </p:nvSpPr>
        <p:spPr bwMode="auto">
          <a:xfrm>
            <a:off x="990600" y="1587500"/>
            <a:ext cx="10363200"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lgn="just">
              <a:lnSpc>
                <a:spcPct val="150000"/>
              </a:lnSpc>
              <a:buFontTx/>
              <a:buChar char="•"/>
            </a:pPr>
            <a:r>
              <a:rPr lang="en-US" altLang="en-US" dirty="0">
                <a:latin typeface="Arial" panose="020B0604020202020204" pitchFamily="34" charset="0"/>
              </a:rPr>
              <a:t>Layouts </a:t>
            </a:r>
            <a:r>
              <a:rPr lang="en-US" altLang="en-US" dirty="0">
                <a:latin typeface="Times-Roman"/>
              </a:rPr>
              <a:t>are responsible for arranging the components within a </a:t>
            </a:r>
            <a:r>
              <a:rPr lang="en-US" altLang="en-US" dirty="0">
                <a:latin typeface="Arial" panose="020B0604020202020204" pitchFamily="34" charset="0"/>
              </a:rPr>
              <a:t>Container</a:t>
            </a:r>
            <a:r>
              <a:rPr lang="en-US" altLang="en-US" dirty="0">
                <a:latin typeface="Times-Roman"/>
              </a:rPr>
              <a:t>.</a:t>
            </a:r>
          </a:p>
          <a:p>
            <a:pPr lvl="1" algn="just">
              <a:lnSpc>
                <a:spcPct val="150000"/>
              </a:lnSpc>
              <a:buFontTx/>
              <a:buChar char="•"/>
            </a:pPr>
            <a:r>
              <a:rPr lang="en-US" altLang="en-US" dirty="0">
                <a:latin typeface="Times-Roman"/>
              </a:rPr>
              <a:t>Since the size of an area we have to work with may vary, </a:t>
            </a:r>
            <a:r>
              <a:rPr lang="en-US" altLang="en-US" dirty="0" err="1">
                <a:latin typeface="Arial" panose="020B0604020202020204" pitchFamily="34" charset="0"/>
              </a:rPr>
              <a:t>LayoutManagers</a:t>
            </a:r>
            <a:r>
              <a:rPr lang="en-US" altLang="en-US" dirty="0">
                <a:latin typeface="Times-Roman"/>
              </a:rPr>
              <a:t> tend to be more relative.</a:t>
            </a:r>
          </a:p>
          <a:p>
            <a:pPr lvl="1" algn="just">
              <a:lnSpc>
                <a:spcPct val="150000"/>
              </a:lnSpc>
              <a:buFontTx/>
              <a:buChar char="•"/>
            </a:pPr>
            <a:r>
              <a:rPr lang="en-US" altLang="en-US" dirty="0">
                <a:latin typeface="Times-Roman"/>
              </a:rPr>
              <a:t>The most important of the Container layout method is:</a:t>
            </a:r>
          </a:p>
          <a:p>
            <a:pPr lvl="1" algn="just">
              <a:lnSpc>
                <a:spcPct val="150000"/>
              </a:lnSpc>
            </a:pPr>
            <a:r>
              <a:rPr lang="en-US" altLang="en-US" dirty="0">
                <a:latin typeface="Times-Roman"/>
              </a:rPr>
              <a:t>	-	void </a:t>
            </a:r>
            <a:r>
              <a:rPr lang="en-US" altLang="en-US" dirty="0" err="1">
                <a:latin typeface="Times-Roman"/>
              </a:rPr>
              <a:t>setLayout</a:t>
            </a:r>
            <a:r>
              <a:rPr lang="en-US" altLang="en-US" dirty="0">
                <a:latin typeface="Times-Roman"/>
              </a:rPr>
              <a:t>(</a:t>
            </a:r>
            <a:r>
              <a:rPr lang="en-US" altLang="en-US" dirty="0" err="1">
                <a:latin typeface="Times-Roman"/>
              </a:rPr>
              <a:t>LayoutManager</a:t>
            </a:r>
            <a:r>
              <a:rPr lang="en-US" altLang="en-US" dirty="0">
                <a:latin typeface="Times-Roman"/>
              </a:rPr>
              <a:t> layout)</a:t>
            </a:r>
          </a:p>
          <a:p>
            <a:pPr lvl="1" algn="just">
              <a:lnSpc>
                <a:spcPct val="150000"/>
              </a:lnSpc>
            </a:pPr>
            <a:r>
              <a:rPr lang="en-US" altLang="en-US" dirty="0">
                <a:latin typeface="Times-Roman"/>
              </a:rPr>
              <a:t>			allows you to change the </a:t>
            </a:r>
            <a:r>
              <a:rPr lang="en-US" altLang="en-US" dirty="0" err="1">
                <a:latin typeface="Times-Roman"/>
              </a:rPr>
              <a:t>LayoutManager</a:t>
            </a:r>
            <a:r>
              <a:rPr lang="en-US" altLang="en-US" dirty="0">
                <a:latin typeface="Times-Roman"/>
              </a:rPr>
              <a:t> of the 			corresponding Container.</a:t>
            </a:r>
          </a:p>
        </p:txBody>
      </p:sp>
      <p:sp>
        <p:nvSpPr>
          <p:cNvPr id="3" name="Footer Placeholder 2">
            <a:extLst>
              <a:ext uri="{FF2B5EF4-FFF2-40B4-BE49-F238E27FC236}">
                <a16:creationId xmlns:a16="http://schemas.microsoft.com/office/drawing/2014/main" id="{A128E507-3179-4515-9372-371AE63CE706}"/>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C7D6CCCA-3223-4BBE-0C27-690D2B091447}"/>
              </a:ext>
            </a:extLst>
          </p:cNvPr>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a:extLst>
              <a:ext uri="{FF2B5EF4-FFF2-40B4-BE49-F238E27FC236}">
                <a16:creationId xmlns:a16="http://schemas.microsoft.com/office/drawing/2014/main" id="{8A2CA5C4-E41A-C10D-F051-7437FDC7B7FD}"/>
              </a:ext>
            </a:extLst>
          </p:cNvPr>
          <p:cNvSpPr txBox="1">
            <a:spLocks noChangeArrowheads="1"/>
          </p:cNvSpPr>
          <p:nvPr/>
        </p:nvSpPr>
        <p:spPr bwMode="auto">
          <a:xfrm>
            <a:off x="4419456" y="685801"/>
            <a:ext cx="34291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latin typeface="Times-Roman"/>
              </a:rPr>
              <a:t>Layout Managers</a:t>
            </a:r>
          </a:p>
        </p:txBody>
      </p:sp>
      <p:sp>
        <p:nvSpPr>
          <p:cNvPr id="106499" name="Text Box 3">
            <a:extLst>
              <a:ext uri="{FF2B5EF4-FFF2-40B4-BE49-F238E27FC236}">
                <a16:creationId xmlns:a16="http://schemas.microsoft.com/office/drawing/2014/main" id="{316E88F3-18B1-28C4-051B-8F66DD40A6F4}"/>
              </a:ext>
            </a:extLst>
          </p:cNvPr>
          <p:cNvSpPr txBox="1">
            <a:spLocks noChangeArrowheads="1"/>
          </p:cNvSpPr>
          <p:nvPr/>
        </p:nvSpPr>
        <p:spPr bwMode="auto">
          <a:xfrm>
            <a:off x="914400" y="1587501"/>
            <a:ext cx="10210800"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lgn="just">
              <a:lnSpc>
                <a:spcPct val="150000"/>
              </a:lnSpc>
              <a:buFontTx/>
              <a:buChar char="•"/>
            </a:pPr>
            <a:r>
              <a:rPr lang="en-US" altLang="en-US" dirty="0">
                <a:latin typeface="Times-Roman"/>
              </a:rPr>
              <a:t>There are five </a:t>
            </a:r>
            <a:r>
              <a:rPr lang="en-US" altLang="en-US" dirty="0" err="1">
                <a:latin typeface="Arial" panose="020B0604020202020204" pitchFamily="34" charset="0"/>
              </a:rPr>
              <a:t>LayoutManagers</a:t>
            </a:r>
            <a:r>
              <a:rPr lang="en-US" altLang="en-US" dirty="0">
                <a:latin typeface="Times-Roman"/>
              </a:rPr>
              <a:t> in Java:</a:t>
            </a:r>
          </a:p>
          <a:p>
            <a:pPr algn="just">
              <a:lnSpc>
                <a:spcPct val="150000"/>
              </a:lnSpc>
            </a:pPr>
            <a:r>
              <a:rPr lang="en-US" altLang="en-US" sz="2000" dirty="0">
                <a:latin typeface="Times-Roman"/>
              </a:rPr>
              <a:t>	</a:t>
            </a:r>
            <a:r>
              <a:rPr lang="en-US" altLang="en-US" sz="2000" dirty="0">
                <a:latin typeface="Arial" panose="020B0604020202020204" pitchFamily="34" charset="0"/>
              </a:rPr>
              <a:t>-	</a:t>
            </a:r>
            <a:r>
              <a:rPr lang="en-US" altLang="en-US" sz="2000" dirty="0" err="1">
                <a:latin typeface="Arial" panose="020B0604020202020204" pitchFamily="34" charset="0"/>
              </a:rPr>
              <a:t>FlowLayout</a:t>
            </a:r>
            <a:endParaRPr lang="en-US" altLang="en-US" sz="2000" dirty="0">
              <a:latin typeface="Arial" panose="020B0604020202020204" pitchFamily="34" charset="0"/>
            </a:endParaRPr>
          </a:p>
          <a:p>
            <a:pPr algn="just">
              <a:lnSpc>
                <a:spcPct val="150000"/>
              </a:lnSpc>
            </a:pPr>
            <a:r>
              <a:rPr lang="en-US" altLang="en-US" sz="2000" dirty="0">
                <a:latin typeface="Arial" panose="020B0604020202020204" pitchFamily="34" charset="0"/>
              </a:rPr>
              <a:t>	-	</a:t>
            </a:r>
            <a:r>
              <a:rPr lang="en-US" altLang="en-US" sz="2000" dirty="0" err="1">
                <a:latin typeface="Arial" panose="020B0604020202020204" pitchFamily="34" charset="0"/>
              </a:rPr>
              <a:t>BorderLayout</a:t>
            </a:r>
            <a:endParaRPr lang="en-US" altLang="en-US" sz="2000" dirty="0">
              <a:latin typeface="Arial" panose="020B0604020202020204" pitchFamily="34" charset="0"/>
            </a:endParaRPr>
          </a:p>
          <a:p>
            <a:pPr algn="just">
              <a:lnSpc>
                <a:spcPct val="150000"/>
              </a:lnSpc>
            </a:pPr>
            <a:r>
              <a:rPr lang="en-US" altLang="en-US" sz="2000" dirty="0">
                <a:latin typeface="Arial" panose="020B0604020202020204" pitchFamily="34" charset="0"/>
              </a:rPr>
              <a:t>	-	</a:t>
            </a:r>
            <a:r>
              <a:rPr lang="en-US" altLang="en-US" sz="2000" dirty="0" err="1">
                <a:latin typeface="Arial" panose="020B0604020202020204" pitchFamily="34" charset="0"/>
              </a:rPr>
              <a:t>CardLayout</a:t>
            </a:r>
            <a:endParaRPr lang="en-US" altLang="en-US" sz="2000" dirty="0">
              <a:latin typeface="Arial" panose="020B0604020202020204" pitchFamily="34" charset="0"/>
            </a:endParaRPr>
          </a:p>
          <a:p>
            <a:pPr algn="just">
              <a:lnSpc>
                <a:spcPct val="150000"/>
              </a:lnSpc>
            </a:pPr>
            <a:r>
              <a:rPr lang="en-US" altLang="en-US" sz="2000" dirty="0">
                <a:latin typeface="Arial" panose="020B0604020202020204" pitchFamily="34" charset="0"/>
              </a:rPr>
              <a:t>	-	</a:t>
            </a:r>
            <a:r>
              <a:rPr lang="en-US" altLang="en-US" sz="2000" dirty="0" err="1">
                <a:latin typeface="Arial" panose="020B0604020202020204" pitchFamily="34" charset="0"/>
              </a:rPr>
              <a:t>GridLayout</a:t>
            </a:r>
            <a:endParaRPr lang="en-US" altLang="en-US" sz="2000" dirty="0">
              <a:latin typeface="Arial" panose="020B0604020202020204" pitchFamily="34" charset="0"/>
            </a:endParaRPr>
          </a:p>
          <a:p>
            <a:pPr algn="just">
              <a:lnSpc>
                <a:spcPct val="150000"/>
              </a:lnSpc>
            </a:pPr>
            <a:r>
              <a:rPr lang="en-US" altLang="en-US" sz="2000" dirty="0">
                <a:latin typeface="Arial" panose="020B0604020202020204" pitchFamily="34" charset="0"/>
              </a:rPr>
              <a:t>	-	</a:t>
            </a:r>
            <a:r>
              <a:rPr lang="en-US" altLang="en-US" sz="2000" dirty="0" err="1">
                <a:latin typeface="Arial" panose="020B0604020202020204" pitchFamily="34" charset="0"/>
              </a:rPr>
              <a:t>GridBagLayout</a:t>
            </a:r>
            <a:endParaRPr lang="en-US" altLang="en-US" dirty="0">
              <a:latin typeface="Arial" panose="020B0604020202020204" pitchFamily="34" charset="0"/>
            </a:endParaRPr>
          </a:p>
          <a:p>
            <a:pPr lvl="1" algn="just">
              <a:buFontTx/>
              <a:buChar char="•"/>
            </a:pPr>
            <a:r>
              <a:rPr lang="en-US" altLang="en-US" dirty="0">
                <a:latin typeface="Times-Roman"/>
              </a:rPr>
              <a:t>In simple applets or applications, only one layout manager would be needed. But for more complex designs, panels should be used to break up the drawing area, layout the panels according to layout manager, and finally give each panel a layout manager to arrange the components inside it.</a:t>
            </a:r>
            <a:endParaRPr lang="en-US" altLang="en-US" sz="2000" dirty="0">
              <a:latin typeface="Times-Roman"/>
            </a:endParaRPr>
          </a:p>
        </p:txBody>
      </p:sp>
      <p:sp>
        <p:nvSpPr>
          <p:cNvPr id="3" name="Footer Placeholder 2">
            <a:extLst>
              <a:ext uri="{FF2B5EF4-FFF2-40B4-BE49-F238E27FC236}">
                <a16:creationId xmlns:a16="http://schemas.microsoft.com/office/drawing/2014/main" id="{427DA800-362E-777D-BDC7-E203BC49932A}"/>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27F18026-060F-262D-8FFE-EA7F3B051A1E}"/>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a:extLst>
              <a:ext uri="{FF2B5EF4-FFF2-40B4-BE49-F238E27FC236}">
                <a16:creationId xmlns:a16="http://schemas.microsoft.com/office/drawing/2014/main" id="{6051F076-D887-D1F6-AF5C-55889B691A29}"/>
              </a:ext>
            </a:extLst>
          </p:cNvPr>
          <p:cNvSpPr txBox="1">
            <a:spLocks noChangeArrowheads="1"/>
          </p:cNvSpPr>
          <p:nvPr/>
        </p:nvSpPr>
        <p:spPr bwMode="auto">
          <a:xfrm>
            <a:off x="4343401" y="304800"/>
            <a:ext cx="30828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u="sng" dirty="0">
                <a:latin typeface="Times-Roman"/>
              </a:rPr>
              <a:t>1. </a:t>
            </a:r>
            <a:r>
              <a:rPr lang="en-US" altLang="en-US" sz="3600" u="sng" dirty="0" err="1">
                <a:latin typeface="Times-Roman"/>
              </a:rPr>
              <a:t>FlowLayouts</a:t>
            </a:r>
            <a:endParaRPr lang="en-US" altLang="en-US" sz="3600" u="sng" dirty="0">
              <a:latin typeface="Times-Roman"/>
            </a:endParaRPr>
          </a:p>
        </p:txBody>
      </p:sp>
      <p:sp>
        <p:nvSpPr>
          <p:cNvPr id="107523" name="Text Box 3">
            <a:extLst>
              <a:ext uri="{FF2B5EF4-FFF2-40B4-BE49-F238E27FC236}">
                <a16:creationId xmlns:a16="http://schemas.microsoft.com/office/drawing/2014/main" id="{A2375C86-A7DE-EABF-E75E-6883FC63B3A5}"/>
              </a:ext>
            </a:extLst>
          </p:cNvPr>
          <p:cNvSpPr txBox="1">
            <a:spLocks noChangeArrowheads="1"/>
          </p:cNvSpPr>
          <p:nvPr/>
        </p:nvSpPr>
        <p:spPr bwMode="auto">
          <a:xfrm>
            <a:off x="1066799" y="1066800"/>
            <a:ext cx="10145683" cy="5288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lnSpc>
                <a:spcPct val="150000"/>
              </a:lnSpc>
              <a:buFontTx/>
              <a:buChar char="•"/>
            </a:pPr>
            <a:r>
              <a:rPr lang="en-US" altLang="en-US" dirty="0">
                <a:latin typeface="Times-Roman"/>
              </a:rPr>
              <a:t>This Layout positions Components left to right until there is no more space available. Then it begins on the next row and continues from there going left to right.</a:t>
            </a:r>
          </a:p>
          <a:p>
            <a:pPr lvl="1">
              <a:lnSpc>
                <a:spcPct val="150000"/>
              </a:lnSpc>
              <a:buFontTx/>
              <a:buChar char="•"/>
            </a:pPr>
            <a:r>
              <a:rPr lang="en-US" altLang="en-US" dirty="0">
                <a:latin typeface="Times-Roman"/>
              </a:rPr>
              <a:t>This is the default layout for applets and panels.</a:t>
            </a:r>
          </a:p>
          <a:p>
            <a:pPr lvl="1">
              <a:lnSpc>
                <a:spcPct val="150000"/>
              </a:lnSpc>
              <a:buFontTx/>
              <a:buChar char="•"/>
            </a:pPr>
            <a:r>
              <a:rPr lang="en-US" altLang="en-US" dirty="0">
                <a:latin typeface="Times-Roman"/>
              </a:rPr>
              <a:t>It has three class constants:</a:t>
            </a:r>
          </a:p>
          <a:p>
            <a:pPr>
              <a:lnSpc>
                <a:spcPct val="150000"/>
              </a:lnSpc>
            </a:pPr>
            <a:r>
              <a:rPr lang="en-US" altLang="en-US" sz="2000" dirty="0">
                <a:latin typeface="Times-Roman"/>
              </a:rPr>
              <a:t>	</a:t>
            </a:r>
            <a:r>
              <a:rPr lang="en-US" altLang="en-US" sz="2000" dirty="0">
                <a:latin typeface="Arial" panose="020B0604020202020204" pitchFamily="34" charset="0"/>
              </a:rPr>
              <a:t>-	</a:t>
            </a:r>
            <a:r>
              <a:rPr lang="en-US" altLang="en-US" sz="2000" dirty="0" err="1">
                <a:latin typeface="Arial" panose="020B0604020202020204" pitchFamily="34" charset="0"/>
              </a:rPr>
              <a:t>FlowLayout</a:t>
            </a:r>
            <a:r>
              <a:rPr lang="en-US" altLang="en-US" sz="2000" dirty="0">
                <a:latin typeface="Arial" panose="020B0604020202020204" pitchFamily="34" charset="0"/>
              </a:rPr>
              <a:t>. LEFT</a:t>
            </a:r>
          </a:p>
          <a:p>
            <a:pPr>
              <a:lnSpc>
                <a:spcPct val="150000"/>
              </a:lnSpc>
            </a:pPr>
            <a:r>
              <a:rPr lang="en-US" altLang="en-US" sz="2000" dirty="0">
                <a:latin typeface="Arial" panose="020B0604020202020204" pitchFamily="34" charset="0"/>
              </a:rPr>
              <a:t>	-	</a:t>
            </a:r>
            <a:r>
              <a:rPr lang="en-US" altLang="en-US" sz="2000" dirty="0" err="1">
                <a:latin typeface="Arial" panose="020B0604020202020204" pitchFamily="34" charset="0"/>
              </a:rPr>
              <a:t>FlowLayout</a:t>
            </a:r>
            <a:r>
              <a:rPr lang="en-US" altLang="en-US" sz="2000" dirty="0">
                <a:latin typeface="Arial" panose="020B0604020202020204" pitchFamily="34" charset="0"/>
              </a:rPr>
              <a:t>. CENTER</a:t>
            </a:r>
          </a:p>
          <a:p>
            <a:pPr>
              <a:lnSpc>
                <a:spcPct val="150000"/>
              </a:lnSpc>
            </a:pPr>
            <a:r>
              <a:rPr lang="en-US" altLang="en-US" sz="2000" dirty="0">
                <a:latin typeface="Arial" panose="020B0604020202020204" pitchFamily="34" charset="0"/>
              </a:rPr>
              <a:t>	-	</a:t>
            </a:r>
            <a:r>
              <a:rPr lang="en-US" altLang="en-US" sz="2000" dirty="0" err="1">
                <a:latin typeface="Arial" panose="020B0604020202020204" pitchFamily="34" charset="0"/>
              </a:rPr>
              <a:t>FlowLayout</a:t>
            </a:r>
            <a:r>
              <a:rPr lang="en-US" altLang="en-US" sz="2000" dirty="0">
                <a:latin typeface="Arial" panose="020B0604020202020204" pitchFamily="34" charset="0"/>
              </a:rPr>
              <a:t>. RIGHT</a:t>
            </a:r>
            <a:endParaRPr lang="en-US" altLang="en-US" dirty="0">
              <a:latin typeface="Arial" panose="020B0604020202020204" pitchFamily="34" charset="0"/>
            </a:endParaRPr>
          </a:p>
          <a:p>
            <a:pPr lvl="1">
              <a:lnSpc>
                <a:spcPct val="150000"/>
              </a:lnSpc>
              <a:buFontTx/>
              <a:buChar char="•"/>
            </a:pPr>
            <a:r>
              <a:rPr lang="en-US" altLang="en-US" dirty="0">
                <a:latin typeface="Times-Roman"/>
              </a:rPr>
              <a:t>These correspond to the three possible alignments that a </a:t>
            </a:r>
            <a:r>
              <a:rPr lang="en-US" altLang="en-US" dirty="0" err="1">
                <a:latin typeface="Arial" panose="020B0604020202020204" pitchFamily="34" charset="0"/>
              </a:rPr>
              <a:t>FlowLayout</a:t>
            </a:r>
            <a:r>
              <a:rPr lang="en-US" altLang="en-US" dirty="0">
                <a:latin typeface="Times-Roman"/>
              </a:rPr>
              <a:t> can have.</a:t>
            </a:r>
          </a:p>
        </p:txBody>
      </p:sp>
      <p:sp>
        <p:nvSpPr>
          <p:cNvPr id="3" name="Footer Placeholder 2">
            <a:extLst>
              <a:ext uri="{FF2B5EF4-FFF2-40B4-BE49-F238E27FC236}">
                <a16:creationId xmlns:a16="http://schemas.microsoft.com/office/drawing/2014/main" id="{1002EC7B-C2BC-623E-A5C1-A7A80204E42E}"/>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DEE0911F-06C1-3EA1-88B4-00ACE5A01C54}"/>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a:extLst>
              <a:ext uri="{FF2B5EF4-FFF2-40B4-BE49-F238E27FC236}">
                <a16:creationId xmlns:a16="http://schemas.microsoft.com/office/drawing/2014/main" id="{0FBBD3F2-AFF9-57CF-21CB-A232644CA699}"/>
              </a:ext>
            </a:extLst>
          </p:cNvPr>
          <p:cNvSpPr txBox="1">
            <a:spLocks noChangeArrowheads="1"/>
          </p:cNvSpPr>
          <p:nvPr/>
        </p:nvSpPr>
        <p:spPr bwMode="auto">
          <a:xfrm>
            <a:off x="4566073" y="609600"/>
            <a:ext cx="3565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latin typeface="Times-Roman"/>
              </a:rPr>
              <a:t>1. </a:t>
            </a:r>
            <a:r>
              <a:rPr lang="en-US" altLang="en-US" sz="2800" u="sng" dirty="0" err="1">
                <a:latin typeface="Times-Roman"/>
              </a:rPr>
              <a:t>FlowLayouts</a:t>
            </a:r>
            <a:r>
              <a:rPr lang="en-US" altLang="en-US" sz="2800" u="sng" dirty="0">
                <a:latin typeface="Times-Roman"/>
              </a:rPr>
              <a:t> (cont..)</a:t>
            </a:r>
          </a:p>
        </p:txBody>
      </p:sp>
      <p:sp>
        <p:nvSpPr>
          <p:cNvPr id="108547" name="Text Box 3">
            <a:extLst>
              <a:ext uri="{FF2B5EF4-FFF2-40B4-BE49-F238E27FC236}">
                <a16:creationId xmlns:a16="http://schemas.microsoft.com/office/drawing/2014/main" id="{88A419B1-A86F-C0E1-CF7D-2A8F314D857C}"/>
              </a:ext>
            </a:extLst>
          </p:cNvPr>
          <p:cNvSpPr txBox="1">
            <a:spLocks noChangeArrowheads="1"/>
          </p:cNvSpPr>
          <p:nvPr/>
        </p:nvSpPr>
        <p:spPr bwMode="auto">
          <a:xfrm>
            <a:off x="914399" y="1447800"/>
            <a:ext cx="10298083"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lgn="just">
              <a:buFontTx/>
              <a:buChar char="•"/>
            </a:pPr>
            <a:r>
              <a:rPr lang="en-US" altLang="en-US" dirty="0">
                <a:latin typeface="Times-Roman"/>
              </a:rPr>
              <a:t>There are also two private variables that allow you to</a:t>
            </a:r>
          </a:p>
          <a:p>
            <a:pPr algn="just"/>
            <a:r>
              <a:rPr lang="en-US" altLang="en-US" dirty="0">
                <a:latin typeface="Times-Roman"/>
              </a:rPr>
              <a:t>	specify the horizontal and vertical gaps between Components 	and rows of Components. </a:t>
            </a:r>
            <a:r>
              <a:rPr lang="en-US" altLang="en-US" dirty="0">
                <a:solidFill>
                  <a:srgbClr val="000000"/>
                </a:solidFill>
              </a:rPr>
              <a:t>These two variables can be changed 	when calling the </a:t>
            </a:r>
            <a:r>
              <a:rPr lang="en-US" altLang="en-US" dirty="0" err="1">
                <a:solidFill>
                  <a:srgbClr val="000000"/>
                </a:solidFill>
                <a:latin typeface="Arial" panose="020B0604020202020204" pitchFamily="34" charset="0"/>
              </a:rPr>
              <a:t>FlowLayout</a:t>
            </a:r>
            <a:r>
              <a:rPr lang="en-US" altLang="en-US" dirty="0">
                <a:solidFill>
                  <a:srgbClr val="000000"/>
                </a:solidFill>
              </a:rPr>
              <a:t> constructor. </a:t>
            </a:r>
            <a:endParaRPr lang="en-US" altLang="en-US" dirty="0">
              <a:latin typeface="Times-Roman"/>
            </a:endParaRPr>
          </a:p>
          <a:p>
            <a:pPr lvl="1" algn="just">
              <a:buFontTx/>
              <a:buChar char="•"/>
            </a:pPr>
            <a:r>
              <a:rPr lang="en-US" altLang="en-US" dirty="0">
                <a:latin typeface="Times-Roman"/>
              </a:rPr>
              <a:t>There are three constructors for this layout:</a:t>
            </a:r>
          </a:p>
          <a:p>
            <a:pPr algn="just">
              <a:lnSpc>
                <a:spcPct val="150000"/>
              </a:lnSpc>
            </a:pPr>
            <a:r>
              <a:rPr lang="en-US" altLang="en-US" sz="2000" dirty="0">
                <a:latin typeface="Times-Roman"/>
              </a:rPr>
              <a:t>	</a:t>
            </a:r>
            <a:r>
              <a:rPr lang="en-US" altLang="en-US" sz="2000" dirty="0">
                <a:latin typeface="Arial" panose="020B0604020202020204" pitchFamily="34" charset="0"/>
              </a:rPr>
              <a:t>-	</a:t>
            </a:r>
            <a:r>
              <a:rPr lang="en-US" altLang="en-US" sz="2000" dirty="0" err="1">
                <a:latin typeface="Arial" panose="020B0604020202020204" pitchFamily="34" charset="0"/>
              </a:rPr>
              <a:t>FlowLayout</a:t>
            </a:r>
            <a:r>
              <a:rPr lang="en-US" altLang="en-US" sz="2000" dirty="0">
                <a:latin typeface="Arial" panose="020B0604020202020204" pitchFamily="34" charset="0"/>
              </a:rPr>
              <a:t>()</a:t>
            </a:r>
            <a:endParaRPr lang="en-US" altLang="en-US" sz="2000" dirty="0">
              <a:latin typeface="Times-Roman"/>
            </a:endParaRPr>
          </a:p>
          <a:p>
            <a:pPr algn="just">
              <a:lnSpc>
                <a:spcPct val="150000"/>
              </a:lnSpc>
            </a:pPr>
            <a:r>
              <a:rPr lang="en-US" altLang="en-US" sz="2000" dirty="0">
                <a:latin typeface="Times-Roman"/>
              </a:rPr>
              <a:t>			center aligned, with horizontal and vertical gaps of 5 pixels each</a:t>
            </a:r>
          </a:p>
          <a:p>
            <a:pPr algn="just">
              <a:lnSpc>
                <a:spcPct val="150000"/>
              </a:lnSpc>
            </a:pPr>
            <a:r>
              <a:rPr lang="en-US" altLang="en-US" sz="2000" dirty="0">
                <a:latin typeface="Times-Roman"/>
              </a:rPr>
              <a:t>	-	</a:t>
            </a:r>
            <a:r>
              <a:rPr lang="en-US" altLang="en-US" sz="2000" dirty="0" err="1">
                <a:latin typeface="Arial" panose="020B0604020202020204" pitchFamily="34" charset="0"/>
              </a:rPr>
              <a:t>FlowLayout</a:t>
            </a:r>
            <a:r>
              <a:rPr lang="en-US" altLang="en-US" sz="2000" dirty="0">
                <a:latin typeface="Arial" panose="020B0604020202020204" pitchFamily="34" charset="0"/>
              </a:rPr>
              <a:t>( int alignment)</a:t>
            </a:r>
            <a:endParaRPr lang="en-US" altLang="en-US" sz="2000" dirty="0">
              <a:latin typeface="Times-Roman"/>
            </a:endParaRPr>
          </a:p>
          <a:p>
            <a:pPr algn="just">
              <a:lnSpc>
                <a:spcPct val="150000"/>
              </a:lnSpc>
            </a:pPr>
            <a:r>
              <a:rPr lang="en-US" altLang="en-US" sz="2000" dirty="0">
                <a:latin typeface="Times-Roman"/>
              </a:rPr>
              <a:t>			specified alignment, with horizontal and vertical gaps of 5 pixels each</a:t>
            </a:r>
          </a:p>
          <a:p>
            <a:pPr algn="just">
              <a:lnSpc>
                <a:spcPct val="150000"/>
              </a:lnSpc>
            </a:pPr>
            <a:r>
              <a:rPr lang="en-US" altLang="en-US" sz="2000" dirty="0">
                <a:latin typeface="Times-Roman"/>
              </a:rPr>
              <a:t>	-	</a:t>
            </a:r>
            <a:r>
              <a:rPr lang="en-US" altLang="en-US" sz="2000" dirty="0" err="1">
                <a:latin typeface="Arial" panose="020B0604020202020204" pitchFamily="34" charset="0"/>
              </a:rPr>
              <a:t>FlowLayout</a:t>
            </a:r>
            <a:r>
              <a:rPr lang="en-US" altLang="en-US" sz="2000" dirty="0">
                <a:latin typeface="Arial" panose="020B0604020202020204" pitchFamily="34" charset="0"/>
              </a:rPr>
              <a:t>( int alignment, int </a:t>
            </a:r>
            <a:r>
              <a:rPr lang="en-US" altLang="en-US" sz="2000" dirty="0" err="1">
                <a:latin typeface="Arial" panose="020B0604020202020204" pitchFamily="34" charset="0"/>
              </a:rPr>
              <a:t>hGap</a:t>
            </a:r>
            <a:r>
              <a:rPr lang="en-US" altLang="en-US" sz="2000" dirty="0">
                <a:latin typeface="Arial" panose="020B0604020202020204" pitchFamily="34" charset="0"/>
              </a:rPr>
              <a:t>, int </a:t>
            </a:r>
            <a:r>
              <a:rPr lang="en-US" altLang="en-US" sz="2000" dirty="0" err="1">
                <a:latin typeface="Arial" panose="020B0604020202020204" pitchFamily="34" charset="0"/>
              </a:rPr>
              <a:t>vGap</a:t>
            </a:r>
            <a:r>
              <a:rPr lang="en-US" altLang="en-US" sz="2000" dirty="0">
                <a:latin typeface="Arial" panose="020B0604020202020204" pitchFamily="34" charset="0"/>
              </a:rPr>
              <a:t>)</a:t>
            </a:r>
            <a:endParaRPr lang="en-US" altLang="en-US" sz="2000" dirty="0">
              <a:latin typeface="Times-Roman"/>
            </a:endParaRPr>
          </a:p>
          <a:p>
            <a:pPr algn="just">
              <a:lnSpc>
                <a:spcPct val="150000"/>
              </a:lnSpc>
            </a:pPr>
            <a:r>
              <a:rPr lang="en-US" altLang="en-US" sz="2000" dirty="0">
                <a:latin typeface="Times-Roman"/>
              </a:rPr>
              <a:t>			specified alignments and gaps</a:t>
            </a:r>
          </a:p>
        </p:txBody>
      </p:sp>
      <p:sp>
        <p:nvSpPr>
          <p:cNvPr id="3" name="Footer Placeholder 2">
            <a:extLst>
              <a:ext uri="{FF2B5EF4-FFF2-40B4-BE49-F238E27FC236}">
                <a16:creationId xmlns:a16="http://schemas.microsoft.com/office/drawing/2014/main" id="{DBE43B6B-7E2C-17C0-EBC8-7ABE498D94DF}"/>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B5B825DD-3729-218F-FC42-21FC641621D1}"/>
              </a:ext>
            </a:extLst>
          </p:cNvPr>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a:extLst>
              <a:ext uri="{FF2B5EF4-FFF2-40B4-BE49-F238E27FC236}">
                <a16:creationId xmlns:a16="http://schemas.microsoft.com/office/drawing/2014/main" id="{A4F390F0-B8DA-6CF0-7175-EF4FF61B994B}"/>
              </a:ext>
            </a:extLst>
          </p:cNvPr>
          <p:cNvSpPr txBox="1">
            <a:spLocks noChangeArrowheads="1"/>
          </p:cNvSpPr>
          <p:nvPr/>
        </p:nvSpPr>
        <p:spPr bwMode="auto">
          <a:xfrm>
            <a:off x="4664200" y="0"/>
            <a:ext cx="3565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latin typeface="Times-Roman"/>
              </a:rPr>
              <a:t>1. </a:t>
            </a:r>
            <a:r>
              <a:rPr lang="en-US" altLang="en-US" sz="2800" u="sng" dirty="0" err="1">
                <a:latin typeface="Times-Roman"/>
              </a:rPr>
              <a:t>FlowLayouts</a:t>
            </a:r>
            <a:r>
              <a:rPr lang="en-US" altLang="en-US" sz="2800" u="sng" dirty="0">
                <a:latin typeface="Times-Roman"/>
              </a:rPr>
              <a:t> (cont..)</a:t>
            </a:r>
          </a:p>
        </p:txBody>
      </p:sp>
      <p:sp>
        <p:nvSpPr>
          <p:cNvPr id="3" name="Footer Placeholder 2">
            <a:extLst>
              <a:ext uri="{FF2B5EF4-FFF2-40B4-BE49-F238E27FC236}">
                <a16:creationId xmlns:a16="http://schemas.microsoft.com/office/drawing/2014/main" id="{C48BAA6F-7DF5-57B5-1A96-EA34A67D5B49}"/>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1E500833-343B-0A98-A2E1-E215A262216D}"/>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10" name="TextBox 9">
            <a:extLst>
              <a:ext uri="{FF2B5EF4-FFF2-40B4-BE49-F238E27FC236}">
                <a16:creationId xmlns:a16="http://schemas.microsoft.com/office/drawing/2014/main" id="{F0539373-A863-44AA-0088-6D51F644F5F3}"/>
              </a:ext>
            </a:extLst>
          </p:cNvPr>
          <p:cNvSpPr txBox="1"/>
          <p:nvPr/>
        </p:nvSpPr>
        <p:spPr>
          <a:xfrm>
            <a:off x="1752600" y="199846"/>
            <a:ext cx="6096000" cy="6124754"/>
          </a:xfrm>
          <a:prstGeom prst="rect">
            <a:avLst/>
          </a:prstGeom>
          <a:noFill/>
        </p:spPr>
        <p:txBody>
          <a:bodyPr wrap="square">
            <a:spAutoFit/>
          </a:bodyPr>
          <a:lstStyle/>
          <a:p>
            <a:r>
              <a:rPr lang="en-IN" sz="1400" dirty="0"/>
              <a:t>import </a:t>
            </a:r>
            <a:r>
              <a:rPr lang="en-IN" sz="1400" dirty="0" err="1"/>
              <a:t>java.awt</a:t>
            </a:r>
            <a:r>
              <a:rPr lang="en-IN" sz="1400" dirty="0"/>
              <a:t>.*;</a:t>
            </a:r>
          </a:p>
          <a:p>
            <a:r>
              <a:rPr lang="en-IN" sz="1400" dirty="0"/>
              <a:t>import </a:t>
            </a:r>
            <a:r>
              <a:rPr lang="en-IN" sz="1400" dirty="0" err="1"/>
              <a:t>java.awt.event</a:t>
            </a:r>
            <a:r>
              <a:rPr lang="en-IN" sz="1400" dirty="0"/>
              <a:t>.*;</a:t>
            </a:r>
          </a:p>
          <a:p>
            <a:r>
              <a:rPr lang="en-IN" sz="1400" dirty="0"/>
              <a:t>import </a:t>
            </a:r>
            <a:r>
              <a:rPr lang="en-IN" sz="1400" dirty="0" err="1"/>
              <a:t>javax.swing</a:t>
            </a:r>
            <a:r>
              <a:rPr lang="en-IN" sz="1400" dirty="0"/>
              <a:t>.*;</a:t>
            </a:r>
          </a:p>
          <a:p>
            <a:endParaRPr lang="en-IN" sz="1400" dirty="0"/>
          </a:p>
          <a:p>
            <a:r>
              <a:rPr lang="en-IN" sz="1400" dirty="0"/>
              <a:t>public class </a:t>
            </a:r>
            <a:r>
              <a:rPr lang="en-IN" sz="1400" dirty="0" err="1"/>
              <a:t>FlowLayoutExample</a:t>
            </a:r>
            <a:r>
              <a:rPr lang="en-IN" sz="1400" dirty="0"/>
              <a:t> {</a:t>
            </a:r>
          </a:p>
          <a:p>
            <a:r>
              <a:rPr lang="en-IN" sz="1400" dirty="0"/>
              <a:t>   private </a:t>
            </a:r>
            <a:r>
              <a:rPr lang="en-IN" sz="1400" dirty="0" err="1"/>
              <a:t>JFrame</a:t>
            </a:r>
            <a:r>
              <a:rPr lang="en-IN" sz="1400" dirty="0"/>
              <a:t> </a:t>
            </a:r>
            <a:r>
              <a:rPr lang="en-IN" sz="1400" dirty="0" err="1"/>
              <a:t>mainFrame</a:t>
            </a:r>
            <a:r>
              <a:rPr lang="en-IN" sz="1400" dirty="0"/>
              <a:t>;</a:t>
            </a:r>
          </a:p>
          <a:p>
            <a:r>
              <a:rPr lang="en-IN" sz="1400" dirty="0"/>
              <a:t>   private </a:t>
            </a:r>
            <a:r>
              <a:rPr lang="en-IN" sz="1400" dirty="0" err="1"/>
              <a:t>JLabel</a:t>
            </a:r>
            <a:r>
              <a:rPr lang="en-IN" sz="1400" dirty="0"/>
              <a:t> </a:t>
            </a:r>
            <a:r>
              <a:rPr lang="en-IN" sz="1400" dirty="0" err="1"/>
              <a:t>headerLabel</a:t>
            </a:r>
            <a:r>
              <a:rPr lang="en-IN" sz="1400" dirty="0"/>
              <a:t>;</a:t>
            </a:r>
          </a:p>
          <a:p>
            <a:r>
              <a:rPr lang="en-IN" sz="1400" dirty="0"/>
              <a:t>   private </a:t>
            </a:r>
            <a:r>
              <a:rPr lang="en-IN" sz="1400" dirty="0" err="1"/>
              <a:t>JLabel</a:t>
            </a:r>
            <a:r>
              <a:rPr lang="en-IN" sz="1400" dirty="0"/>
              <a:t> </a:t>
            </a:r>
            <a:r>
              <a:rPr lang="en-IN" sz="1400" dirty="0" err="1"/>
              <a:t>statusLabel</a:t>
            </a:r>
            <a:r>
              <a:rPr lang="en-IN" sz="1400" dirty="0"/>
              <a:t>;</a:t>
            </a:r>
          </a:p>
          <a:p>
            <a:r>
              <a:rPr lang="en-IN" sz="1400" dirty="0"/>
              <a:t>   private </a:t>
            </a:r>
            <a:r>
              <a:rPr lang="en-IN" sz="1400" dirty="0" err="1"/>
              <a:t>JPanel</a:t>
            </a:r>
            <a:r>
              <a:rPr lang="en-IN" sz="1400" dirty="0"/>
              <a:t> </a:t>
            </a:r>
            <a:r>
              <a:rPr lang="en-IN" sz="1400" dirty="0" err="1"/>
              <a:t>controlPanel</a:t>
            </a:r>
            <a:r>
              <a:rPr lang="en-IN" sz="1400" dirty="0"/>
              <a:t>;</a:t>
            </a:r>
          </a:p>
          <a:p>
            <a:r>
              <a:rPr lang="en-IN" sz="1400" dirty="0"/>
              <a:t>   private </a:t>
            </a:r>
            <a:r>
              <a:rPr lang="en-IN" sz="1400" dirty="0" err="1"/>
              <a:t>JLabel</a:t>
            </a:r>
            <a:r>
              <a:rPr lang="en-IN" sz="1400" dirty="0"/>
              <a:t> </a:t>
            </a:r>
            <a:r>
              <a:rPr lang="en-IN" sz="1400" dirty="0" err="1"/>
              <a:t>msglabel</a:t>
            </a:r>
            <a:r>
              <a:rPr lang="en-IN" sz="1400" dirty="0"/>
              <a:t>;</a:t>
            </a:r>
          </a:p>
          <a:p>
            <a:r>
              <a:rPr lang="en-IN" sz="1400" dirty="0"/>
              <a:t>   public </a:t>
            </a:r>
            <a:r>
              <a:rPr lang="en-IN" sz="1400" dirty="0" err="1"/>
              <a:t>FlowLayoutExample</a:t>
            </a:r>
            <a:r>
              <a:rPr lang="en-IN" sz="1400" dirty="0"/>
              <a:t>(){</a:t>
            </a:r>
          </a:p>
          <a:p>
            <a:r>
              <a:rPr lang="en-IN" sz="1400" dirty="0"/>
              <a:t>      </a:t>
            </a:r>
            <a:r>
              <a:rPr lang="en-IN" sz="1400" dirty="0" err="1"/>
              <a:t>prepareGUI</a:t>
            </a:r>
            <a:r>
              <a:rPr lang="en-IN" sz="1400" dirty="0"/>
              <a:t>();		        }</a:t>
            </a:r>
          </a:p>
          <a:p>
            <a:r>
              <a:rPr lang="en-IN" sz="1400" dirty="0"/>
              <a:t>   public static void main(String[] </a:t>
            </a:r>
            <a:r>
              <a:rPr lang="en-IN" sz="1400" dirty="0" err="1"/>
              <a:t>args</a:t>
            </a:r>
            <a:r>
              <a:rPr lang="en-IN" sz="1400" dirty="0"/>
              <a:t>){</a:t>
            </a:r>
          </a:p>
          <a:p>
            <a:r>
              <a:rPr lang="en-IN" sz="1400" dirty="0"/>
              <a:t>      </a:t>
            </a:r>
            <a:r>
              <a:rPr lang="en-IN" sz="1400" dirty="0" err="1"/>
              <a:t>FlowLayoutExample</a:t>
            </a:r>
            <a:r>
              <a:rPr lang="en-IN" sz="1400" dirty="0"/>
              <a:t> </a:t>
            </a:r>
            <a:r>
              <a:rPr lang="en-IN" sz="1400" dirty="0" err="1"/>
              <a:t>flowLayoutExample</a:t>
            </a:r>
            <a:r>
              <a:rPr lang="en-IN" sz="1400" dirty="0"/>
              <a:t> = new </a:t>
            </a:r>
            <a:r>
              <a:rPr lang="en-IN" sz="1400" dirty="0" err="1"/>
              <a:t>FlowLayoutExample</a:t>
            </a:r>
            <a:r>
              <a:rPr lang="en-IN" sz="1400" dirty="0"/>
              <a:t>();  </a:t>
            </a:r>
          </a:p>
          <a:p>
            <a:r>
              <a:rPr lang="en-IN" sz="1400" dirty="0"/>
              <a:t>      </a:t>
            </a:r>
            <a:r>
              <a:rPr lang="en-IN" sz="1400" dirty="0" err="1"/>
              <a:t>flowLayoutExample.showFlowLayoutDemo</a:t>
            </a:r>
            <a:r>
              <a:rPr lang="en-IN" sz="1400" dirty="0"/>
              <a:t>();       </a:t>
            </a:r>
          </a:p>
          <a:p>
            <a:r>
              <a:rPr lang="en-IN" sz="1400" dirty="0"/>
              <a:t>   }</a:t>
            </a:r>
          </a:p>
          <a:p>
            <a:r>
              <a:rPr lang="en-IN" sz="1400" dirty="0"/>
              <a:t>   private void </a:t>
            </a:r>
            <a:r>
              <a:rPr lang="en-IN" sz="1400" dirty="0" err="1"/>
              <a:t>prepareGUI</a:t>
            </a:r>
            <a:r>
              <a:rPr lang="en-IN" sz="1400" dirty="0"/>
              <a:t>(){</a:t>
            </a:r>
          </a:p>
          <a:p>
            <a:r>
              <a:rPr lang="en-IN" sz="1400" dirty="0"/>
              <a:t>      </a:t>
            </a:r>
            <a:r>
              <a:rPr lang="en-IN" sz="1400" dirty="0" err="1"/>
              <a:t>mainFrame</a:t>
            </a:r>
            <a:r>
              <a:rPr lang="en-IN" sz="1400" dirty="0"/>
              <a:t> = new </a:t>
            </a:r>
            <a:r>
              <a:rPr lang="en-IN" sz="1400" dirty="0" err="1"/>
              <a:t>JFrame</a:t>
            </a:r>
            <a:r>
              <a:rPr lang="en-IN" sz="1400" dirty="0"/>
              <a:t>("Java SWING Examples");</a:t>
            </a:r>
          </a:p>
          <a:p>
            <a:r>
              <a:rPr lang="en-IN" sz="1400" dirty="0"/>
              <a:t>      </a:t>
            </a:r>
            <a:r>
              <a:rPr lang="en-IN" sz="1400" dirty="0" err="1"/>
              <a:t>mainFrame.setSize</a:t>
            </a:r>
            <a:r>
              <a:rPr lang="en-IN" sz="1400" dirty="0"/>
              <a:t>(400,400);</a:t>
            </a:r>
          </a:p>
          <a:p>
            <a:r>
              <a:rPr lang="en-IN" sz="1400" dirty="0"/>
              <a:t>      </a:t>
            </a:r>
            <a:r>
              <a:rPr lang="en-IN" sz="1400" dirty="0" err="1"/>
              <a:t>mainFrame.setLayout</a:t>
            </a:r>
            <a:r>
              <a:rPr lang="en-IN" sz="1400" dirty="0"/>
              <a:t>(new </a:t>
            </a:r>
            <a:r>
              <a:rPr lang="en-IN" sz="1400" dirty="0" err="1"/>
              <a:t>GridLayout</a:t>
            </a:r>
            <a:r>
              <a:rPr lang="en-IN" sz="1400" dirty="0"/>
              <a:t>(3, 1));</a:t>
            </a:r>
          </a:p>
          <a:p>
            <a:r>
              <a:rPr lang="en-IN" sz="1400" dirty="0"/>
              <a:t>      </a:t>
            </a:r>
            <a:r>
              <a:rPr lang="en-IN" sz="1400" dirty="0" err="1"/>
              <a:t>headerLabel</a:t>
            </a:r>
            <a:r>
              <a:rPr lang="en-IN" sz="1400" dirty="0"/>
              <a:t> = new </a:t>
            </a:r>
            <a:r>
              <a:rPr lang="en-IN" sz="1400" dirty="0" err="1"/>
              <a:t>JLabel</a:t>
            </a:r>
            <a:r>
              <a:rPr lang="en-IN" sz="1400" dirty="0"/>
              <a:t>("",</a:t>
            </a:r>
            <a:r>
              <a:rPr lang="en-IN" sz="1400" dirty="0" err="1"/>
              <a:t>JLabel.CENTER</a:t>
            </a:r>
            <a:r>
              <a:rPr lang="en-IN" sz="1400" dirty="0"/>
              <a:t> );</a:t>
            </a:r>
          </a:p>
          <a:p>
            <a:r>
              <a:rPr lang="en-IN" sz="1400" dirty="0"/>
              <a:t>      </a:t>
            </a:r>
            <a:r>
              <a:rPr lang="en-IN" sz="1400" dirty="0" err="1"/>
              <a:t>statusLabel</a:t>
            </a:r>
            <a:r>
              <a:rPr lang="en-IN" sz="1400" dirty="0"/>
              <a:t> = new </a:t>
            </a:r>
            <a:r>
              <a:rPr lang="en-IN" sz="1400" dirty="0" err="1"/>
              <a:t>JLabel</a:t>
            </a:r>
            <a:r>
              <a:rPr lang="en-IN" sz="1400" dirty="0"/>
              <a:t>("",</a:t>
            </a:r>
            <a:r>
              <a:rPr lang="en-IN" sz="1400" dirty="0" err="1"/>
              <a:t>JLabel.CENTER</a:t>
            </a:r>
            <a:r>
              <a:rPr lang="en-IN" sz="1400" dirty="0"/>
              <a:t>);        </a:t>
            </a:r>
          </a:p>
          <a:p>
            <a:r>
              <a:rPr lang="en-IN" sz="1400" dirty="0"/>
              <a:t>      </a:t>
            </a:r>
            <a:r>
              <a:rPr lang="en-IN" sz="1400" dirty="0" err="1"/>
              <a:t>statusLabel.setSize</a:t>
            </a:r>
            <a:r>
              <a:rPr lang="en-IN" sz="1400" dirty="0"/>
              <a:t>(350,100);</a:t>
            </a:r>
          </a:p>
          <a:p>
            <a:r>
              <a:rPr lang="en-IN" sz="1400" dirty="0"/>
              <a:t>      </a:t>
            </a:r>
            <a:r>
              <a:rPr lang="en-IN" sz="1400" dirty="0" err="1"/>
              <a:t>mainFrame.addWindowListener</a:t>
            </a:r>
            <a:r>
              <a:rPr lang="en-IN" sz="1400" dirty="0"/>
              <a:t>(new </a:t>
            </a:r>
            <a:r>
              <a:rPr lang="en-IN" sz="1400" dirty="0" err="1"/>
              <a:t>WindowAdapter</a:t>
            </a:r>
            <a:r>
              <a:rPr lang="en-IN" sz="1400" dirty="0"/>
              <a:t>() {</a:t>
            </a:r>
          </a:p>
          <a:p>
            <a:r>
              <a:rPr lang="en-IN" sz="1400" dirty="0"/>
              <a:t>         public void </a:t>
            </a:r>
            <a:r>
              <a:rPr lang="en-IN" sz="1400" dirty="0" err="1"/>
              <a:t>windowClosing</a:t>
            </a:r>
            <a:r>
              <a:rPr lang="en-IN" sz="1400" dirty="0"/>
              <a:t>(</a:t>
            </a:r>
            <a:r>
              <a:rPr lang="en-IN" sz="1400" dirty="0" err="1"/>
              <a:t>WindowEvent</a:t>
            </a:r>
            <a:r>
              <a:rPr lang="en-IN" sz="1400" dirty="0"/>
              <a:t> </a:t>
            </a:r>
            <a:r>
              <a:rPr lang="en-IN" sz="1400" dirty="0" err="1"/>
              <a:t>windowEvent</a:t>
            </a:r>
            <a:r>
              <a:rPr lang="en-IN" sz="1400" dirty="0"/>
              <a:t>){</a:t>
            </a:r>
          </a:p>
          <a:p>
            <a:r>
              <a:rPr lang="en-IN" sz="1400" dirty="0"/>
              <a:t>            </a:t>
            </a:r>
            <a:r>
              <a:rPr lang="en-IN" sz="1400" dirty="0" err="1"/>
              <a:t>System.exit</a:t>
            </a:r>
            <a:r>
              <a:rPr lang="en-IN" sz="1400" dirty="0"/>
              <a:t>(0);</a:t>
            </a:r>
          </a:p>
          <a:p>
            <a:r>
              <a:rPr lang="en-IN" sz="1400" dirty="0"/>
              <a:t>         }        </a:t>
            </a:r>
          </a:p>
          <a:p>
            <a:r>
              <a:rPr lang="en-IN" sz="1400" dirty="0"/>
              <a:t>      });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8FCE341-53D8-955D-97DD-9EB931C52F4F}"/>
              </a:ext>
            </a:extLst>
          </p:cNvPr>
          <p:cNvSpPr>
            <a:spLocks noGrp="1"/>
          </p:cNvSpPr>
          <p:nvPr>
            <p:ph type="ftr" sz="quarter" idx="11"/>
          </p:nvPr>
        </p:nvSpPr>
        <p:spPr/>
        <p:txBody>
          <a:bodyPr/>
          <a:lstStyle/>
          <a:p>
            <a:r>
              <a:rPr lang="en-US"/>
              <a:t>Dr. R. K. Ojha, Department of Computer Science &amp; Engineering, Silicon University</a:t>
            </a:r>
          </a:p>
        </p:txBody>
      </p:sp>
      <p:sp>
        <p:nvSpPr>
          <p:cNvPr id="3" name="Slide Number Placeholder 2">
            <a:extLst>
              <a:ext uri="{FF2B5EF4-FFF2-40B4-BE49-F238E27FC236}">
                <a16:creationId xmlns:a16="http://schemas.microsoft.com/office/drawing/2014/main" id="{7C38F5B9-55EE-D429-B70E-6B30CCBD4ED9}"/>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5" name="TextBox 4">
            <a:extLst>
              <a:ext uri="{FF2B5EF4-FFF2-40B4-BE49-F238E27FC236}">
                <a16:creationId xmlns:a16="http://schemas.microsoft.com/office/drawing/2014/main" id="{3464E127-9EB8-8120-5619-19806B24FFC6}"/>
              </a:ext>
            </a:extLst>
          </p:cNvPr>
          <p:cNvSpPr txBox="1"/>
          <p:nvPr/>
        </p:nvSpPr>
        <p:spPr>
          <a:xfrm>
            <a:off x="914400" y="76200"/>
            <a:ext cx="6096000" cy="6247864"/>
          </a:xfrm>
          <a:prstGeom prst="rect">
            <a:avLst/>
          </a:prstGeom>
          <a:noFill/>
        </p:spPr>
        <p:txBody>
          <a:bodyPr wrap="square">
            <a:spAutoFit/>
          </a:bodyPr>
          <a:lstStyle/>
          <a:p>
            <a:r>
              <a:rPr lang="en-IN" sz="1600" dirty="0" err="1"/>
              <a:t>controlPanel</a:t>
            </a:r>
            <a:r>
              <a:rPr lang="en-IN" sz="1600" dirty="0"/>
              <a:t> = new </a:t>
            </a:r>
            <a:r>
              <a:rPr lang="en-IN" sz="1600" dirty="0" err="1"/>
              <a:t>JPanel</a:t>
            </a:r>
            <a:r>
              <a:rPr lang="en-IN" sz="1600" dirty="0"/>
              <a:t>();</a:t>
            </a:r>
          </a:p>
          <a:p>
            <a:r>
              <a:rPr lang="en-IN" sz="1600" dirty="0"/>
              <a:t>      </a:t>
            </a:r>
            <a:r>
              <a:rPr lang="en-IN" sz="1600" dirty="0" err="1"/>
              <a:t>controlPanel.setLayout</a:t>
            </a:r>
            <a:r>
              <a:rPr lang="en-IN" sz="1600" dirty="0"/>
              <a:t>(new </a:t>
            </a:r>
            <a:r>
              <a:rPr lang="en-IN" sz="1600" dirty="0" err="1"/>
              <a:t>FlowLayout</a:t>
            </a:r>
            <a:r>
              <a:rPr lang="en-IN" sz="1600" dirty="0"/>
              <a:t>());</a:t>
            </a:r>
          </a:p>
          <a:p>
            <a:endParaRPr lang="en-IN" sz="1600" dirty="0"/>
          </a:p>
          <a:p>
            <a:r>
              <a:rPr lang="en-IN" sz="1600" dirty="0"/>
              <a:t>      </a:t>
            </a:r>
            <a:r>
              <a:rPr lang="en-IN" sz="1600" dirty="0" err="1"/>
              <a:t>mainFrame.add</a:t>
            </a:r>
            <a:r>
              <a:rPr lang="en-IN" sz="1600" dirty="0"/>
              <a:t>(</a:t>
            </a:r>
            <a:r>
              <a:rPr lang="en-IN" sz="1600" dirty="0" err="1"/>
              <a:t>headerLabel</a:t>
            </a:r>
            <a:r>
              <a:rPr lang="en-IN" sz="1600" dirty="0"/>
              <a:t>);</a:t>
            </a:r>
          </a:p>
          <a:p>
            <a:r>
              <a:rPr lang="en-IN" sz="1600" dirty="0"/>
              <a:t>      </a:t>
            </a:r>
            <a:r>
              <a:rPr lang="en-IN" sz="1600" dirty="0" err="1"/>
              <a:t>mainFrame.add</a:t>
            </a:r>
            <a:r>
              <a:rPr lang="en-IN" sz="1600" dirty="0"/>
              <a:t>(</a:t>
            </a:r>
            <a:r>
              <a:rPr lang="en-IN" sz="1600" dirty="0" err="1"/>
              <a:t>controlPanel</a:t>
            </a:r>
            <a:r>
              <a:rPr lang="en-IN" sz="1600" dirty="0"/>
              <a:t>);</a:t>
            </a:r>
          </a:p>
          <a:p>
            <a:r>
              <a:rPr lang="en-IN" sz="1600" dirty="0"/>
              <a:t>      </a:t>
            </a:r>
            <a:r>
              <a:rPr lang="en-IN" sz="1600" dirty="0" err="1"/>
              <a:t>mainFrame.add</a:t>
            </a:r>
            <a:r>
              <a:rPr lang="en-IN" sz="1600" dirty="0"/>
              <a:t>(</a:t>
            </a:r>
            <a:r>
              <a:rPr lang="en-IN" sz="1600" dirty="0" err="1"/>
              <a:t>statusLabel</a:t>
            </a:r>
            <a:r>
              <a:rPr lang="en-IN" sz="1600" dirty="0"/>
              <a:t>);</a:t>
            </a:r>
          </a:p>
          <a:p>
            <a:r>
              <a:rPr lang="en-IN" sz="1600" dirty="0"/>
              <a:t>      </a:t>
            </a:r>
            <a:r>
              <a:rPr lang="en-IN" sz="1600" dirty="0" err="1"/>
              <a:t>mainFrame.setVisible</a:t>
            </a:r>
            <a:r>
              <a:rPr lang="en-IN" sz="1600" dirty="0"/>
              <a:t>(true);  </a:t>
            </a:r>
          </a:p>
          <a:p>
            <a:r>
              <a:rPr lang="en-IN" sz="1600" dirty="0"/>
              <a:t>   }</a:t>
            </a:r>
          </a:p>
          <a:p>
            <a:r>
              <a:rPr lang="en-IN" sz="1600" dirty="0"/>
              <a:t>   private void </a:t>
            </a:r>
            <a:r>
              <a:rPr lang="en-IN" sz="1600" dirty="0" err="1"/>
              <a:t>showFlowLayoutDemo</a:t>
            </a:r>
            <a:r>
              <a:rPr lang="en-IN" sz="1600" dirty="0"/>
              <a:t>(){</a:t>
            </a:r>
          </a:p>
          <a:p>
            <a:r>
              <a:rPr lang="en-IN" sz="1600" dirty="0"/>
              <a:t>      </a:t>
            </a:r>
            <a:r>
              <a:rPr lang="en-IN" sz="1600" dirty="0" err="1"/>
              <a:t>headerLabel.setText</a:t>
            </a:r>
            <a:r>
              <a:rPr lang="en-IN" sz="1600" dirty="0"/>
              <a:t>("Layout in action: </a:t>
            </a:r>
            <a:r>
              <a:rPr lang="en-IN" sz="1600" dirty="0" err="1"/>
              <a:t>FlowLayout</a:t>
            </a:r>
            <a:r>
              <a:rPr lang="en-IN" sz="1600" dirty="0"/>
              <a:t>");      </a:t>
            </a:r>
          </a:p>
          <a:p>
            <a:endParaRPr lang="en-IN" sz="1600" dirty="0"/>
          </a:p>
          <a:p>
            <a:r>
              <a:rPr lang="en-IN" sz="1600" dirty="0"/>
              <a:t>      </a:t>
            </a:r>
            <a:r>
              <a:rPr lang="en-IN" sz="1600" dirty="0" err="1"/>
              <a:t>JPanel</a:t>
            </a:r>
            <a:r>
              <a:rPr lang="en-IN" sz="1600" dirty="0"/>
              <a:t> panel = new </a:t>
            </a:r>
            <a:r>
              <a:rPr lang="en-IN" sz="1600" dirty="0" err="1"/>
              <a:t>JPanel</a:t>
            </a:r>
            <a:r>
              <a:rPr lang="en-IN" sz="1600" dirty="0"/>
              <a:t>();</a:t>
            </a:r>
          </a:p>
          <a:p>
            <a:r>
              <a:rPr lang="en-IN" sz="1600" dirty="0"/>
              <a:t>      </a:t>
            </a:r>
            <a:r>
              <a:rPr lang="en-IN" sz="1600" dirty="0" err="1"/>
              <a:t>panel.setBackground</a:t>
            </a:r>
            <a:r>
              <a:rPr lang="en-IN" sz="1600" dirty="0"/>
              <a:t>(</a:t>
            </a:r>
            <a:r>
              <a:rPr lang="en-IN" sz="1600" dirty="0" err="1"/>
              <a:t>Color.darkGray</a:t>
            </a:r>
            <a:r>
              <a:rPr lang="en-IN" sz="1600" dirty="0"/>
              <a:t>);</a:t>
            </a:r>
          </a:p>
          <a:p>
            <a:r>
              <a:rPr lang="en-IN" sz="1600" dirty="0"/>
              <a:t>      </a:t>
            </a:r>
            <a:r>
              <a:rPr lang="en-IN" sz="1600" dirty="0" err="1"/>
              <a:t>panel.setSize</a:t>
            </a:r>
            <a:r>
              <a:rPr lang="en-IN" sz="1600" dirty="0"/>
              <a:t>(200,200);</a:t>
            </a:r>
          </a:p>
          <a:p>
            <a:r>
              <a:rPr lang="en-IN" sz="1600" dirty="0"/>
              <a:t>      </a:t>
            </a:r>
            <a:r>
              <a:rPr lang="en-IN" sz="1600" dirty="0" err="1"/>
              <a:t>FlowLayout</a:t>
            </a:r>
            <a:r>
              <a:rPr lang="en-IN" sz="1600" dirty="0"/>
              <a:t> layout = new </a:t>
            </a:r>
            <a:r>
              <a:rPr lang="en-IN" sz="1600" dirty="0" err="1"/>
              <a:t>FlowLayout</a:t>
            </a:r>
            <a:r>
              <a:rPr lang="en-IN" sz="1600" dirty="0"/>
              <a:t>();</a:t>
            </a:r>
          </a:p>
          <a:p>
            <a:r>
              <a:rPr lang="en-IN" sz="1600" dirty="0"/>
              <a:t>      </a:t>
            </a:r>
            <a:r>
              <a:rPr lang="en-IN" sz="1600" dirty="0" err="1"/>
              <a:t>layout.setHgap</a:t>
            </a:r>
            <a:r>
              <a:rPr lang="en-IN" sz="1600" dirty="0"/>
              <a:t>(10);              </a:t>
            </a:r>
          </a:p>
          <a:p>
            <a:r>
              <a:rPr lang="en-IN" sz="1600" dirty="0"/>
              <a:t>      </a:t>
            </a:r>
            <a:r>
              <a:rPr lang="en-IN" sz="1600" dirty="0" err="1"/>
              <a:t>layout.setVgap</a:t>
            </a:r>
            <a:r>
              <a:rPr lang="en-IN" sz="1600" dirty="0"/>
              <a:t>(10);</a:t>
            </a:r>
          </a:p>
          <a:p>
            <a:r>
              <a:rPr lang="en-IN" sz="1600" dirty="0"/>
              <a:t>      </a:t>
            </a:r>
          </a:p>
          <a:p>
            <a:r>
              <a:rPr lang="en-IN" sz="1600" dirty="0"/>
              <a:t>      </a:t>
            </a:r>
            <a:r>
              <a:rPr lang="en-IN" sz="1600" dirty="0" err="1"/>
              <a:t>panel.setLayout</a:t>
            </a:r>
            <a:r>
              <a:rPr lang="en-IN" sz="1600" dirty="0"/>
              <a:t>(layout);        </a:t>
            </a:r>
          </a:p>
          <a:p>
            <a:r>
              <a:rPr lang="en-IN" sz="1600" dirty="0"/>
              <a:t>      </a:t>
            </a:r>
            <a:r>
              <a:rPr lang="en-IN" sz="1600" dirty="0" err="1"/>
              <a:t>panel.add</a:t>
            </a:r>
            <a:r>
              <a:rPr lang="en-IN" sz="1600" dirty="0"/>
              <a:t>(new </a:t>
            </a:r>
            <a:r>
              <a:rPr lang="en-IN" sz="1600" dirty="0" err="1"/>
              <a:t>JButton</a:t>
            </a:r>
            <a:r>
              <a:rPr lang="en-IN" sz="1600" dirty="0"/>
              <a:t>("OK"));</a:t>
            </a:r>
          </a:p>
          <a:p>
            <a:r>
              <a:rPr lang="en-IN" sz="1600" dirty="0"/>
              <a:t>      </a:t>
            </a:r>
            <a:r>
              <a:rPr lang="en-IN" sz="1600" dirty="0" err="1"/>
              <a:t>panel.add</a:t>
            </a:r>
            <a:r>
              <a:rPr lang="en-IN" sz="1600" dirty="0"/>
              <a:t>(new </a:t>
            </a:r>
            <a:r>
              <a:rPr lang="en-IN" sz="1600" dirty="0" err="1"/>
              <a:t>JButton</a:t>
            </a:r>
            <a:r>
              <a:rPr lang="en-IN" sz="1600" dirty="0"/>
              <a:t>("Cancel"));       </a:t>
            </a:r>
          </a:p>
          <a:p>
            <a:r>
              <a:rPr lang="en-IN" sz="1600" dirty="0"/>
              <a:t>      </a:t>
            </a:r>
            <a:r>
              <a:rPr lang="en-IN" sz="1600" dirty="0" err="1"/>
              <a:t>controlPanel.add</a:t>
            </a:r>
            <a:r>
              <a:rPr lang="en-IN" sz="1600" dirty="0"/>
              <a:t>(panel);</a:t>
            </a:r>
          </a:p>
          <a:p>
            <a:r>
              <a:rPr lang="en-IN" sz="1600" dirty="0"/>
              <a:t>      </a:t>
            </a:r>
            <a:r>
              <a:rPr lang="en-IN" sz="1600" dirty="0" err="1"/>
              <a:t>mainFrame.setVisible</a:t>
            </a:r>
            <a:r>
              <a:rPr lang="en-IN" sz="1600" dirty="0"/>
              <a:t>(true);  </a:t>
            </a:r>
          </a:p>
          <a:p>
            <a:r>
              <a:rPr lang="en-IN" sz="1600" dirty="0"/>
              <a:t>   }</a:t>
            </a:r>
          </a:p>
          <a:p>
            <a:r>
              <a:rPr lang="en-IN" sz="1600" dirty="0"/>
              <a:t>}</a:t>
            </a:r>
          </a:p>
        </p:txBody>
      </p:sp>
      <p:pic>
        <p:nvPicPr>
          <p:cNvPr id="6" name="Picture 5">
            <a:extLst>
              <a:ext uri="{FF2B5EF4-FFF2-40B4-BE49-F238E27FC236}">
                <a16:creationId xmlns:a16="http://schemas.microsoft.com/office/drawing/2014/main" id="{79DC85A1-331E-0E2F-8CB7-1F3C5D15A682}"/>
              </a:ext>
            </a:extLst>
          </p:cNvPr>
          <p:cNvPicPr>
            <a:picLocks noChangeAspect="1"/>
          </p:cNvPicPr>
          <p:nvPr/>
        </p:nvPicPr>
        <p:blipFill>
          <a:blip r:embed="rId2"/>
          <a:stretch>
            <a:fillRect/>
          </a:stretch>
        </p:blipFill>
        <p:spPr>
          <a:xfrm>
            <a:off x="7924800" y="1342489"/>
            <a:ext cx="3781953" cy="3839111"/>
          </a:xfrm>
          <a:prstGeom prst="rect">
            <a:avLst/>
          </a:prstGeom>
        </p:spPr>
      </p:pic>
      <p:sp>
        <p:nvSpPr>
          <p:cNvPr id="7" name="Text Box 2">
            <a:extLst>
              <a:ext uri="{FF2B5EF4-FFF2-40B4-BE49-F238E27FC236}">
                <a16:creationId xmlns:a16="http://schemas.microsoft.com/office/drawing/2014/main" id="{9976423F-CABE-91A3-A7BA-2FC6E2F5FF15}"/>
              </a:ext>
            </a:extLst>
          </p:cNvPr>
          <p:cNvSpPr txBox="1">
            <a:spLocks noChangeArrowheads="1"/>
          </p:cNvSpPr>
          <p:nvPr/>
        </p:nvSpPr>
        <p:spPr bwMode="auto">
          <a:xfrm>
            <a:off x="6188200" y="0"/>
            <a:ext cx="3565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latin typeface="Times-Roman"/>
              </a:rPr>
              <a:t>1. </a:t>
            </a:r>
            <a:r>
              <a:rPr lang="en-US" altLang="en-US" sz="2800" u="sng" dirty="0" err="1">
                <a:latin typeface="Times-Roman"/>
              </a:rPr>
              <a:t>FlowLayouts</a:t>
            </a:r>
            <a:r>
              <a:rPr lang="en-US" altLang="en-US" sz="2800" u="sng" dirty="0">
                <a:latin typeface="Times-Roman"/>
              </a:rPr>
              <a:t> (cont..)</a:t>
            </a:r>
          </a:p>
        </p:txBody>
      </p:sp>
    </p:spTree>
    <p:extLst>
      <p:ext uri="{BB962C8B-B14F-4D97-AF65-F5344CB8AC3E}">
        <p14:creationId xmlns:p14="http://schemas.microsoft.com/office/powerpoint/2010/main" val="2617906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2">
            <a:extLst>
              <a:ext uri="{FF2B5EF4-FFF2-40B4-BE49-F238E27FC236}">
                <a16:creationId xmlns:a16="http://schemas.microsoft.com/office/drawing/2014/main" id="{8EE14BCB-5B5C-0DD2-1188-05813FC87786}"/>
              </a:ext>
            </a:extLst>
          </p:cNvPr>
          <p:cNvSpPr txBox="1">
            <a:spLocks noChangeArrowheads="1"/>
          </p:cNvSpPr>
          <p:nvPr/>
        </p:nvSpPr>
        <p:spPr bwMode="auto">
          <a:xfrm>
            <a:off x="4648201" y="609601"/>
            <a:ext cx="30572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u="sng" dirty="0">
                <a:latin typeface="Times-Roman"/>
              </a:rPr>
              <a:t>2. </a:t>
            </a:r>
            <a:r>
              <a:rPr lang="en-US" altLang="en-US" sz="3200" u="sng" dirty="0" err="1">
                <a:latin typeface="Times-Roman"/>
              </a:rPr>
              <a:t>BorderLayouts</a:t>
            </a:r>
            <a:endParaRPr lang="en-US" altLang="en-US" sz="3200" u="sng" dirty="0">
              <a:latin typeface="Times-Roman"/>
            </a:endParaRPr>
          </a:p>
        </p:txBody>
      </p:sp>
      <p:sp>
        <p:nvSpPr>
          <p:cNvPr id="113667" name="Text Box 3">
            <a:extLst>
              <a:ext uri="{FF2B5EF4-FFF2-40B4-BE49-F238E27FC236}">
                <a16:creationId xmlns:a16="http://schemas.microsoft.com/office/drawing/2014/main" id="{30B795C8-B648-C0D2-C0A0-60D267D0E185}"/>
              </a:ext>
            </a:extLst>
          </p:cNvPr>
          <p:cNvSpPr txBox="1">
            <a:spLocks noChangeArrowheads="1"/>
          </p:cNvSpPr>
          <p:nvPr/>
        </p:nvSpPr>
        <p:spPr bwMode="auto">
          <a:xfrm>
            <a:off x="990600" y="1587500"/>
            <a:ext cx="10134600" cy="4284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algn="just">
              <a:buFontTx/>
              <a:buChar char="•"/>
            </a:pPr>
            <a:r>
              <a:rPr lang="en-US" altLang="en-US" sz="2000" dirty="0">
                <a:latin typeface="Times-Roman"/>
              </a:rPr>
              <a:t>	</a:t>
            </a:r>
            <a:r>
              <a:rPr lang="en-US" altLang="en-US" dirty="0">
                <a:latin typeface="Times-Roman"/>
              </a:rPr>
              <a:t>This layout divides the </a:t>
            </a:r>
            <a:r>
              <a:rPr lang="en-US" altLang="en-US" dirty="0">
                <a:latin typeface="Arial" panose="020B0604020202020204" pitchFamily="34" charset="0"/>
              </a:rPr>
              <a:t>Panel </a:t>
            </a:r>
            <a:r>
              <a:rPr lang="en-US" altLang="en-US" dirty="0">
                <a:latin typeface="Times-Roman"/>
              </a:rPr>
              <a:t>into five regions, </a:t>
            </a:r>
            <a:r>
              <a:rPr lang="en-US" altLang="en-US" dirty="0">
                <a:latin typeface="Arial" panose="020B0604020202020204" pitchFamily="34" charset="0"/>
              </a:rPr>
              <a:t>North, East, 	South, West,</a:t>
            </a:r>
            <a:r>
              <a:rPr lang="en-US" altLang="en-US" dirty="0">
                <a:latin typeface="Times-Roman"/>
              </a:rPr>
              <a:t> and </a:t>
            </a:r>
            <a:r>
              <a:rPr lang="en-US" altLang="en-US" dirty="0">
                <a:latin typeface="Arial" panose="020B0604020202020204" pitchFamily="34" charset="0"/>
              </a:rPr>
              <a:t>Center</a:t>
            </a:r>
            <a:r>
              <a:rPr lang="en-US" altLang="en-US" dirty="0">
                <a:latin typeface="Times-Roman"/>
              </a:rPr>
              <a:t>.</a:t>
            </a:r>
          </a:p>
          <a:p>
            <a:pPr lvl="1" algn="just">
              <a:buFontTx/>
              <a:buChar char="•"/>
            </a:pPr>
            <a:r>
              <a:rPr lang="en-US" altLang="en-US" dirty="0">
                <a:latin typeface="Times-Roman"/>
              </a:rPr>
              <a:t>The components along the edges or borders are given as much space as needed; the center component will then get 	any remaining space.</a:t>
            </a:r>
          </a:p>
          <a:p>
            <a:pPr marL="114300" lvl="1" indent="0" algn="just"/>
            <a:endParaRPr lang="en-US" altLang="en-US" dirty="0">
              <a:latin typeface="Times-Roman"/>
            </a:endParaRPr>
          </a:p>
          <a:p>
            <a:pPr lvl="1" algn="just">
              <a:lnSpc>
                <a:spcPct val="150000"/>
              </a:lnSpc>
              <a:buFontTx/>
              <a:buChar char="•"/>
            </a:pPr>
            <a:r>
              <a:rPr lang="en-US" altLang="en-US" dirty="0">
                <a:latin typeface="Times-Roman"/>
              </a:rPr>
              <a:t>There are two constructors:</a:t>
            </a:r>
          </a:p>
          <a:p>
            <a:pPr algn="just">
              <a:lnSpc>
                <a:spcPct val="150000"/>
              </a:lnSpc>
            </a:pPr>
            <a:r>
              <a:rPr lang="en-US" altLang="en-US" sz="2000" dirty="0">
                <a:latin typeface="Times-Roman"/>
              </a:rPr>
              <a:t>	</a:t>
            </a:r>
            <a:r>
              <a:rPr lang="en-US" altLang="en-US" sz="2000" dirty="0">
                <a:latin typeface="Arial" panose="020B0604020202020204" pitchFamily="34" charset="0"/>
              </a:rPr>
              <a:t>-	</a:t>
            </a:r>
            <a:r>
              <a:rPr lang="en-US" altLang="en-US" sz="2000" dirty="0" err="1">
                <a:latin typeface="Arial" panose="020B0604020202020204" pitchFamily="34" charset="0"/>
              </a:rPr>
              <a:t>BorderLayout</a:t>
            </a:r>
            <a:r>
              <a:rPr lang="en-US" altLang="en-US" sz="2000" dirty="0">
                <a:latin typeface="Arial" panose="020B0604020202020204" pitchFamily="34" charset="0"/>
              </a:rPr>
              <a:t>()</a:t>
            </a:r>
          </a:p>
          <a:p>
            <a:pPr algn="just">
              <a:lnSpc>
                <a:spcPct val="150000"/>
              </a:lnSpc>
            </a:pPr>
            <a:r>
              <a:rPr lang="en-US" altLang="en-US" sz="2000" dirty="0">
                <a:latin typeface="BIEGHZ+MSTT31c5e600"/>
              </a:rPr>
              <a:t>			</a:t>
            </a:r>
            <a:r>
              <a:rPr lang="en-US" altLang="en-US" sz="2000" dirty="0">
                <a:latin typeface="Times-Roman"/>
              </a:rPr>
              <a:t>center aligned layout with no gaps</a:t>
            </a:r>
          </a:p>
          <a:p>
            <a:pPr algn="just">
              <a:lnSpc>
                <a:spcPct val="150000"/>
              </a:lnSpc>
            </a:pPr>
            <a:r>
              <a:rPr lang="en-US" altLang="en-US" sz="2000" dirty="0">
                <a:latin typeface="Times-Roman"/>
              </a:rPr>
              <a:t>	</a:t>
            </a:r>
            <a:r>
              <a:rPr lang="en-US" altLang="en-US" sz="2000" dirty="0">
                <a:latin typeface="Arial" panose="020B0604020202020204" pitchFamily="34" charset="0"/>
              </a:rPr>
              <a:t>-	</a:t>
            </a:r>
            <a:r>
              <a:rPr lang="en-US" altLang="en-US" sz="2000" dirty="0" err="1">
                <a:latin typeface="Arial" panose="020B0604020202020204" pitchFamily="34" charset="0"/>
              </a:rPr>
              <a:t>BorderLayout</a:t>
            </a:r>
            <a:r>
              <a:rPr lang="en-US" altLang="en-US" sz="2000" dirty="0">
                <a:latin typeface="Arial" panose="020B0604020202020204" pitchFamily="34" charset="0"/>
              </a:rPr>
              <a:t>( int </a:t>
            </a:r>
            <a:r>
              <a:rPr lang="en-US" altLang="en-US" sz="2000" dirty="0" err="1">
                <a:latin typeface="Arial" panose="020B0604020202020204" pitchFamily="34" charset="0"/>
              </a:rPr>
              <a:t>hGap</a:t>
            </a:r>
            <a:r>
              <a:rPr lang="en-US" altLang="en-US" sz="2000" dirty="0">
                <a:latin typeface="Arial" panose="020B0604020202020204" pitchFamily="34" charset="0"/>
              </a:rPr>
              <a:t>, int </a:t>
            </a:r>
            <a:r>
              <a:rPr lang="en-US" altLang="en-US" sz="2000" dirty="0" err="1">
                <a:latin typeface="Arial" panose="020B0604020202020204" pitchFamily="34" charset="0"/>
              </a:rPr>
              <a:t>vGap</a:t>
            </a:r>
            <a:r>
              <a:rPr lang="en-US" altLang="en-US" sz="2000" dirty="0">
                <a:latin typeface="Arial" panose="020B0604020202020204" pitchFamily="34" charset="0"/>
              </a:rPr>
              <a:t>)</a:t>
            </a:r>
          </a:p>
          <a:p>
            <a:pPr algn="just">
              <a:lnSpc>
                <a:spcPct val="150000"/>
              </a:lnSpc>
            </a:pPr>
            <a:r>
              <a:rPr lang="en-US" altLang="en-US" sz="2000" dirty="0">
                <a:latin typeface="Times-Roman"/>
              </a:rPr>
              <a:t>			allows you to specify the gaps</a:t>
            </a:r>
          </a:p>
        </p:txBody>
      </p:sp>
      <p:sp>
        <p:nvSpPr>
          <p:cNvPr id="3" name="Footer Placeholder 2">
            <a:extLst>
              <a:ext uri="{FF2B5EF4-FFF2-40B4-BE49-F238E27FC236}">
                <a16:creationId xmlns:a16="http://schemas.microsoft.com/office/drawing/2014/main" id="{8FEB679D-7D27-5ED4-FEB5-02F835ECEBD9}"/>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B0A5E583-8852-8184-EAD0-CAE45975C714}"/>
              </a:ext>
            </a:extLst>
          </p:cNvPr>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a:extLst>
              <a:ext uri="{FF2B5EF4-FFF2-40B4-BE49-F238E27FC236}">
                <a16:creationId xmlns:a16="http://schemas.microsoft.com/office/drawing/2014/main" id="{EAB4C2F3-5ABA-6370-02C3-A005BA8E01A9}"/>
              </a:ext>
            </a:extLst>
          </p:cNvPr>
          <p:cNvSpPr txBox="1">
            <a:spLocks noChangeArrowheads="1"/>
          </p:cNvSpPr>
          <p:nvPr/>
        </p:nvSpPr>
        <p:spPr bwMode="auto">
          <a:xfrm>
            <a:off x="4977701" y="609600"/>
            <a:ext cx="26965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latin typeface="Times-Roman"/>
              </a:rPr>
              <a:t>2. </a:t>
            </a:r>
            <a:r>
              <a:rPr lang="en-US" altLang="en-US" sz="2800" u="sng" dirty="0" err="1">
                <a:latin typeface="Times-Roman"/>
              </a:rPr>
              <a:t>BorderLayouts</a:t>
            </a:r>
            <a:endParaRPr lang="en-US" altLang="en-US" sz="2800" u="sng" dirty="0">
              <a:latin typeface="Times-Roman"/>
            </a:endParaRPr>
          </a:p>
        </p:txBody>
      </p:sp>
      <p:sp>
        <p:nvSpPr>
          <p:cNvPr id="114691" name="Text Box 3">
            <a:extLst>
              <a:ext uri="{FF2B5EF4-FFF2-40B4-BE49-F238E27FC236}">
                <a16:creationId xmlns:a16="http://schemas.microsoft.com/office/drawing/2014/main" id="{6B795620-58A0-AD2E-FA62-077C0E2CACC5}"/>
              </a:ext>
            </a:extLst>
          </p:cNvPr>
          <p:cNvSpPr txBox="1">
            <a:spLocks noChangeArrowheads="1"/>
          </p:cNvSpPr>
          <p:nvPr/>
        </p:nvSpPr>
        <p:spPr bwMode="auto">
          <a:xfrm>
            <a:off x="914400" y="1066800"/>
            <a:ext cx="10210800"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algn="just">
              <a:buFontTx/>
              <a:buChar char="•"/>
            </a:pPr>
            <a:r>
              <a:rPr lang="en-US" altLang="en-US" sz="1800" dirty="0">
                <a:latin typeface="Times-Roman"/>
              </a:rPr>
              <a:t>	</a:t>
            </a:r>
            <a:r>
              <a:rPr lang="en-US" altLang="en-US" sz="2000" dirty="0">
                <a:latin typeface="Times-Roman"/>
              </a:rPr>
              <a:t>After creating an object, use</a:t>
            </a:r>
          </a:p>
          <a:p>
            <a:pPr algn="just"/>
            <a:r>
              <a:rPr lang="en-US" altLang="en-US" sz="2000" dirty="0">
                <a:latin typeface="Times-Roman"/>
              </a:rPr>
              <a:t>		the </a:t>
            </a:r>
            <a:r>
              <a:rPr lang="en-US" altLang="en-US" sz="2000" dirty="0">
                <a:latin typeface="Arial" panose="020B0604020202020204" pitchFamily="34" charset="0"/>
              </a:rPr>
              <a:t>add( String a, Component c) </a:t>
            </a:r>
            <a:r>
              <a:rPr lang="en-US" altLang="en-US" sz="2000" dirty="0">
                <a:latin typeface="Times-Roman"/>
              </a:rPr>
              <a:t>method</a:t>
            </a:r>
          </a:p>
          <a:p>
            <a:pPr algn="just"/>
            <a:r>
              <a:rPr lang="en-US" altLang="en-US" sz="1800" dirty="0">
                <a:latin typeface="Times-Roman"/>
              </a:rPr>
              <a:t>	-	The first argument is the String indicating the position of the</a:t>
            </a:r>
          </a:p>
          <a:p>
            <a:pPr algn="just"/>
            <a:r>
              <a:rPr lang="en-US" altLang="en-US" sz="1800" dirty="0">
                <a:latin typeface="Times-Roman"/>
              </a:rPr>
              <a:t>		component given in the second argument.</a:t>
            </a:r>
          </a:p>
          <a:p>
            <a:pPr lvl="1" algn="just">
              <a:buFontTx/>
              <a:buChar char="•"/>
            </a:pPr>
            <a:r>
              <a:rPr lang="en-US" altLang="en-US" sz="2000" dirty="0">
                <a:latin typeface="Times-Roman"/>
              </a:rPr>
              <a:t>The </a:t>
            </a:r>
            <a:r>
              <a:rPr lang="en-US" altLang="en-US" sz="2000" dirty="0">
                <a:latin typeface="Arial" panose="020B0604020202020204" pitchFamily="34" charset="0"/>
              </a:rPr>
              <a:t>North</a:t>
            </a:r>
            <a:r>
              <a:rPr lang="en-US" altLang="en-US" sz="2000" dirty="0">
                <a:latin typeface="Times-Roman"/>
              </a:rPr>
              <a:t> and </a:t>
            </a:r>
            <a:r>
              <a:rPr lang="en-US" altLang="en-US" sz="2000" dirty="0">
                <a:latin typeface="Arial" panose="020B0604020202020204" pitchFamily="34" charset="0"/>
              </a:rPr>
              <a:t>South</a:t>
            </a:r>
            <a:r>
              <a:rPr lang="en-US" altLang="en-US" sz="2000" dirty="0">
                <a:latin typeface="Times-Roman"/>
              </a:rPr>
              <a:t> sections extend across the whole drawing area from left to right.</a:t>
            </a:r>
          </a:p>
          <a:p>
            <a:pPr lvl="1" algn="just">
              <a:buFontTx/>
              <a:buChar char="•"/>
            </a:pPr>
            <a:r>
              <a:rPr lang="en-US" altLang="en-US" sz="2000" dirty="0">
                <a:latin typeface="Times-Roman"/>
              </a:rPr>
              <a:t>The </a:t>
            </a:r>
            <a:r>
              <a:rPr lang="en-US" altLang="en-US" sz="2000" dirty="0">
                <a:latin typeface="Arial" panose="020B0604020202020204" pitchFamily="34" charset="0"/>
              </a:rPr>
              <a:t>East </a:t>
            </a:r>
            <a:r>
              <a:rPr lang="en-US" altLang="en-US" sz="2000" dirty="0">
                <a:latin typeface="Times-Roman"/>
              </a:rPr>
              <a:t>and </a:t>
            </a:r>
            <a:r>
              <a:rPr lang="en-US" altLang="en-US" sz="2000" dirty="0">
                <a:latin typeface="Arial" panose="020B0604020202020204" pitchFamily="34" charset="0"/>
              </a:rPr>
              <a:t>West</a:t>
            </a:r>
            <a:r>
              <a:rPr lang="en-US" altLang="en-US" sz="2000" dirty="0">
                <a:latin typeface="Times-Roman"/>
              </a:rPr>
              <a:t> sections extend vertically across the drawing area from the bottom of the </a:t>
            </a:r>
            <a:r>
              <a:rPr lang="en-US" altLang="en-US" sz="2000" dirty="0">
                <a:latin typeface="Arial" panose="020B0604020202020204" pitchFamily="34" charset="0"/>
              </a:rPr>
              <a:t>North</a:t>
            </a:r>
            <a:r>
              <a:rPr lang="en-US" altLang="en-US" sz="2000" dirty="0">
                <a:latin typeface="Times-Roman"/>
              </a:rPr>
              <a:t> section to the top of the </a:t>
            </a:r>
            <a:r>
              <a:rPr lang="en-US" altLang="en-US" sz="2000" dirty="0">
                <a:latin typeface="Arial" panose="020B0604020202020204" pitchFamily="34" charset="0"/>
              </a:rPr>
              <a:t>South</a:t>
            </a:r>
            <a:r>
              <a:rPr lang="en-US" altLang="en-US" sz="2000" dirty="0">
                <a:latin typeface="Times-Roman"/>
              </a:rPr>
              <a:t> section.</a:t>
            </a:r>
          </a:p>
        </p:txBody>
      </p:sp>
      <p:pic>
        <p:nvPicPr>
          <p:cNvPr id="3" name="Picture 2">
            <a:extLst>
              <a:ext uri="{FF2B5EF4-FFF2-40B4-BE49-F238E27FC236}">
                <a16:creationId xmlns:a16="http://schemas.microsoft.com/office/drawing/2014/main" id="{935F3218-00CD-171B-50F4-A5C2021F2EFA}"/>
              </a:ext>
            </a:extLst>
          </p:cNvPr>
          <p:cNvPicPr>
            <a:picLocks noChangeAspect="1"/>
          </p:cNvPicPr>
          <p:nvPr/>
        </p:nvPicPr>
        <p:blipFill>
          <a:blip r:embed="rId2"/>
          <a:stretch>
            <a:fillRect/>
          </a:stretch>
        </p:blipFill>
        <p:spPr>
          <a:xfrm>
            <a:off x="2057400" y="3505201"/>
            <a:ext cx="8229601" cy="2787613"/>
          </a:xfrm>
          <a:prstGeom prst="rect">
            <a:avLst/>
          </a:prstGeom>
        </p:spPr>
      </p:pic>
      <p:sp>
        <p:nvSpPr>
          <p:cNvPr id="5" name="Footer Placeholder 4">
            <a:extLst>
              <a:ext uri="{FF2B5EF4-FFF2-40B4-BE49-F238E27FC236}">
                <a16:creationId xmlns:a16="http://schemas.microsoft.com/office/drawing/2014/main" id="{5E459307-0C53-2FF0-E26D-86D47DD2E41D}"/>
              </a:ext>
            </a:extLst>
          </p:cNvPr>
          <p:cNvSpPr>
            <a:spLocks noGrp="1"/>
          </p:cNvSpPr>
          <p:nvPr>
            <p:ph type="ftr" sz="quarter" idx="11"/>
          </p:nvPr>
        </p:nvSpPr>
        <p:spPr/>
        <p:txBody>
          <a:bodyPr/>
          <a:lstStyle/>
          <a:p>
            <a:r>
              <a:rPr lang="en-US"/>
              <a:t>Dr. R. K. Ojha, Department of Computer Science &amp; Engineering, Silicon University</a:t>
            </a:r>
          </a:p>
        </p:txBody>
      </p:sp>
      <p:sp>
        <p:nvSpPr>
          <p:cNvPr id="6" name="Slide Number Placeholder 5">
            <a:extLst>
              <a:ext uri="{FF2B5EF4-FFF2-40B4-BE49-F238E27FC236}">
                <a16:creationId xmlns:a16="http://schemas.microsoft.com/office/drawing/2014/main" id="{41609068-4294-14AF-2CD7-68AA2A7F13F6}"/>
              </a:ext>
            </a:extLst>
          </p:cNvPr>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5F607CA-4A44-DB28-725E-C4A88BC37BAB}"/>
              </a:ext>
            </a:extLst>
          </p:cNvPr>
          <p:cNvSpPr>
            <a:spLocks noGrp="1"/>
          </p:cNvSpPr>
          <p:nvPr>
            <p:ph type="ftr" sz="quarter" idx="11"/>
          </p:nvPr>
        </p:nvSpPr>
        <p:spPr/>
        <p:txBody>
          <a:bodyPr/>
          <a:lstStyle/>
          <a:p>
            <a:r>
              <a:rPr lang="en-US"/>
              <a:t>Dr. R. K. Ojha, Department of Computer Science &amp; Engineering, Silicon University</a:t>
            </a:r>
          </a:p>
        </p:txBody>
      </p:sp>
      <p:sp>
        <p:nvSpPr>
          <p:cNvPr id="3" name="Slide Number Placeholder 2">
            <a:extLst>
              <a:ext uri="{FF2B5EF4-FFF2-40B4-BE49-F238E27FC236}">
                <a16:creationId xmlns:a16="http://schemas.microsoft.com/office/drawing/2014/main" id="{4217A373-51EF-9E82-05BB-43F7159F3F07}"/>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9" name="TextBox 8">
            <a:extLst>
              <a:ext uri="{FF2B5EF4-FFF2-40B4-BE49-F238E27FC236}">
                <a16:creationId xmlns:a16="http://schemas.microsoft.com/office/drawing/2014/main" id="{C565AFB6-0E5F-B5FB-3957-E5D214F0641E}"/>
              </a:ext>
            </a:extLst>
          </p:cNvPr>
          <p:cNvSpPr txBox="1"/>
          <p:nvPr/>
        </p:nvSpPr>
        <p:spPr>
          <a:xfrm>
            <a:off x="2209800" y="87451"/>
            <a:ext cx="7010400" cy="6340197"/>
          </a:xfrm>
          <a:prstGeom prst="rect">
            <a:avLst/>
          </a:prstGeom>
          <a:noFill/>
        </p:spPr>
        <p:txBody>
          <a:bodyPr wrap="square">
            <a:spAutoFit/>
          </a:bodyPr>
          <a:lstStyle/>
          <a:p>
            <a:r>
              <a:rPr lang="en-IN" sz="1400" dirty="0"/>
              <a:t>import </a:t>
            </a:r>
            <a:r>
              <a:rPr lang="en-IN" sz="1400" dirty="0" err="1"/>
              <a:t>java.awt</a:t>
            </a:r>
            <a:r>
              <a:rPr lang="en-IN" sz="1400" dirty="0"/>
              <a:t>.*;</a:t>
            </a:r>
          </a:p>
          <a:p>
            <a:r>
              <a:rPr lang="en-IN" sz="1400" dirty="0"/>
              <a:t>import </a:t>
            </a:r>
            <a:r>
              <a:rPr lang="en-IN" sz="1400" dirty="0" err="1"/>
              <a:t>java.awt.event</a:t>
            </a:r>
            <a:r>
              <a:rPr lang="en-IN" sz="1400" dirty="0"/>
              <a:t>.*;</a:t>
            </a:r>
          </a:p>
          <a:p>
            <a:r>
              <a:rPr lang="en-IN" sz="1400" dirty="0"/>
              <a:t>import </a:t>
            </a:r>
            <a:r>
              <a:rPr lang="en-IN" sz="1400" dirty="0" err="1"/>
              <a:t>javax.swing</a:t>
            </a:r>
            <a:r>
              <a:rPr lang="en-IN" sz="1400" dirty="0"/>
              <a:t>.*;</a:t>
            </a:r>
          </a:p>
          <a:p>
            <a:endParaRPr lang="en-IN" sz="1400" dirty="0"/>
          </a:p>
          <a:p>
            <a:r>
              <a:rPr lang="en-IN" sz="1400" dirty="0"/>
              <a:t>public class </a:t>
            </a:r>
            <a:r>
              <a:rPr lang="en-IN" sz="1400" dirty="0" err="1"/>
              <a:t>BorderLayoutExample</a:t>
            </a:r>
            <a:r>
              <a:rPr lang="en-IN" sz="1400" dirty="0"/>
              <a:t> {</a:t>
            </a:r>
          </a:p>
          <a:p>
            <a:r>
              <a:rPr lang="en-IN" sz="1400" dirty="0"/>
              <a:t>   private </a:t>
            </a:r>
            <a:r>
              <a:rPr lang="en-IN" sz="1400" dirty="0" err="1"/>
              <a:t>JFrame</a:t>
            </a:r>
            <a:r>
              <a:rPr lang="en-IN" sz="1400" dirty="0"/>
              <a:t> </a:t>
            </a:r>
            <a:r>
              <a:rPr lang="en-IN" sz="1400" dirty="0" err="1"/>
              <a:t>mainFrame</a:t>
            </a:r>
            <a:r>
              <a:rPr lang="en-IN" sz="1400" dirty="0"/>
              <a:t>;</a:t>
            </a:r>
          </a:p>
          <a:p>
            <a:r>
              <a:rPr lang="en-IN" sz="1400" dirty="0"/>
              <a:t>   private </a:t>
            </a:r>
            <a:r>
              <a:rPr lang="en-IN" sz="1400" dirty="0" err="1"/>
              <a:t>JLabel</a:t>
            </a:r>
            <a:r>
              <a:rPr lang="en-IN" sz="1400" dirty="0"/>
              <a:t> </a:t>
            </a:r>
            <a:r>
              <a:rPr lang="en-IN" sz="1400" dirty="0" err="1"/>
              <a:t>headerLabel</a:t>
            </a:r>
            <a:r>
              <a:rPr lang="en-IN" sz="1400" dirty="0"/>
              <a:t>;</a:t>
            </a:r>
          </a:p>
          <a:p>
            <a:r>
              <a:rPr lang="en-IN" sz="1400" dirty="0"/>
              <a:t>   private </a:t>
            </a:r>
            <a:r>
              <a:rPr lang="en-IN" sz="1400" dirty="0" err="1"/>
              <a:t>JLabel</a:t>
            </a:r>
            <a:r>
              <a:rPr lang="en-IN" sz="1400" dirty="0"/>
              <a:t> </a:t>
            </a:r>
            <a:r>
              <a:rPr lang="en-IN" sz="1400" dirty="0" err="1"/>
              <a:t>statusLabel</a:t>
            </a:r>
            <a:r>
              <a:rPr lang="en-IN" sz="1400" dirty="0"/>
              <a:t>;</a:t>
            </a:r>
          </a:p>
          <a:p>
            <a:r>
              <a:rPr lang="en-IN" sz="1400" dirty="0"/>
              <a:t>   private </a:t>
            </a:r>
            <a:r>
              <a:rPr lang="en-IN" sz="1400" dirty="0" err="1"/>
              <a:t>JPanel</a:t>
            </a:r>
            <a:r>
              <a:rPr lang="en-IN" sz="1400" dirty="0"/>
              <a:t> </a:t>
            </a:r>
            <a:r>
              <a:rPr lang="en-IN" sz="1400" dirty="0" err="1"/>
              <a:t>controlPanel</a:t>
            </a:r>
            <a:r>
              <a:rPr lang="en-IN" sz="1400" dirty="0"/>
              <a:t>;</a:t>
            </a:r>
          </a:p>
          <a:p>
            <a:r>
              <a:rPr lang="en-IN" sz="1400" dirty="0"/>
              <a:t>   private </a:t>
            </a:r>
            <a:r>
              <a:rPr lang="en-IN" sz="1400" dirty="0" err="1"/>
              <a:t>JLabel</a:t>
            </a:r>
            <a:r>
              <a:rPr lang="en-IN" sz="1400" dirty="0"/>
              <a:t> </a:t>
            </a:r>
            <a:r>
              <a:rPr lang="en-IN" sz="1400" dirty="0" err="1"/>
              <a:t>msglabel</a:t>
            </a:r>
            <a:r>
              <a:rPr lang="en-IN" sz="1400" dirty="0"/>
              <a:t>;</a:t>
            </a:r>
          </a:p>
          <a:p>
            <a:r>
              <a:rPr lang="en-IN" sz="1400" dirty="0"/>
              <a:t>   public </a:t>
            </a:r>
            <a:r>
              <a:rPr lang="en-IN" sz="1400" dirty="0" err="1"/>
              <a:t>BorderLayoutExample</a:t>
            </a:r>
            <a:r>
              <a:rPr lang="en-IN" sz="1400" dirty="0"/>
              <a:t>(){</a:t>
            </a:r>
          </a:p>
          <a:p>
            <a:r>
              <a:rPr lang="en-IN" sz="1400" dirty="0"/>
              <a:t>      	   </a:t>
            </a:r>
            <a:r>
              <a:rPr lang="en-IN" sz="1400" dirty="0" err="1"/>
              <a:t>prepareGUI</a:t>
            </a:r>
            <a:r>
              <a:rPr lang="en-IN" sz="1400" dirty="0"/>
              <a:t>();		}</a:t>
            </a:r>
          </a:p>
          <a:p>
            <a:r>
              <a:rPr lang="en-IN" sz="1400" dirty="0"/>
              <a:t>   public static void main(String[] </a:t>
            </a:r>
            <a:r>
              <a:rPr lang="en-IN" sz="1400" dirty="0" err="1"/>
              <a:t>args</a:t>
            </a:r>
            <a:r>
              <a:rPr lang="en-IN" sz="1400" dirty="0"/>
              <a:t>){</a:t>
            </a:r>
          </a:p>
          <a:p>
            <a:r>
              <a:rPr lang="en-IN" sz="1400" dirty="0"/>
              <a:t>      </a:t>
            </a:r>
            <a:r>
              <a:rPr lang="en-IN" sz="1400" dirty="0" err="1"/>
              <a:t>BorderLayoutExample</a:t>
            </a:r>
            <a:r>
              <a:rPr lang="en-IN" sz="1400" dirty="0"/>
              <a:t> </a:t>
            </a:r>
            <a:r>
              <a:rPr lang="en-IN" sz="1400" dirty="0" err="1"/>
              <a:t>borderLayoutExample</a:t>
            </a:r>
            <a:r>
              <a:rPr lang="en-IN" sz="1400" dirty="0"/>
              <a:t> = new </a:t>
            </a:r>
            <a:r>
              <a:rPr lang="en-IN" sz="1400" dirty="0" err="1"/>
              <a:t>BorderLayoutExample</a:t>
            </a:r>
            <a:r>
              <a:rPr lang="en-IN" sz="1400" dirty="0"/>
              <a:t>();  </a:t>
            </a:r>
          </a:p>
          <a:p>
            <a:r>
              <a:rPr lang="en-IN" sz="1400" dirty="0"/>
              <a:t>      </a:t>
            </a:r>
            <a:r>
              <a:rPr lang="en-IN" sz="1400" dirty="0" err="1"/>
              <a:t>borderLayoutExample.showBorderLayoutDemo</a:t>
            </a:r>
            <a:r>
              <a:rPr lang="en-IN" sz="1400" dirty="0"/>
              <a:t>();       </a:t>
            </a:r>
          </a:p>
          <a:p>
            <a:r>
              <a:rPr lang="en-IN" sz="1400" dirty="0"/>
              <a:t>   }</a:t>
            </a:r>
          </a:p>
          <a:p>
            <a:r>
              <a:rPr lang="en-IN" sz="1400" dirty="0"/>
              <a:t>   private void </a:t>
            </a:r>
            <a:r>
              <a:rPr lang="en-IN" sz="1400" dirty="0" err="1"/>
              <a:t>prepareGUI</a:t>
            </a:r>
            <a:r>
              <a:rPr lang="en-IN" sz="1400" dirty="0"/>
              <a:t>(){</a:t>
            </a:r>
          </a:p>
          <a:p>
            <a:r>
              <a:rPr lang="en-IN" sz="1400" dirty="0"/>
              <a:t>      </a:t>
            </a:r>
            <a:r>
              <a:rPr lang="en-IN" sz="1400" dirty="0" err="1"/>
              <a:t>mainFrame</a:t>
            </a:r>
            <a:r>
              <a:rPr lang="en-IN" sz="1400" dirty="0"/>
              <a:t> = new </a:t>
            </a:r>
            <a:r>
              <a:rPr lang="en-IN" sz="1400" dirty="0" err="1"/>
              <a:t>JFrame</a:t>
            </a:r>
            <a:r>
              <a:rPr lang="en-IN" sz="1400" dirty="0"/>
              <a:t>("Java SWING Examples");</a:t>
            </a:r>
          </a:p>
          <a:p>
            <a:r>
              <a:rPr lang="en-IN" sz="1400" dirty="0"/>
              <a:t>      </a:t>
            </a:r>
            <a:r>
              <a:rPr lang="en-IN" sz="1400" dirty="0" err="1"/>
              <a:t>mainFrame.setSize</a:t>
            </a:r>
            <a:r>
              <a:rPr lang="en-IN" sz="1400" dirty="0"/>
              <a:t>(400,400);</a:t>
            </a:r>
          </a:p>
          <a:p>
            <a:r>
              <a:rPr lang="en-IN" sz="1400" dirty="0"/>
              <a:t>      </a:t>
            </a:r>
            <a:r>
              <a:rPr lang="en-IN" sz="1400" dirty="0" err="1"/>
              <a:t>mainFrame.setLayout</a:t>
            </a:r>
            <a:r>
              <a:rPr lang="en-IN" sz="1400" dirty="0"/>
              <a:t>(new </a:t>
            </a:r>
            <a:r>
              <a:rPr lang="en-IN" sz="1400" dirty="0" err="1"/>
              <a:t>GridLayout</a:t>
            </a:r>
            <a:r>
              <a:rPr lang="en-IN" sz="1400" dirty="0"/>
              <a:t>(3, 1));</a:t>
            </a:r>
          </a:p>
          <a:p>
            <a:r>
              <a:rPr lang="en-IN" sz="1400" dirty="0"/>
              <a:t>      </a:t>
            </a:r>
            <a:r>
              <a:rPr lang="en-IN" sz="1400" dirty="0" err="1"/>
              <a:t>headerLabel</a:t>
            </a:r>
            <a:r>
              <a:rPr lang="en-IN" sz="1400" dirty="0"/>
              <a:t> = new </a:t>
            </a:r>
            <a:r>
              <a:rPr lang="en-IN" sz="1400" dirty="0" err="1"/>
              <a:t>JLabel</a:t>
            </a:r>
            <a:r>
              <a:rPr lang="en-IN" sz="1400" dirty="0"/>
              <a:t>("",</a:t>
            </a:r>
            <a:r>
              <a:rPr lang="en-IN" sz="1400" dirty="0" err="1"/>
              <a:t>JLabel.CENTER</a:t>
            </a:r>
            <a:r>
              <a:rPr lang="en-IN" sz="1400" dirty="0"/>
              <a:t> );</a:t>
            </a:r>
          </a:p>
          <a:p>
            <a:r>
              <a:rPr lang="en-IN" sz="1400" dirty="0"/>
              <a:t>      </a:t>
            </a:r>
            <a:r>
              <a:rPr lang="en-IN" sz="1400" dirty="0" err="1"/>
              <a:t>statusLabel</a:t>
            </a:r>
            <a:r>
              <a:rPr lang="en-IN" sz="1400" dirty="0"/>
              <a:t> = new </a:t>
            </a:r>
            <a:r>
              <a:rPr lang="en-IN" sz="1400" dirty="0" err="1"/>
              <a:t>JLabel</a:t>
            </a:r>
            <a:r>
              <a:rPr lang="en-IN" sz="1400" dirty="0"/>
              <a:t>("",</a:t>
            </a:r>
            <a:r>
              <a:rPr lang="en-IN" sz="1400" dirty="0" err="1"/>
              <a:t>JLabel.CENTER</a:t>
            </a:r>
            <a:r>
              <a:rPr lang="en-IN" sz="1400" dirty="0"/>
              <a:t>);        </a:t>
            </a:r>
          </a:p>
          <a:p>
            <a:r>
              <a:rPr lang="en-IN" sz="1400" dirty="0"/>
              <a:t>      </a:t>
            </a:r>
            <a:r>
              <a:rPr lang="en-IN" sz="1400" dirty="0" err="1"/>
              <a:t>statusLabel.setSize</a:t>
            </a:r>
            <a:r>
              <a:rPr lang="en-IN" sz="1400" dirty="0"/>
              <a:t>(350,100);</a:t>
            </a:r>
          </a:p>
          <a:p>
            <a:r>
              <a:rPr lang="en-IN" sz="1400" dirty="0"/>
              <a:t>      </a:t>
            </a:r>
            <a:r>
              <a:rPr lang="en-IN" sz="1400" dirty="0" err="1"/>
              <a:t>mainFrame.addWindowListener</a:t>
            </a:r>
            <a:r>
              <a:rPr lang="en-IN" sz="1400" dirty="0"/>
              <a:t>(new </a:t>
            </a:r>
            <a:r>
              <a:rPr lang="en-IN" sz="1400" dirty="0" err="1"/>
              <a:t>WindowAdapter</a:t>
            </a:r>
            <a:r>
              <a:rPr lang="en-IN" sz="1400" dirty="0"/>
              <a:t>() {</a:t>
            </a:r>
          </a:p>
          <a:p>
            <a:r>
              <a:rPr lang="en-IN" sz="1400" dirty="0"/>
              <a:t>         public void </a:t>
            </a:r>
            <a:r>
              <a:rPr lang="en-IN" sz="1400" dirty="0" err="1"/>
              <a:t>windowClosing</a:t>
            </a:r>
            <a:r>
              <a:rPr lang="en-IN" sz="1400" dirty="0"/>
              <a:t>(</a:t>
            </a:r>
            <a:r>
              <a:rPr lang="en-IN" sz="1400" dirty="0" err="1"/>
              <a:t>WindowEvent</a:t>
            </a:r>
            <a:r>
              <a:rPr lang="en-IN" sz="1400" dirty="0"/>
              <a:t> </a:t>
            </a:r>
            <a:r>
              <a:rPr lang="en-IN" sz="1400" dirty="0" err="1"/>
              <a:t>windowEvent</a:t>
            </a:r>
            <a:r>
              <a:rPr lang="en-IN" sz="1400" dirty="0"/>
              <a:t>){</a:t>
            </a:r>
          </a:p>
          <a:p>
            <a:r>
              <a:rPr lang="en-IN" sz="1400" dirty="0"/>
              <a:t>            </a:t>
            </a:r>
            <a:r>
              <a:rPr lang="en-IN" sz="1400" dirty="0" err="1"/>
              <a:t>System.exit</a:t>
            </a:r>
            <a:r>
              <a:rPr lang="en-IN" sz="1400" dirty="0"/>
              <a:t>(0);</a:t>
            </a:r>
          </a:p>
          <a:p>
            <a:r>
              <a:rPr lang="en-IN" sz="1400" dirty="0"/>
              <a:t>         }        </a:t>
            </a:r>
          </a:p>
          <a:p>
            <a:r>
              <a:rPr lang="en-IN" sz="1400" dirty="0"/>
              <a:t>      });    </a:t>
            </a:r>
          </a:p>
        </p:txBody>
      </p:sp>
    </p:spTree>
    <p:extLst>
      <p:ext uri="{BB962C8B-B14F-4D97-AF65-F5344CB8AC3E}">
        <p14:creationId xmlns:p14="http://schemas.microsoft.com/office/powerpoint/2010/main" val="3492505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67C7841-F161-9699-27F4-238DDB5D7D52}"/>
              </a:ext>
            </a:extLst>
          </p:cNvPr>
          <p:cNvSpPr>
            <a:spLocks noGrp="1"/>
          </p:cNvSpPr>
          <p:nvPr>
            <p:ph type="ftr" sz="quarter" idx="11"/>
          </p:nvPr>
        </p:nvSpPr>
        <p:spPr/>
        <p:txBody>
          <a:bodyPr/>
          <a:lstStyle/>
          <a:p>
            <a:r>
              <a:rPr lang="en-US"/>
              <a:t>Dr. R. K. Ojha, Department of Computer Science &amp; Engineering, Silicon University</a:t>
            </a:r>
          </a:p>
        </p:txBody>
      </p:sp>
      <p:sp>
        <p:nvSpPr>
          <p:cNvPr id="3" name="Slide Number Placeholder 2">
            <a:extLst>
              <a:ext uri="{FF2B5EF4-FFF2-40B4-BE49-F238E27FC236}">
                <a16:creationId xmlns:a16="http://schemas.microsoft.com/office/drawing/2014/main" id="{E2DB7F33-93A7-F1F6-5C3A-CFE04F68963D}"/>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4" name="TextBox 3">
            <a:extLst>
              <a:ext uri="{FF2B5EF4-FFF2-40B4-BE49-F238E27FC236}">
                <a16:creationId xmlns:a16="http://schemas.microsoft.com/office/drawing/2014/main" id="{EA17B00F-1777-C621-8D04-4090838DD0E6}"/>
              </a:ext>
            </a:extLst>
          </p:cNvPr>
          <p:cNvSpPr txBox="1"/>
          <p:nvPr/>
        </p:nvSpPr>
        <p:spPr>
          <a:xfrm>
            <a:off x="1143000" y="228600"/>
            <a:ext cx="6096000" cy="5909310"/>
          </a:xfrm>
          <a:prstGeom prst="rect">
            <a:avLst/>
          </a:prstGeom>
          <a:noFill/>
        </p:spPr>
        <p:txBody>
          <a:bodyPr wrap="square">
            <a:spAutoFit/>
          </a:bodyPr>
          <a:lstStyle/>
          <a:p>
            <a:r>
              <a:rPr lang="en-IN" sz="1400" dirty="0"/>
              <a:t>      </a:t>
            </a:r>
            <a:r>
              <a:rPr lang="en-IN" sz="1400" dirty="0" err="1"/>
              <a:t>controlPanel</a:t>
            </a:r>
            <a:r>
              <a:rPr lang="en-IN" sz="1400" dirty="0"/>
              <a:t> = new </a:t>
            </a:r>
            <a:r>
              <a:rPr lang="en-IN" sz="1400" dirty="0" err="1"/>
              <a:t>JPanel</a:t>
            </a:r>
            <a:r>
              <a:rPr lang="en-IN" sz="1400" dirty="0"/>
              <a:t>();</a:t>
            </a:r>
          </a:p>
          <a:p>
            <a:r>
              <a:rPr lang="en-IN" sz="1400" dirty="0"/>
              <a:t>      </a:t>
            </a:r>
            <a:r>
              <a:rPr lang="en-IN" sz="1400" dirty="0" err="1"/>
              <a:t>controlPanel.setLayout</a:t>
            </a:r>
            <a:r>
              <a:rPr lang="en-IN" sz="1400" dirty="0"/>
              <a:t>(new </a:t>
            </a:r>
            <a:r>
              <a:rPr lang="en-IN" sz="1400" dirty="0" err="1"/>
              <a:t>FlowLayout</a:t>
            </a:r>
            <a:r>
              <a:rPr lang="en-IN" sz="1400" dirty="0"/>
              <a:t>());</a:t>
            </a:r>
          </a:p>
          <a:p>
            <a:r>
              <a:rPr lang="en-IN" sz="1400" dirty="0"/>
              <a:t>      </a:t>
            </a:r>
            <a:r>
              <a:rPr lang="en-IN" sz="1400" dirty="0" err="1"/>
              <a:t>mainFrame.add</a:t>
            </a:r>
            <a:r>
              <a:rPr lang="en-IN" sz="1400" dirty="0"/>
              <a:t>(</a:t>
            </a:r>
            <a:r>
              <a:rPr lang="en-IN" sz="1400" dirty="0" err="1"/>
              <a:t>headerLabel</a:t>
            </a:r>
            <a:r>
              <a:rPr lang="en-IN" sz="1400" dirty="0"/>
              <a:t>);</a:t>
            </a:r>
          </a:p>
          <a:p>
            <a:r>
              <a:rPr lang="en-IN" sz="1400" dirty="0"/>
              <a:t>      </a:t>
            </a:r>
            <a:r>
              <a:rPr lang="en-IN" sz="1400" dirty="0" err="1"/>
              <a:t>mainFrame.add</a:t>
            </a:r>
            <a:r>
              <a:rPr lang="en-IN" sz="1400" dirty="0"/>
              <a:t>(</a:t>
            </a:r>
            <a:r>
              <a:rPr lang="en-IN" sz="1400" dirty="0" err="1"/>
              <a:t>controlPanel</a:t>
            </a:r>
            <a:r>
              <a:rPr lang="en-IN" sz="1400" dirty="0"/>
              <a:t>);</a:t>
            </a:r>
          </a:p>
          <a:p>
            <a:r>
              <a:rPr lang="en-IN" sz="1400" dirty="0"/>
              <a:t>      </a:t>
            </a:r>
            <a:r>
              <a:rPr lang="en-IN" sz="1400" dirty="0" err="1"/>
              <a:t>mainFrame.add</a:t>
            </a:r>
            <a:r>
              <a:rPr lang="en-IN" sz="1400" dirty="0"/>
              <a:t>(</a:t>
            </a:r>
            <a:r>
              <a:rPr lang="en-IN" sz="1400" dirty="0" err="1"/>
              <a:t>statusLabel</a:t>
            </a:r>
            <a:r>
              <a:rPr lang="en-IN" sz="1400" dirty="0"/>
              <a:t>);</a:t>
            </a:r>
          </a:p>
          <a:p>
            <a:r>
              <a:rPr lang="en-IN" sz="1400" dirty="0"/>
              <a:t>      </a:t>
            </a:r>
            <a:r>
              <a:rPr lang="en-IN" sz="1400" dirty="0" err="1"/>
              <a:t>mainFrame.setVisible</a:t>
            </a:r>
            <a:r>
              <a:rPr lang="en-IN" sz="1400" dirty="0"/>
              <a:t>(true);  </a:t>
            </a:r>
          </a:p>
          <a:p>
            <a:r>
              <a:rPr lang="en-IN" sz="1400" dirty="0"/>
              <a:t>   }</a:t>
            </a:r>
          </a:p>
          <a:p>
            <a:r>
              <a:rPr lang="en-IN" sz="1400" dirty="0"/>
              <a:t>   private void </a:t>
            </a:r>
            <a:r>
              <a:rPr lang="en-IN" sz="1400" dirty="0" err="1"/>
              <a:t>showBorderLayoutDemo</a:t>
            </a:r>
            <a:r>
              <a:rPr lang="en-IN" sz="1400" dirty="0"/>
              <a:t>(){</a:t>
            </a:r>
          </a:p>
          <a:p>
            <a:r>
              <a:rPr lang="en-IN" sz="1400" dirty="0"/>
              <a:t>      </a:t>
            </a:r>
            <a:r>
              <a:rPr lang="en-IN" sz="1400" dirty="0" err="1"/>
              <a:t>headerLabel.setText</a:t>
            </a:r>
            <a:r>
              <a:rPr lang="en-IN" sz="1400" dirty="0"/>
              <a:t>("Layout in action: </a:t>
            </a:r>
            <a:r>
              <a:rPr lang="en-IN" sz="1400" dirty="0" err="1"/>
              <a:t>BorderLayout</a:t>
            </a:r>
            <a:r>
              <a:rPr lang="en-IN" sz="1400" dirty="0"/>
              <a:t>");      </a:t>
            </a:r>
          </a:p>
          <a:p>
            <a:r>
              <a:rPr lang="en-IN" sz="1400" dirty="0"/>
              <a:t>      </a:t>
            </a:r>
            <a:r>
              <a:rPr lang="en-IN" sz="1400" dirty="0" err="1"/>
              <a:t>JPanel</a:t>
            </a:r>
            <a:r>
              <a:rPr lang="en-IN" sz="1400" dirty="0"/>
              <a:t> panel = new </a:t>
            </a:r>
            <a:r>
              <a:rPr lang="en-IN" sz="1400" dirty="0" err="1"/>
              <a:t>JPanel</a:t>
            </a:r>
            <a:r>
              <a:rPr lang="en-IN" sz="1400" dirty="0"/>
              <a:t>();</a:t>
            </a:r>
          </a:p>
          <a:p>
            <a:r>
              <a:rPr lang="en-IN" sz="1400" dirty="0"/>
              <a:t>      </a:t>
            </a:r>
            <a:r>
              <a:rPr lang="en-IN" sz="1400" dirty="0" err="1"/>
              <a:t>panel.setBackground</a:t>
            </a:r>
            <a:r>
              <a:rPr lang="en-IN" sz="1400" dirty="0"/>
              <a:t>(</a:t>
            </a:r>
            <a:r>
              <a:rPr lang="en-IN" sz="1400" dirty="0" err="1"/>
              <a:t>Color.darkGray</a:t>
            </a:r>
            <a:r>
              <a:rPr lang="en-IN" sz="1400" dirty="0"/>
              <a:t>);</a:t>
            </a:r>
          </a:p>
          <a:p>
            <a:r>
              <a:rPr lang="en-IN" sz="1400" dirty="0"/>
              <a:t>      </a:t>
            </a:r>
            <a:r>
              <a:rPr lang="en-IN" sz="1400" dirty="0" err="1"/>
              <a:t>panel.setSize</a:t>
            </a:r>
            <a:r>
              <a:rPr lang="en-IN" sz="1400" dirty="0"/>
              <a:t>(300,300);</a:t>
            </a:r>
          </a:p>
          <a:p>
            <a:r>
              <a:rPr lang="en-IN" sz="1400" dirty="0"/>
              <a:t>      </a:t>
            </a:r>
            <a:r>
              <a:rPr lang="en-IN" sz="1400" dirty="0" err="1"/>
              <a:t>BorderLayout</a:t>
            </a:r>
            <a:r>
              <a:rPr lang="en-IN" sz="1400" dirty="0"/>
              <a:t> layout = new </a:t>
            </a:r>
            <a:r>
              <a:rPr lang="en-IN" sz="1400" dirty="0" err="1"/>
              <a:t>BorderLayout</a:t>
            </a:r>
            <a:r>
              <a:rPr lang="en-IN" sz="1400" dirty="0"/>
              <a:t>();</a:t>
            </a:r>
          </a:p>
          <a:p>
            <a:r>
              <a:rPr lang="en-IN" sz="1400" dirty="0"/>
              <a:t>      </a:t>
            </a:r>
            <a:r>
              <a:rPr lang="en-IN" sz="1400" dirty="0" err="1"/>
              <a:t>layout.setHgap</a:t>
            </a:r>
            <a:r>
              <a:rPr lang="en-IN" sz="1400" dirty="0"/>
              <a:t>(10);</a:t>
            </a:r>
          </a:p>
          <a:p>
            <a:r>
              <a:rPr lang="en-IN" sz="1400" dirty="0"/>
              <a:t>      </a:t>
            </a:r>
            <a:r>
              <a:rPr lang="en-IN" sz="1400" dirty="0" err="1"/>
              <a:t>layout.setVgap</a:t>
            </a:r>
            <a:r>
              <a:rPr lang="en-IN" sz="1400" dirty="0"/>
              <a:t>(10);</a:t>
            </a:r>
          </a:p>
          <a:p>
            <a:r>
              <a:rPr lang="en-IN" sz="1400" dirty="0"/>
              <a:t>      </a:t>
            </a:r>
            <a:r>
              <a:rPr lang="en-IN" sz="1400" dirty="0" err="1"/>
              <a:t>panel.setLayout</a:t>
            </a:r>
            <a:r>
              <a:rPr lang="en-IN" sz="1400" dirty="0"/>
              <a:t>(layout);        </a:t>
            </a:r>
          </a:p>
          <a:p>
            <a:r>
              <a:rPr lang="en-IN" sz="1400" dirty="0"/>
              <a:t>      </a:t>
            </a:r>
            <a:r>
              <a:rPr lang="en-IN" sz="1400" dirty="0" err="1"/>
              <a:t>panel.add</a:t>
            </a:r>
            <a:r>
              <a:rPr lang="en-IN" sz="1400" dirty="0"/>
              <a:t>(new </a:t>
            </a:r>
            <a:r>
              <a:rPr lang="en-IN" sz="1400" dirty="0" err="1"/>
              <a:t>JButton</a:t>
            </a:r>
            <a:r>
              <a:rPr lang="en-IN" sz="1400" dirty="0"/>
              <a:t>("</a:t>
            </a:r>
            <a:r>
              <a:rPr lang="en-IN" sz="1400" dirty="0" err="1"/>
              <a:t>Center</a:t>
            </a:r>
            <a:r>
              <a:rPr lang="en-IN" sz="1400" dirty="0"/>
              <a:t>"),</a:t>
            </a:r>
            <a:r>
              <a:rPr lang="en-IN" sz="1400" dirty="0" err="1"/>
              <a:t>BorderLayout.CENTER</a:t>
            </a:r>
            <a:r>
              <a:rPr lang="en-IN" sz="1400" dirty="0"/>
              <a:t>);</a:t>
            </a:r>
          </a:p>
          <a:p>
            <a:r>
              <a:rPr lang="en-IN" sz="1400" dirty="0"/>
              <a:t>      </a:t>
            </a:r>
            <a:r>
              <a:rPr lang="en-IN" sz="1400" dirty="0" err="1"/>
              <a:t>panel.add</a:t>
            </a:r>
            <a:r>
              <a:rPr lang="en-IN" sz="1400" dirty="0"/>
              <a:t>(new </a:t>
            </a:r>
            <a:r>
              <a:rPr lang="en-IN" sz="1400" dirty="0" err="1"/>
              <a:t>JButton</a:t>
            </a:r>
            <a:r>
              <a:rPr lang="en-IN" sz="1400" dirty="0"/>
              <a:t>("Line Start"),</a:t>
            </a:r>
            <a:r>
              <a:rPr lang="en-IN" sz="1400" dirty="0" err="1"/>
              <a:t>BorderLayout.LINE_START</a:t>
            </a:r>
            <a:r>
              <a:rPr lang="en-IN" sz="1400" dirty="0"/>
              <a:t>); </a:t>
            </a:r>
          </a:p>
          <a:p>
            <a:r>
              <a:rPr lang="en-IN" sz="1400" dirty="0"/>
              <a:t>      </a:t>
            </a:r>
            <a:r>
              <a:rPr lang="en-IN" sz="1400" dirty="0" err="1"/>
              <a:t>panel.add</a:t>
            </a:r>
            <a:r>
              <a:rPr lang="en-IN" sz="1400" dirty="0"/>
              <a:t>(new </a:t>
            </a:r>
            <a:r>
              <a:rPr lang="en-IN" sz="1400" dirty="0" err="1"/>
              <a:t>JButton</a:t>
            </a:r>
            <a:r>
              <a:rPr lang="en-IN" sz="1400" dirty="0"/>
              <a:t>("Line End"),</a:t>
            </a:r>
            <a:r>
              <a:rPr lang="en-IN" sz="1400" dirty="0" err="1"/>
              <a:t>BorderLayout.LINE_END</a:t>
            </a:r>
            <a:r>
              <a:rPr lang="en-IN" sz="1400" dirty="0"/>
              <a:t>);</a:t>
            </a:r>
          </a:p>
          <a:p>
            <a:r>
              <a:rPr lang="en-IN" sz="1400" dirty="0"/>
              <a:t>      </a:t>
            </a:r>
            <a:r>
              <a:rPr lang="en-IN" sz="1400" dirty="0" err="1"/>
              <a:t>panel.add</a:t>
            </a:r>
            <a:r>
              <a:rPr lang="en-IN" sz="1400" dirty="0"/>
              <a:t>(new </a:t>
            </a:r>
            <a:r>
              <a:rPr lang="en-IN" sz="1400" dirty="0" err="1"/>
              <a:t>JButton</a:t>
            </a:r>
            <a:r>
              <a:rPr lang="en-IN" sz="1400" dirty="0"/>
              <a:t>("East"),</a:t>
            </a:r>
            <a:r>
              <a:rPr lang="en-IN" sz="1400" dirty="0" err="1"/>
              <a:t>BorderLayout.EAST</a:t>
            </a:r>
            <a:r>
              <a:rPr lang="en-IN" sz="1400" dirty="0"/>
              <a:t>);   </a:t>
            </a:r>
          </a:p>
          <a:p>
            <a:r>
              <a:rPr lang="en-IN" sz="1400" dirty="0"/>
              <a:t>      </a:t>
            </a:r>
            <a:r>
              <a:rPr lang="en-IN" sz="1400" dirty="0" err="1"/>
              <a:t>panel.add</a:t>
            </a:r>
            <a:r>
              <a:rPr lang="en-IN" sz="1400" dirty="0"/>
              <a:t>(new </a:t>
            </a:r>
            <a:r>
              <a:rPr lang="en-IN" sz="1400" dirty="0" err="1"/>
              <a:t>JButton</a:t>
            </a:r>
            <a:r>
              <a:rPr lang="en-IN" sz="1400" dirty="0"/>
              <a:t>("West"),</a:t>
            </a:r>
            <a:r>
              <a:rPr lang="en-IN" sz="1400" dirty="0" err="1"/>
              <a:t>BorderLayout.WEST</a:t>
            </a:r>
            <a:r>
              <a:rPr lang="en-IN" sz="1400" dirty="0"/>
              <a:t>); </a:t>
            </a:r>
          </a:p>
          <a:p>
            <a:r>
              <a:rPr lang="en-IN" sz="1400" dirty="0"/>
              <a:t>      </a:t>
            </a:r>
            <a:r>
              <a:rPr lang="en-IN" sz="1400" dirty="0" err="1"/>
              <a:t>panel.add</a:t>
            </a:r>
            <a:r>
              <a:rPr lang="en-IN" sz="1400" dirty="0"/>
              <a:t>(new </a:t>
            </a:r>
            <a:r>
              <a:rPr lang="en-IN" sz="1400" dirty="0" err="1"/>
              <a:t>JButton</a:t>
            </a:r>
            <a:r>
              <a:rPr lang="en-IN" sz="1400" dirty="0"/>
              <a:t>("North"),</a:t>
            </a:r>
            <a:r>
              <a:rPr lang="en-IN" sz="1400" dirty="0" err="1"/>
              <a:t>BorderLayout.NORTH</a:t>
            </a:r>
            <a:r>
              <a:rPr lang="en-IN" sz="1400" dirty="0"/>
              <a:t>); </a:t>
            </a:r>
          </a:p>
          <a:p>
            <a:r>
              <a:rPr lang="en-IN" sz="1400" dirty="0"/>
              <a:t>      </a:t>
            </a:r>
            <a:r>
              <a:rPr lang="en-IN" sz="1400" dirty="0" err="1"/>
              <a:t>panel.add</a:t>
            </a:r>
            <a:r>
              <a:rPr lang="en-IN" sz="1400" dirty="0"/>
              <a:t>(new </a:t>
            </a:r>
            <a:r>
              <a:rPr lang="en-IN" sz="1400" dirty="0" err="1"/>
              <a:t>JButton</a:t>
            </a:r>
            <a:r>
              <a:rPr lang="en-IN" sz="1400" dirty="0"/>
              <a:t>("South"),</a:t>
            </a:r>
            <a:r>
              <a:rPr lang="en-IN" sz="1400" dirty="0" err="1"/>
              <a:t>BorderLayout.SOUTH</a:t>
            </a:r>
            <a:r>
              <a:rPr lang="en-IN" sz="1400" dirty="0"/>
              <a:t>); </a:t>
            </a:r>
          </a:p>
          <a:p>
            <a:r>
              <a:rPr lang="en-IN" sz="1400" dirty="0"/>
              <a:t>      </a:t>
            </a:r>
            <a:r>
              <a:rPr lang="en-IN" sz="1400" dirty="0" err="1"/>
              <a:t>controlPanel.add</a:t>
            </a:r>
            <a:r>
              <a:rPr lang="en-IN" sz="1400" dirty="0"/>
              <a:t>(panel);</a:t>
            </a:r>
          </a:p>
          <a:p>
            <a:r>
              <a:rPr lang="en-IN" sz="1400" dirty="0"/>
              <a:t>      </a:t>
            </a:r>
            <a:r>
              <a:rPr lang="en-IN" sz="1400" dirty="0" err="1"/>
              <a:t>mainFrame.setVisible</a:t>
            </a:r>
            <a:r>
              <a:rPr lang="en-IN" sz="1400" dirty="0"/>
              <a:t>(true);  </a:t>
            </a:r>
          </a:p>
          <a:p>
            <a:r>
              <a:rPr lang="en-IN" sz="1400" dirty="0"/>
              <a:t>   }</a:t>
            </a:r>
          </a:p>
          <a:p>
            <a:r>
              <a:rPr lang="en-IN" sz="1400" dirty="0"/>
              <a:t>}</a:t>
            </a:r>
          </a:p>
        </p:txBody>
      </p:sp>
      <p:pic>
        <p:nvPicPr>
          <p:cNvPr id="6" name="Picture 5">
            <a:extLst>
              <a:ext uri="{FF2B5EF4-FFF2-40B4-BE49-F238E27FC236}">
                <a16:creationId xmlns:a16="http://schemas.microsoft.com/office/drawing/2014/main" id="{9D88766F-966C-97DC-99A7-B8ADDAEBBAAE}"/>
              </a:ext>
            </a:extLst>
          </p:cNvPr>
          <p:cNvPicPr>
            <a:picLocks noChangeAspect="1"/>
          </p:cNvPicPr>
          <p:nvPr/>
        </p:nvPicPr>
        <p:blipFill>
          <a:blip r:embed="rId2"/>
          <a:stretch>
            <a:fillRect/>
          </a:stretch>
        </p:blipFill>
        <p:spPr>
          <a:xfrm>
            <a:off x="7467600" y="1295400"/>
            <a:ext cx="3718882" cy="3810330"/>
          </a:xfrm>
          <a:prstGeom prst="rect">
            <a:avLst/>
          </a:prstGeom>
        </p:spPr>
      </p:pic>
    </p:spTree>
    <p:extLst>
      <p:ext uri="{BB962C8B-B14F-4D97-AF65-F5344CB8AC3E}">
        <p14:creationId xmlns:p14="http://schemas.microsoft.com/office/powerpoint/2010/main" val="2250591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a:extLst>
              <a:ext uri="{FF2B5EF4-FFF2-40B4-BE49-F238E27FC236}">
                <a16:creationId xmlns:a16="http://schemas.microsoft.com/office/drawing/2014/main" id="{BB6A677D-E2B5-6AEC-8474-2FBF0D7B69EB}"/>
              </a:ext>
            </a:extLst>
          </p:cNvPr>
          <p:cNvSpPr txBox="1">
            <a:spLocks noChangeArrowheads="1"/>
          </p:cNvSpPr>
          <p:nvPr/>
        </p:nvSpPr>
        <p:spPr bwMode="auto">
          <a:xfrm>
            <a:off x="4953000" y="609600"/>
            <a:ext cx="23968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latin typeface="Times-Roman"/>
              </a:rPr>
              <a:t>3. </a:t>
            </a:r>
            <a:r>
              <a:rPr lang="en-US" altLang="en-US" sz="2800" u="sng" dirty="0" err="1">
                <a:latin typeface="Times-Roman"/>
              </a:rPr>
              <a:t>CardLayouts</a:t>
            </a:r>
            <a:endParaRPr lang="en-US" altLang="en-US" sz="2800" u="sng" dirty="0">
              <a:latin typeface="Times-Roman"/>
            </a:endParaRPr>
          </a:p>
        </p:txBody>
      </p:sp>
      <p:sp>
        <p:nvSpPr>
          <p:cNvPr id="116739" name="Text Box 3">
            <a:extLst>
              <a:ext uri="{FF2B5EF4-FFF2-40B4-BE49-F238E27FC236}">
                <a16:creationId xmlns:a16="http://schemas.microsoft.com/office/drawing/2014/main" id="{D398B158-A5D3-6140-D58F-AA1EE825A17B}"/>
              </a:ext>
            </a:extLst>
          </p:cNvPr>
          <p:cNvSpPr txBox="1">
            <a:spLocks noChangeArrowheads="1"/>
          </p:cNvSpPr>
          <p:nvPr/>
        </p:nvSpPr>
        <p:spPr bwMode="auto">
          <a:xfrm>
            <a:off x="1295400" y="1587500"/>
            <a:ext cx="9525000"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lgn="just">
              <a:lnSpc>
                <a:spcPct val="150000"/>
              </a:lnSpc>
              <a:buFontTx/>
              <a:buChar char="•"/>
            </a:pPr>
            <a:r>
              <a:rPr lang="en-US" altLang="en-US" dirty="0">
                <a:latin typeface="Arial" panose="020B0604020202020204" pitchFamily="34" charset="0"/>
              </a:rPr>
              <a:t>	</a:t>
            </a:r>
            <a:r>
              <a:rPr lang="en-US" altLang="en-US" dirty="0" err="1">
                <a:latin typeface="Arial" panose="020B0604020202020204" pitchFamily="34" charset="0"/>
              </a:rPr>
              <a:t>CardLayouts</a:t>
            </a:r>
            <a:r>
              <a:rPr lang="en-US" altLang="en-US" dirty="0">
                <a:latin typeface="Times-Roman"/>
              </a:rPr>
              <a:t> behave differently from all the other layouts.</a:t>
            </a:r>
          </a:p>
          <a:p>
            <a:pPr lvl="1" algn="just">
              <a:lnSpc>
                <a:spcPct val="150000"/>
              </a:lnSpc>
              <a:buFontTx/>
              <a:buChar char="•"/>
            </a:pPr>
            <a:r>
              <a:rPr lang="en-US" altLang="en-US" dirty="0">
                <a:latin typeface="Times-Roman"/>
              </a:rPr>
              <a:t>It treats the layout as a </a:t>
            </a:r>
            <a:r>
              <a:rPr lang="en-US" altLang="en-US" dirty="0">
                <a:latin typeface="Arial" panose="020B0604020202020204" pitchFamily="34" charset="0"/>
              </a:rPr>
              <a:t>deck of cards</a:t>
            </a:r>
            <a:r>
              <a:rPr lang="en-US" altLang="en-US" dirty="0">
                <a:latin typeface="Times-Roman"/>
              </a:rPr>
              <a:t>.</a:t>
            </a:r>
          </a:p>
          <a:p>
            <a:pPr lvl="1" algn="just">
              <a:lnSpc>
                <a:spcPct val="150000"/>
              </a:lnSpc>
              <a:buFontTx/>
              <a:buChar char="•"/>
            </a:pPr>
            <a:r>
              <a:rPr lang="en-US" altLang="en-US" dirty="0">
                <a:latin typeface="Times-Roman"/>
              </a:rPr>
              <a:t>Only one card appears on the screen at a time. By flipping through the “deck of cards” all the components can be displayed.</a:t>
            </a:r>
          </a:p>
          <a:p>
            <a:pPr lvl="1" algn="just">
              <a:lnSpc>
                <a:spcPct val="150000"/>
              </a:lnSpc>
              <a:buFontTx/>
              <a:buChar char="•"/>
            </a:pPr>
            <a:r>
              <a:rPr lang="en-US" altLang="en-US" dirty="0">
                <a:latin typeface="Times-Roman"/>
              </a:rPr>
              <a:t>Components are displayed in the order that they were added</a:t>
            </a:r>
          </a:p>
          <a:p>
            <a:pPr algn="just">
              <a:lnSpc>
                <a:spcPct val="150000"/>
              </a:lnSpc>
            </a:pPr>
            <a:r>
              <a:rPr lang="en-US" altLang="en-US" dirty="0">
                <a:latin typeface="Times-Roman"/>
              </a:rPr>
              <a:t>	to the Container.</a:t>
            </a:r>
          </a:p>
        </p:txBody>
      </p:sp>
      <p:sp>
        <p:nvSpPr>
          <p:cNvPr id="3" name="Footer Placeholder 2">
            <a:extLst>
              <a:ext uri="{FF2B5EF4-FFF2-40B4-BE49-F238E27FC236}">
                <a16:creationId xmlns:a16="http://schemas.microsoft.com/office/drawing/2014/main" id="{004D8332-AC6F-4222-01E5-2EBE0638AA96}"/>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AB7B1DBD-EA7F-BE35-1B60-FDA64543D81B}"/>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a:extLst>
              <a:ext uri="{FF2B5EF4-FFF2-40B4-BE49-F238E27FC236}">
                <a16:creationId xmlns:a16="http://schemas.microsoft.com/office/drawing/2014/main" id="{160542CF-8B52-0700-C7F7-5C8F660A30F2}"/>
              </a:ext>
            </a:extLst>
          </p:cNvPr>
          <p:cNvSpPr txBox="1">
            <a:spLocks noChangeArrowheads="1"/>
          </p:cNvSpPr>
          <p:nvPr/>
        </p:nvSpPr>
        <p:spPr bwMode="auto">
          <a:xfrm>
            <a:off x="5310382" y="769939"/>
            <a:ext cx="20810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u="sng" dirty="0">
                <a:latin typeface="Times-Roman"/>
              </a:rPr>
              <a:t>3. </a:t>
            </a:r>
            <a:r>
              <a:rPr lang="en-US" altLang="en-US" sz="2400" u="sng" dirty="0" err="1">
                <a:latin typeface="Times-Roman"/>
              </a:rPr>
              <a:t>CardLayouts</a:t>
            </a:r>
            <a:endParaRPr lang="en-US" altLang="en-US" sz="2400" u="sng" dirty="0">
              <a:latin typeface="Times-Roman"/>
            </a:endParaRPr>
          </a:p>
        </p:txBody>
      </p:sp>
      <p:sp>
        <p:nvSpPr>
          <p:cNvPr id="117763" name="Text Box 3">
            <a:extLst>
              <a:ext uri="{FF2B5EF4-FFF2-40B4-BE49-F238E27FC236}">
                <a16:creationId xmlns:a16="http://schemas.microsoft.com/office/drawing/2014/main" id="{A9495881-4944-D3F9-A3FB-D2A9DAC62A95}"/>
              </a:ext>
            </a:extLst>
          </p:cNvPr>
          <p:cNvSpPr txBox="1">
            <a:spLocks noChangeArrowheads="1"/>
          </p:cNvSpPr>
          <p:nvPr/>
        </p:nvSpPr>
        <p:spPr bwMode="auto">
          <a:xfrm>
            <a:off x="1824038" y="1371600"/>
            <a:ext cx="8356600" cy="4836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lnSpc>
                <a:spcPct val="150000"/>
              </a:lnSpc>
              <a:buFontTx/>
              <a:buChar char="•"/>
            </a:pPr>
            <a:r>
              <a:rPr lang="en-US" altLang="en-US" dirty="0">
                <a:latin typeface="Times-Roman"/>
              </a:rPr>
              <a:t>	There are two constructors:</a:t>
            </a:r>
          </a:p>
          <a:p>
            <a:pPr>
              <a:lnSpc>
                <a:spcPct val="150000"/>
              </a:lnSpc>
            </a:pPr>
            <a:r>
              <a:rPr lang="en-US" altLang="en-US" sz="2000" dirty="0">
                <a:latin typeface="Times-Roman"/>
              </a:rPr>
              <a:t>	-	</a:t>
            </a:r>
            <a:r>
              <a:rPr lang="en-US" altLang="en-US" sz="2000" dirty="0" err="1">
                <a:latin typeface="Arial" panose="020B0604020202020204" pitchFamily="34" charset="0"/>
              </a:rPr>
              <a:t>CardLayout</a:t>
            </a:r>
            <a:r>
              <a:rPr lang="en-US" altLang="en-US" sz="2000" dirty="0">
                <a:latin typeface="Arial" panose="020B0604020202020204" pitchFamily="34" charset="0"/>
              </a:rPr>
              <a:t>()</a:t>
            </a:r>
          </a:p>
          <a:p>
            <a:pPr>
              <a:lnSpc>
                <a:spcPct val="150000"/>
              </a:lnSpc>
            </a:pPr>
            <a:r>
              <a:rPr lang="en-US" altLang="en-US" sz="2000" dirty="0">
                <a:latin typeface="BIEGHZ+MSTT31c5e600"/>
              </a:rPr>
              <a:t>			</a:t>
            </a:r>
            <a:r>
              <a:rPr lang="en-US" altLang="en-US" sz="2000" dirty="0">
                <a:latin typeface="Times-Roman"/>
              </a:rPr>
              <a:t>no gaps</a:t>
            </a:r>
          </a:p>
          <a:p>
            <a:pPr>
              <a:lnSpc>
                <a:spcPct val="150000"/>
              </a:lnSpc>
            </a:pPr>
            <a:r>
              <a:rPr lang="en-US" altLang="en-US" sz="2000" dirty="0">
                <a:latin typeface="Times-Roman"/>
              </a:rPr>
              <a:t>	-	</a:t>
            </a:r>
            <a:r>
              <a:rPr lang="en-US" altLang="en-US" sz="2000" dirty="0" err="1">
                <a:latin typeface="Arial" panose="020B0604020202020204" pitchFamily="34" charset="0"/>
              </a:rPr>
              <a:t>CardLayout</a:t>
            </a:r>
            <a:r>
              <a:rPr lang="en-US" altLang="en-US" sz="2000" dirty="0">
                <a:latin typeface="Arial" panose="020B0604020202020204" pitchFamily="34" charset="0"/>
              </a:rPr>
              <a:t>( int </a:t>
            </a:r>
            <a:r>
              <a:rPr lang="en-US" altLang="en-US" sz="2000" dirty="0" err="1">
                <a:latin typeface="Arial" panose="020B0604020202020204" pitchFamily="34" charset="0"/>
              </a:rPr>
              <a:t>hGap</a:t>
            </a:r>
            <a:r>
              <a:rPr lang="en-US" altLang="en-US" sz="2000" dirty="0">
                <a:latin typeface="Arial" panose="020B0604020202020204" pitchFamily="34" charset="0"/>
              </a:rPr>
              <a:t>, int </a:t>
            </a:r>
            <a:r>
              <a:rPr lang="en-US" altLang="en-US" sz="2000" dirty="0" err="1">
                <a:latin typeface="Arial" panose="020B0604020202020204" pitchFamily="34" charset="0"/>
              </a:rPr>
              <a:t>vGap</a:t>
            </a:r>
            <a:r>
              <a:rPr lang="en-US" altLang="en-US" sz="2000" dirty="0">
                <a:latin typeface="Arial" panose="020B0604020202020204" pitchFamily="34" charset="0"/>
              </a:rPr>
              <a:t>)</a:t>
            </a:r>
            <a:endParaRPr lang="en-US" altLang="en-US" sz="2000" dirty="0">
              <a:latin typeface="Times-Roman"/>
            </a:endParaRPr>
          </a:p>
          <a:p>
            <a:pPr>
              <a:lnSpc>
                <a:spcPct val="150000"/>
              </a:lnSpc>
            </a:pPr>
            <a:r>
              <a:rPr lang="en-US" altLang="en-US" sz="2000" dirty="0">
                <a:latin typeface="Times-Roman"/>
              </a:rPr>
              <a:t>			specified gaps</a:t>
            </a:r>
            <a:endParaRPr lang="en-US" altLang="en-US" dirty="0">
              <a:latin typeface="Times-Roman"/>
            </a:endParaRPr>
          </a:p>
          <a:p>
            <a:pPr lvl="1">
              <a:lnSpc>
                <a:spcPct val="150000"/>
              </a:lnSpc>
              <a:buFontTx/>
              <a:buChar char="•"/>
            </a:pPr>
            <a:r>
              <a:rPr lang="en-US" altLang="en-US" dirty="0">
                <a:latin typeface="Times-Roman"/>
              </a:rPr>
              <a:t>There are many methods in this class. Some of them are:</a:t>
            </a:r>
          </a:p>
          <a:p>
            <a:pPr>
              <a:lnSpc>
                <a:spcPct val="150000"/>
              </a:lnSpc>
            </a:pPr>
            <a:r>
              <a:rPr lang="en-US" altLang="en-US" sz="2000" dirty="0">
                <a:latin typeface="BIEGHZ+MSTT31c5e600"/>
              </a:rPr>
              <a:t>	</a:t>
            </a:r>
            <a:r>
              <a:rPr lang="en-US" altLang="en-US" sz="2000" dirty="0">
                <a:latin typeface="Arial" panose="020B0604020202020204" pitchFamily="34" charset="0"/>
              </a:rPr>
              <a:t>-	void first( Container c),</a:t>
            </a:r>
          </a:p>
          <a:p>
            <a:pPr>
              <a:lnSpc>
                <a:spcPct val="150000"/>
              </a:lnSpc>
            </a:pPr>
            <a:r>
              <a:rPr lang="en-US" altLang="en-US" sz="2000" dirty="0">
                <a:latin typeface="Arial" panose="020B0604020202020204" pitchFamily="34" charset="0"/>
              </a:rPr>
              <a:t>	-	void next( Container c),</a:t>
            </a:r>
          </a:p>
          <a:p>
            <a:pPr>
              <a:lnSpc>
                <a:spcPct val="150000"/>
              </a:lnSpc>
            </a:pPr>
            <a:r>
              <a:rPr lang="en-US" altLang="en-US" sz="2000" dirty="0">
                <a:latin typeface="Arial" panose="020B0604020202020204" pitchFamily="34" charset="0"/>
              </a:rPr>
              <a:t>	-	void last( Container c),</a:t>
            </a:r>
          </a:p>
          <a:p>
            <a:pPr>
              <a:lnSpc>
                <a:spcPct val="150000"/>
              </a:lnSpc>
            </a:pPr>
            <a:r>
              <a:rPr lang="en-US" altLang="en-US" sz="2000" dirty="0">
                <a:latin typeface="Arial" panose="020B0604020202020204" pitchFamily="34" charset="0"/>
              </a:rPr>
              <a:t>	-	void previous( Container c).</a:t>
            </a:r>
            <a:endParaRPr lang="en-US" altLang="en-US" dirty="0">
              <a:latin typeface="Arial" panose="020B0604020202020204" pitchFamily="34" charset="0"/>
            </a:endParaRPr>
          </a:p>
        </p:txBody>
      </p:sp>
      <p:sp>
        <p:nvSpPr>
          <p:cNvPr id="3" name="Footer Placeholder 2">
            <a:extLst>
              <a:ext uri="{FF2B5EF4-FFF2-40B4-BE49-F238E27FC236}">
                <a16:creationId xmlns:a16="http://schemas.microsoft.com/office/drawing/2014/main" id="{CCAC9D32-1D6E-4C4A-4697-02E5C2A3D3A7}"/>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A0927132-E6D1-AAF0-0F53-B7D1676E13D1}"/>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a:extLst>
              <a:ext uri="{FF2B5EF4-FFF2-40B4-BE49-F238E27FC236}">
                <a16:creationId xmlns:a16="http://schemas.microsoft.com/office/drawing/2014/main" id="{6D138F0A-5FB0-4564-F285-A26C428010AA}"/>
              </a:ext>
            </a:extLst>
          </p:cNvPr>
          <p:cNvSpPr txBox="1">
            <a:spLocks noChangeArrowheads="1"/>
          </p:cNvSpPr>
          <p:nvPr/>
        </p:nvSpPr>
        <p:spPr bwMode="auto">
          <a:xfrm>
            <a:off x="8229600" y="152400"/>
            <a:ext cx="31999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u="sng" dirty="0">
                <a:latin typeface="Times-Roman"/>
              </a:rPr>
              <a:t>3. </a:t>
            </a:r>
            <a:r>
              <a:rPr lang="en-US" altLang="en-US" sz="2400" u="sng" dirty="0" err="1">
                <a:latin typeface="Times-Roman"/>
              </a:rPr>
              <a:t>CardLayouts</a:t>
            </a:r>
            <a:r>
              <a:rPr lang="en-US" altLang="en-US" sz="2400" u="sng" dirty="0">
                <a:latin typeface="Times-Roman"/>
              </a:rPr>
              <a:t> (</a:t>
            </a:r>
            <a:r>
              <a:rPr lang="en-US" altLang="en-US" sz="2400" u="sng" dirty="0" err="1">
                <a:latin typeface="Times-Roman"/>
              </a:rPr>
              <a:t>cont</a:t>
            </a:r>
            <a:r>
              <a:rPr lang="en-US" altLang="en-US" sz="2400" u="sng" dirty="0">
                <a:latin typeface="Times-Roman"/>
              </a:rPr>
              <a:t>…)</a:t>
            </a:r>
          </a:p>
        </p:txBody>
      </p:sp>
      <p:sp>
        <p:nvSpPr>
          <p:cNvPr id="3" name="Footer Placeholder 2">
            <a:extLst>
              <a:ext uri="{FF2B5EF4-FFF2-40B4-BE49-F238E27FC236}">
                <a16:creationId xmlns:a16="http://schemas.microsoft.com/office/drawing/2014/main" id="{E5A7E9A8-D420-C3BC-5A65-8933AC3D09DC}"/>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DBEA306C-F88C-7B12-88BE-C895B8FBF39A}"/>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8" name="TextBox 7">
            <a:extLst>
              <a:ext uri="{FF2B5EF4-FFF2-40B4-BE49-F238E27FC236}">
                <a16:creationId xmlns:a16="http://schemas.microsoft.com/office/drawing/2014/main" id="{FE566C16-5872-F272-B760-12142DC0F124}"/>
              </a:ext>
            </a:extLst>
          </p:cNvPr>
          <p:cNvSpPr txBox="1"/>
          <p:nvPr/>
        </p:nvSpPr>
        <p:spPr>
          <a:xfrm>
            <a:off x="990600" y="138291"/>
            <a:ext cx="6096000" cy="6186309"/>
          </a:xfrm>
          <a:prstGeom prst="rect">
            <a:avLst/>
          </a:prstGeom>
          <a:noFill/>
        </p:spPr>
        <p:txBody>
          <a:bodyPr wrap="square">
            <a:spAutoFit/>
          </a:bodyPr>
          <a:lstStyle/>
          <a:p>
            <a:r>
              <a:rPr lang="en-IN" sz="1200" dirty="0"/>
              <a:t>import </a:t>
            </a:r>
            <a:r>
              <a:rPr lang="en-IN" sz="1200" dirty="0" err="1"/>
              <a:t>java.awt.CardLayout</a:t>
            </a:r>
            <a:r>
              <a:rPr lang="en-IN" sz="1200" dirty="0"/>
              <a:t>;</a:t>
            </a:r>
          </a:p>
          <a:p>
            <a:r>
              <a:rPr lang="en-IN" sz="1200" dirty="0"/>
              <a:t>import </a:t>
            </a:r>
            <a:r>
              <a:rPr lang="en-IN" sz="1200" dirty="0" err="1"/>
              <a:t>java.awt.event.ActionEvent</a:t>
            </a:r>
            <a:r>
              <a:rPr lang="en-IN" sz="1200" dirty="0"/>
              <a:t>;</a:t>
            </a:r>
          </a:p>
          <a:p>
            <a:r>
              <a:rPr lang="en-IN" sz="1200" dirty="0"/>
              <a:t>import </a:t>
            </a:r>
            <a:r>
              <a:rPr lang="en-IN" sz="1200" dirty="0" err="1"/>
              <a:t>java.awt.event.ActionListener</a:t>
            </a:r>
            <a:r>
              <a:rPr lang="en-IN" sz="1200" dirty="0"/>
              <a:t>;</a:t>
            </a:r>
          </a:p>
          <a:p>
            <a:endParaRPr lang="en-IN" sz="1200" dirty="0"/>
          </a:p>
          <a:p>
            <a:r>
              <a:rPr lang="en-IN" sz="1200" dirty="0"/>
              <a:t>import </a:t>
            </a:r>
            <a:r>
              <a:rPr lang="en-IN" sz="1200" dirty="0" err="1"/>
              <a:t>javax.swing.JButton</a:t>
            </a:r>
            <a:r>
              <a:rPr lang="en-IN" sz="1200" dirty="0"/>
              <a:t>;</a:t>
            </a:r>
          </a:p>
          <a:p>
            <a:r>
              <a:rPr lang="en-IN" sz="1200" dirty="0"/>
              <a:t>import </a:t>
            </a:r>
            <a:r>
              <a:rPr lang="en-IN" sz="1200" dirty="0" err="1"/>
              <a:t>javax.swing.JComboBox</a:t>
            </a:r>
            <a:r>
              <a:rPr lang="en-IN" sz="1200" dirty="0"/>
              <a:t>;</a:t>
            </a:r>
          </a:p>
          <a:p>
            <a:r>
              <a:rPr lang="en-IN" sz="1200" dirty="0"/>
              <a:t>import </a:t>
            </a:r>
            <a:r>
              <a:rPr lang="en-IN" sz="1200" dirty="0" err="1"/>
              <a:t>javax.swing.JFrame</a:t>
            </a:r>
            <a:r>
              <a:rPr lang="en-IN" sz="1200" dirty="0"/>
              <a:t>;</a:t>
            </a:r>
          </a:p>
          <a:p>
            <a:r>
              <a:rPr lang="en-IN" sz="1200" dirty="0"/>
              <a:t>import </a:t>
            </a:r>
            <a:r>
              <a:rPr lang="en-IN" sz="1200" dirty="0" err="1"/>
              <a:t>javax.swing.JLabel</a:t>
            </a:r>
            <a:r>
              <a:rPr lang="en-IN" sz="1200" dirty="0"/>
              <a:t>;</a:t>
            </a:r>
          </a:p>
          <a:p>
            <a:r>
              <a:rPr lang="en-IN" sz="1200" dirty="0"/>
              <a:t>import </a:t>
            </a:r>
            <a:r>
              <a:rPr lang="en-IN" sz="1200" dirty="0" err="1"/>
              <a:t>javax.swing.JPanel</a:t>
            </a:r>
            <a:r>
              <a:rPr lang="en-IN" sz="1200" dirty="0"/>
              <a:t>;</a:t>
            </a:r>
          </a:p>
          <a:p>
            <a:endParaRPr lang="en-IN" sz="1200" dirty="0"/>
          </a:p>
          <a:p>
            <a:r>
              <a:rPr lang="en-IN" sz="1200" dirty="0"/>
              <a:t>public class </a:t>
            </a:r>
            <a:r>
              <a:rPr lang="en-IN" sz="1200" dirty="0" err="1"/>
              <a:t>CardLayoutExample</a:t>
            </a:r>
            <a:r>
              <a:rPr lang="en-IN" sz="1200" dirty="0"/>
              <a:t> {</a:t>
            </a:r>
          </a:p>
          <a:p>
            <a:endParaRPr lang="en-IN" sz="1200" dirty="0"/>
          </a:p>
          <a:p>
            <a:r>
              <a:rPr lang="en-IN" sz="1200" dirty="0"/>
              <a:t>  private </a:t>
            </a:r>
            <a:r>
              <a:rPr lang="en-IN" sz="1200" dirty="0" err="1"/>
              <a:t>JFrame</a:t>
            </a:r>
            <a:r>
              <a:rPr lang="en-IN" sz="1200" dirty="0"/>
              <a:t> frame;</a:t>
            </a:r>
          </a:p>
          <a:p>
            <a:r>
              <a:rPr lang="en-IN" sz="1200" dirty="0"/>
              <a:t>	private </a:t>
            </a:r>
            <a:r>
              <a:rPr lang="en-IN" sz="1200" dirty="0" err="1"/>
              <a:t>JPanel</a:t>
            </a:r>
            <a:r>
              <a:rPr lang="en-IN" sz="1200" dirty="0"/>
              <a:t> </a:t>
            </a:r>
            <a:r>
              <a:rPr lang="en-IN" sz="1200" dirty="0" err="1"/>
              <a:t>panelOne</a:t>
            </a:r>
            <a:r>
              <a:rPr lang="en-IN" sz="1200" dirty="0"/>
              <a:t>;</a:t>
            </a:r>
          </a:p>
          <a:p>
            <a:r>
              <a:rPr lang="en-IN" sz="1200" dirty="0"/>
              <a:t>	private </a:t>
            </a:r>
            <a:r>
              <a:rPr lang="en-IN" sz="1200" dirty="0" err="1"/>
              <a:t>JPanel</a:t>
            </a:r>
            <a:r>
              <a:rPr lang="en-IN" sz="1200" dirty="0"/>
              <a:t> </a:t>
            </a:r>
            <a:r>
              <a:rPr lang="en-IN" sz="1200" dirty="0" err="1"/>
              <a:t>panelTwo</a:t>
            </a:r>
            <a:r>
              <a:rPr lang="en-IN" sz="1200" dirty="0"/>
              <a:t>;</a:t>
            </a:r>
          </a:p>
          <a:p>
            <a:r>
              <a:rPr lang="en-IN" sz="1200" dirty="0"/>
              <a:t>	private </a:t>
            </a:r>
            <a:r>
              <a:rPr lang="en-IN" sz="1200" dirty="0" err="1"/>
              <a:t>JButton</a:t>
            </a:r>
            <a:r>
              <a:rPr lang="en-IN" sz="1200" dirty="0"/>
              <a:t> </a:t>
            </a:r>
            <a:r>
              <a:rPr lang="en-IN" sz="1200" dirty="0" err="1"/>
              <a:t>buttonOne</a:t>
            </a:r>
            <a:r>
              <a:rPr lang="en-IN" sz="1200" dirty="0"/>
              <a:t>;</a:t>
            </a:r>
          </a:p>
          <a:p>
            <a:r>
              <a:rPr lang="en-IN" sz="1200" dirty="0"/>
              <a:t>	private </a:t>
            </a:r>
            <a:r>
              <a:rPr lang="en-IN" sz="1200" dirty="0" err="1"/>
              <a:t>JButton</a:t>
            </a:r>
            <a:r>
              <a:rPr lang="en-IN" sz="1200" dirty="0"/>
              <a:t> </a:t>
            </a:r>
            <a:r>
              <a:rPr lang="en-IN" sz="1200" dirty="0" err="1"/>
              <a:t>buttonTwo</a:t>
            </a:r>
            <a:r>
              <a:rPr lang="en-IN" sz="1200" dirty="0"/>
              <a:t>;</a:t>
            </a:r>
          </a:p>
          <a:p>
            <a:r>
              <a:rPr lang="en-IN" sz="1200" dirty="0"/>
              <a:t>	private </a:t>
            </a:r>
            <a:r>
              <a:rPr lang="en-IN" sz="1200" dirty="0" err="1"/>
              <a:t>CardLayout</a:t>
            </a:r>
            <a:r>
              <a:rPr lang="en-IN" sz="1200" dirty="0"/>
              <a:t> </a:t>
            </a:r>
            <a:r>
              <a:rPr lang="en-IN" sz="1200" dirty="0" err="1"/>
              <a:t>cardLayout</a:t>
            </a:r>
            <a:r>
              <a:rPr lang="en-IN" sz="1200" dirty="0"/>
              <a:t>;</a:t>
            </a:r>
          </a:p>
          <a:p>
            <a:r>
              <a:rPr lang="en-IN" sz="1200" dirty="0"/>
              <a:t>	</a:t>
            </a:r>
          </a:p>
          <a:p>
            <a:r>
              <a:rPr lang="en-IN" sz="1200" dirty="0"/>
              <a:t>	public </a:t>
            </a:r>
            <a:r>
              <a:rPr lang="en-IN" sz="1200" dirty="0" err="1"/>
              <a:t>CardLayoutExample</a:t>
            </a:r>
            <a:r>
              <a:rPr lang="en-IN" sz="1200" dirty="0"/>
              <a:t>() {</a:t>
            </a:r>
          </a:p>
          <a:p>
            <a:r>
              <a:rPr lang="en-IN" sz="1200" dirty="0"/>
              <a:t>		</a:t>
            </a:r>
            <a:r>
              <a:rPr lang="en-IN" sz="1200" dirty="0" err="1"/>
              <a:t>makeComponents</a:t>
            </a:r>
            <a:r>
              <a:rPr lang="en-IN" sz="1200" dirty="0"/>
              <a:t>();</a:t>
            </a:r>
          </a:p>
          <a:p>
            <a:r>
              <a:rPr lang="en-IN" sz="1200" dirty="0"/>
              <a:t>		</a:t>
            </a:r>
            <a:r>
              <a:rPr lang="en-IN" sz="1200" dirty="0" err="1"/>
              <a:t>makeLayout</a:t>
            </a:r>
            <a:r>
              <a:rPr lang="en-IN" sz="1200" dirty="0"/>
              <a:t>();</a:t>
            </a:r>
          </a:p>
          <a:p>
            <a:r>
              <a:rPr lang="en-IN" sz="1200" dirty="0"/>
              <a:t>	}</a:t>
            </a:r>
          </a:p>
          <a:p>
            <a:endParaRPr lang="en-IN" sz="1200" dirty="0"/>
          </a:p>
          <a:p>
            <a:r>
              <a:rPr lang="en-IN" sz="1200" dirty="0"/>
              <a:t>	private void </a:t>
            </a:r>
            <a:r>
              <a:rPr lang="en-IN" sz="1200" dirty="0" err="1"/>
              <a:t>makeLayout</a:t>
            </a:r>
            <a:r>
              <a:rPr lang="en-IN" sz="1200" dirty="0"/>
              <a:t>() {</a:t>
            </a:r>
          </a:p>
          <a:p>
            <a:r>
              <a:rPr lang="en-IN" sz="1200" dirty="0"/>
              <a:t>		</a:t>
            </a:r>
            <a:r>
              <a:rPr lang="en-IN" sz="1200" dirty="0" err="1"/>
              <a:t>frame.setLayout</a:t>
            </a:r>
            <a:r>
              <a:rPr lang="en-IN" sz="1200" dirty="0"/>
              <a:t>(</a:t>
            </a:r>
            <a:r>
              <a:rPr lang="en-IN" sz="1200" dirty="0" err="1"/>
              <a:t>cardLayout</a:t>
            </a:r>
            <a:r>
              <a:rPr lang="en-IN" sz="1200" dirty="0"/>
              <a:t>);</a:t>
            </a:r>
          </a:p>
          <a:p>
            <a:r>
              <a:rPr lang="en-IN" sz="1200" dirty="0"/>
              <a:t>		</a:t>
            </a:r>
            <a:r>
              <a:rPr lang="en-IN" sz="1200" dirty="0" err="1"/>
              <a:t>frame.add</a:t>
            </a:r>
            <a:r>
              <a:rPr lang="en-IN" sz="1200" dirty="0"/>
              <a:t>(</a:t>
            </a:r>
            <a:r>
              <a:rPr lang="en-IN" sz="1200" dirty="0" err="1"/>
              <a:t>panelOne</a:t>
            </a:r>
            <a:r>
              <a:rPr lang="en-IN" sz="1200" dirty="0"/>
              <a:t>,"one");</a:t>
            </a:r>
          </a:p>
          <a:p>
            <a:r>
              <a:rPr lang="en-IN" sz="1200" dirty="0"/>
              <a:t>		</a:t>
            </a:r>
            <a:r>
              <a:rPr lang="en-IN" sz="1200" dirty="0" err="1"/>
              <a:t>frame.add</a:t>
            </a:r>
            <a:r>
              <a:rPr lang="en-IN" sz="1200" dirty="0"/>
              <a:t>(</a:t>
            </a:r>
            <a:r>
              <a:rPr lang="en-IN" sz="1200" dirty="0" err="1"/>
              <a:t>panelTwo</a:t>
            </a:r>
            <a:r>
              <a:rPr lang="en-IN" sz="1200" dirty="0"/>
              <a:t>,"two");</a:t>
            </a:r>
          </a:p>
          <a:p>
            <a:r>
              <a:rPr lang="en-IN" sz="1200" dirty="0"/>
              <a:t>		</a:t>
            </a:r>
            <a:r>
              <a:rPr lang="en-IN" sz="1200" dirty="0" err="1"/>
              <a:t>frame.setDefaultCloseOperation</a:t>
            </a:r>
            <a:r>
              <a:rPr lang="en-IN" sz="1200" dirty="0"/>
              <a:t>(</a:t>
            </a:r>
            <a:r>
              <a:rPr lang="en-IN" sz="1200" dirty="0" err="1"/>
              <a:t>JFrame.EXIT_ON_CLOSE</a:t>
            </a:r>
            <a:r>
              <a:rPr lang="en-IN" sz="1200" dirty="0"/>
              <a:t>);</a:t>
            </a:r>
          </a:p>
          <a:p>
            <a:r>
              <a:rPr lang="en-IN" sz="1200" dirty="0"/>
              <a:t>		</a:t>
            </a:r>
            <a:r>
              <a:rPr lang="en-IN" sz="1200" dirty="0" err="1"/>
              <a:t>frame.setSize</a:t>
            </a:r>
            <a:r>
              <a:rPr lang="en-IN" sz="1200" dirty="0"/>
              <a:t>(300,300);</a:t>
            </a:r>
          </a:p>
          <a:p>
            <a:r>
              <a:rPr lang="en-IN" sz="1200" dirty="0"/>
              <a:t>		</a:t>
            </a:r>
            <a:r>
              <a:rPr lang="en-IN" sz="1200" dirty="0" err="1"/>
              <a:t>frame.setVisible</a:t>
            </a:r>
            <a:r>
              <a:rPr lang="en-IN" sz="1200" dirty="0"/>
              <a:t>(true);</a:t>
            </a:r>
          </a:p>
          <a:p>
            <a:r>
              <a:rPr lang="en-IN" sz="1200" dirty="0"/>
              <a:t>		</a:t>
            </a:r>
          </a:p>
          <a:p>
            <a:r>
              <a:rPr lang="en-IN" sz="1200"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a:extLst>
              <a:ext uri="{FF2B5EF4-FFF2-40B4-BE49-F238E27FC236}">
                <a16:creationId xmlns:a16="http://schemas.microsoft.com/office/drawing/2014/main" id="{14810004-D5FB-E349-84D5-1554802A34B9}"/>
              </a:ext>
            </a:extLst>
          </p:cNvPr>
          <p:cNvSpPr txBox="1">
            <a:spLocks noChangeArrowheads="1"/>
          </p:cNvSpPr>
          <p:nvPr/>
        </p:nvSpPr>
        <p:spPr bwMode="auto">
          <a:xfrm>
            <a:off x="7850815" y="304800"/>
            <a:ext cx="31999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u="sng" dirty="0">
                <a:latin typeface="Times-Roman"/>
              </a:rPr>
              <a:t>3. </a:t>
            </a:r>
            <a:r>
              <a:rPr lang="en-US" altLang="en-US" sz="2400" u="sng" dirty="0" err="1">
                <a:latin typeface="Times-Roman"/>
              </a:rPr>
              <a:t>CardLayouts</a:t>
            </a:r>
            <a:r>
              <a:rPr lang="en-US" altLang="en-US" sz="2400" u="sng" dirty="0">
                <a:latin typeface="Times-Roman"/>
              </a:rPr>
              <a:t> (</a:t>
            </a:r>
            <a:r>
              <a:rPr lang="en-US" altLang="en-US" sz="2400" u="sng" dirty="0" err="1">
                <a:latin typeface="Times-Roman"/>
              </a:rPr>
              <a:t>cont</a:t>
            </a:r>
            <a:r>
              <a:rPr lang="en-US" altLang="en-US" sz="2400" u="sng" dirty="0">
                <a:latin typeface="Times-Roman"/>
              </a:rPr>
              <a:t>…)</a:t>
            </a:r>
          </a:p>
        </p:txBody>
      </p:sp>
      <p:sp>
        <p:nvSpPr>
          <p:cNvPr id="3" name="Footer Placeholder 2">
            <a:extLst>
              <a:ext uri="{FF2B5EF4-FFF2-40B4-BE49-F238E27FC236}">
                <a16:creationId xmlns:a16="http://schemas.microsoft.com/office/drawing/2014/main" id="{BB377EA8-FF11-FFCE-CF0F-B511BF42FEA9}"/>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F01B4980-FDE5-01B5-DC64-1B57865598A0}"/>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6" name="TextBox 5">
            <a:extLst>
              <a:ext uri="{FF2B5EF4-FFF2-40B4-BE49-F238E27FC236}">
                <a16:creationId xmlns:a16="http://schemas.microsoft.com/office/drawing/2014/main" id="{26A758D0-3160-5751-A3B2-39538609FBEF}"/>
              </a:ext>
            </a:extLst>
          </p:cNvPr>
          <p:cNvSpPr txBox="1"/>
          <p:nvPr/>
        </p:nvSpPr>
        <p:spPr>
          <a:xfrm>
            <a:off x="457200" y="-152400"/>
            <a:ext cx="6096000" cy="6555641"/>
          </a:xfrm>
          <a:prstGeom prst="rect">
            <a:avLst/>
          </a:prstGeom>
          <a:noFill/>
        </p:spPr>
        <p:txBody>
          <a:bodyPr wrap="square">
            <a:spAutoFit/>
          </a:bodyPr>
          <a:lstStyle/>
          <a:p>
            <a:endParaRPr lang="en-IN" sz="1200" dirty="0"/>
          </a:p>
          <a:p>
            <a:r>
              <a:rPr lang="en-IN" sz="1200" dirty="0"/>
              <a:t>	private void </a:t>
            </a:r>
            <a:r>
              <a:rPr lang="en-IN" sz="1200" dirty="0" err="1"/>
              <a:t>makeComponents</a:t>
            </a:r>
            <a:r>
              <a:rPr lang="en-IN" sz="1200" dirty="0"/>
              <a:t>() {</a:t>
            </a:r>
          </a:p>
          <a:p>
            <a:r>
              <a:rPr lang="en-IN" sz="1200" dirty="0"/>
              <a:t>		frame = new </a:t>
            </a:r>
            <a:r>
              <a:rPr lang="en-IN" sz="1200" dirty="0" err="1"/>
              <a:t>JFrame</a:t>
            </a:r>
            <a:r>
              <a:rPr lang="en-IN" sz="1200" dirty="0"/>
              <a:t>("Example");</a:t>
            </a:r>
          </a:p>
          <a:p>
            <a:r>
              <a:rPr lang="en-IN" sz="1200" dirty="0"/>
              <a:t>		</a:t>
            </a:r>
            <a:r>
              <a:rPr lang="en-IN" sz="1200" dirty="0" err="1"/>
              <a:t>frame.setSize</a:t>
            </a:r>
            <a:r>
              <a:rPr lang="en-IN" sz="1200" dirty="0"/>
              <a:t>(300,300);</a:t>
            </a:r>
          </a:p>
          <a:p>
            <a:r>
              <a:rPr lang="en-IN" sz="1200" dirty="0"/>
              <a:t>		</a:t>
            </a:r>
            <a:r>
              <a:rPr lang="en-IN" sz="1200" dirty="0" err="1"/>
              <a:t>panelOne</a:t>
            </a:r>
            <a:r>
              <a:rPr lang="en-IN" sz="1200" dirty="0"/>
              <a:t> = new </a:t>
            </a:r>
            <a:r>
              <a:rPr lang="en-IN" sz="1200" dirty="0" err="1"/>
              <a:t>JPanel</a:t>
            </a:r>
            <a:r>
              <a:rPr lang="en-IN" sz="1200" dirty="0"/>
              <a:t>();</a:t>
            </a:r>
          </a:p>
          <a:p>
            <a:r>
              <a:rPr lang="en-IN" sz="1200" dirty="0"/>
              <a:t>		</a:t>
            </a:r>
            <a:r>
              <a:rPr lang="en-IN" sz="1200" dirty="0" err="1"/>
              <a:t>panelTwo</a:t>
            </a:r>
            <a:r>
              <a:rPr lang="en-IN" sz="1200" dirty="0"/>
              <a:t> = new </a:t>
            </a:r>
            <a:r>
              <a:rPr lang="en-IN" sz="1200" dirty="0" err="1"/>
              <a:t>JPanel</a:t>
            </a:r>
            <a:r>
              <a:rPr lang="en-IN" sz="1200" dirty="0"/>
              <a:t>();</a:t>
            </a:r>
          </a:p>
          <a:p>
            <a:r>
              <a:rPr lang="en-IN" sz="1200" dirty="0"/>
              <a:t>		</a:t>
            </a:r>
            <a:r>
              <a:rPr lang="en-IN" sz="1200" dirty="0" err="1"/>
              <a:t>panelOne.add</a:t>
            </a:r>
            <a:r>
              <a:rPr lang="en-IN" sz="1200" dirty="0"/>
              <a:t>(new </a:t>
            </a:r>
            <a:r>
              <a:rPr lang="en-IN" sz="1200" dirty="0" err="1"/>
              <a:t>JLabel</a:t>
            </a:r>
            <a:r>
              <a:rPr lang="en-IN" sz="1200" dirty="0"/>
              <a:t>("hello"));</a:t>
            </a:r>
          </a:p>
          <a:p>
            <a:r>
              <a:rPr lang="en-IN" sz="1200" dirty="0"/>
              <a:t>		</a:t>
            </a:r>
            <a:r>
              <a:rPr lang="en-IN" sz="1200" dirty="0" err="1"/>
              <a:t>panelOne.add</a:t>
            </a:r>
            <a:r>
              <a:rPr lang="en-IN" sz="1200" dirty="0"/>
              <a:t>(new </a:t>
            </a:r>
            <a:r>
              <a:rPr lang="en-IN" sz="1200" dirty="0" err="1"/>
              <a:t>JLabel</a:t>
            </a:r>
            <a:r>
              <a:rPr lang="en-IN" sz="1200" dirty="0"/>
              <a:t>("hello"));</a:t>
            </a:r>
          </a:p>
          <a:p>
            <a:r>
              <a:rPr lang="en-IN" sz="1200" dirty="0"/>
              <a:t>		</a:t>
            </a:r>
            <a:r>
              <a:rPr lang="en-IN" sz="1200" dirty="0" err="1"/>
              <a:t>buttonOne</a:t>
            </a:r>
            <a:r>
              <a:rPr lang="en-IN" sz="1200" dirty="0"/>
              <a:t> = new </a:t>
            </a:r>
            <a:r>
              <a:rPr lang="en-IN" sz="1200" dirty="0" err="1"/>
              <a:t>JButton</a:t>
            </a:r>
            <a:r>
              <a:rPr lang="en-IN" sz="1200" dirty="0"/>
              <a:t>("Press Me 1");</a:t>
            </a:r>
          </a:p>
          <a:p>
            <a:r>
              <a:rPr lang="en-IN" sz="1200" dirty="0"/>
              <a:t>		</a:t>
            </a:r>
            <a:r>
              <a:rPr lang="en-IN" sz="1200" dirty="0" err="1"/>
              <a:t>buttonOne.addActionListener</a:t>
            </a:r>
            <a:r>
              <a:rPr lang="en-IN" sz="1200" dirty="0"/>
              <a:t>(new </a:t>
            </a:r>
            <a:r>
              <a:rPr lang="en-IN" sz="1200" dirty="0" err="1"/>
              <a:t>CardListener</a:t>
            </a:r>
            <a:r>
              <a:rPr lang="en-IN" sz="1200" dirty="0"/>
              <a:t>());</a:t>
            </a:r>
          </a:p>
          <a:p>
            <a:r>
              <a:rPr lang="en-IN" sz="1200" dirty="0"/>
              <a:t>		</a:t>
            </a:r>
            <a:r>
              <a:rPr lang="en-IN" sz="1200" dirty="0" err="1"/>
              <a:t>buttonTwo</a:t>
            </a:r>
            <a:r>
              <a:rPr lang="en-IN" sz="1200" dirty="0"/>
              <a:t> = new </a:t>
            </a:r>
            <a:r>
              <a:rPr lang="en-IN" sz="1200" dirty="0" err="1"/>
              <a:t>JButton</a:t>
            </a:r>
            <a:r>
              <a:rPr lang="en-IN" sz="1200" dirty="0"/>
              <a:t>("Press Me 2");</a:t>
            </a:r>
          </a:p>
          <a:p>
            <a:r>
              <a:rPr lang="en-IN" sz="1200" dirty="0"/>
              <a:t>		</a:t>
            </a:r>
            <a:r>
              <a:rPr lang="en-IN" sz="1200" dirty="0" err="1"/>
              <a:t>buttonTwo.addActionListener</a:t>
            </a:r>
            <a:r>
              <a:rPr lang="en-IN" sz="1200" dirty="0"/>
              <a:t>(new </a:t>
            </a:r>
            <a:r>
              <a:rPr lang="en-IN" sz="1200" dirty="0" err="1"/>
              <a:t>OtherCardListener</a:t>
            </a:r>
            <a:r>
              <a:rPr lang="en-IN" sz="1200" dirty="0"/>
              <a:t>());</a:t>
            </a:r>
          </a:p>
          <a:p>
            <a:r>
              <a:rPr lang="en-IN" sz="1200" dirty="0"/>
              <a:t>		</a:t>
            </a:r>
            <a:r>
              <a:rPr lang="en-IN" sz="1200" dirty="0" err="1"/>
              <a:t>panelOne.add</a:t>
            </a:r>
            <a:r>
              <a:rPr lang="en-IN" sz="1200" dirty="0"/>
              <a:t>(</a:t>
            </a:r>
            <a:r>
              <a:rPr lang="en-IN" sz="1200" dirty="0" err="1"/>
              <a:t>buttonOne</a:t>
            </a:r>
            <a:r>
              <a:rPr lang="en-IN" sz="1200" dirty="0"/>
              <a:t>);</a:t>
            </a:r>
          </a:p>
          <a:p>
            <a:r>
              <a:rPr lang="en-IN" sz="1200" dirty="0"/>
              <a:t>		</a:t>
            </a:r>
            <a:r>
              <a:rPr lang="en-IN" sz="1200" dirty="0" err="1"/>
              <a:t>panelTwo.add</a:t>
            </a:r>
            <a:r>
              <a:rPr lang="en-IN" sz="1200" dirty="0"/>
              <a:t>(</a:t>
            </a:r>
            <a:r>
              <a:rPr lang="en-IN" sz="1200" dirty="0" err="1"/>
              <a:t>buttonTwo</a:t>
            </a:r>
            <a:r>
              <a:rPr lang="en-IN" sz="1200" dirty="0"/>
              <a:t>);</a:t>
            </a:r>
          </a:p>
          <a:p>
            <a:r>
              <a:rPr lang="en-IN" sz="1200" dirty="0"/>
              <a:t>		</a:t>
            </a:r>
            <a:r>
              <a:rPr lang="en-IN" sz="1200" dirty="0" err="1"/>
              <a:t>cardLayout</a:t>
            </a:r>
            <a:r>
              <a:rPr lang="en-IN" sz="1200" dirty="0"/>
              <a:t> = new </a:t>
            </a:r>
            <a:r>
              <a:rPr lang="en-IN" sz="1200" dirty="0" err="1"/>
              <a:t>CardLayout</a:t>
            </a:r>
            <a:r>
              <a:rPr lang="en-IN" sz="1200" dirty="0"/>
              <a:t>();</a:t>
            </a:r>
          </a:p>
          <a:p>
            <a:r>
              <a:rPr lang="en-IN" sz="1200" dirty="0"/>
              <a:t>	}</a:t>
            </a:r>
          </a:p>
          <a:p>
            <a:r>
              <a:rPr lang="en-IN" sz="1200" dirty="0"/>
              <a:t>		public class </a:t>
            </a:r>
            <a:r>
              <a:rPr lang="en-IN" sz="1200" dirty="0" err="1"/>
              <a:t>CardListener</a:t>
            </a:r>
            <a:r>
              <a:rPr lang="en-IN" sz="1200" dirty="0"/>
              <a:t> implements ActionListener {</a:t>
            </a:r>
          </a:p>
          <a:p>
            <a:r>
              <a:rPr lang="en-IN" sz="1200" dirty="0"/>
              <a:t>		public void </a:t>
            </a:r>
            <a:r>
              <a:rPr lang="en-IN" sz="1200" dirty="0" err="1"/>
              <a:t>actionPerformed</a:t>
            </a:r>
            <a:r>
              <a:rPr lang="en-IN" sz="1200" dirty="0"/>
              <a:t>(</a:t>
            </a:r>
            <a:r>
              <a:rPr lang="en-IN" sz="1200" dirty="0" err="1"/>
              <a:t>ActionEvent</a:t>
            </a:r>
            <a:r>
              <a:rPr lang="en-IN" sz="1200" dirty="0"/>
              <a:t> e) {</a:t>
            </a:r>
          </a:p>
          <a:p>
            <a:r>
              <a:rPr lang="en-IN" sz="1200" dirty="0"/>
              <a:t>			</a:t>
            </a:r>
            <a:r>
              <a:rPr lang="en-IN" sz="1200" dirty="0" err="1"/>
              <a:t>cardLayout.show</a:t>
            </a:r>
            <a:r>
              <a:rPr lang="en-IN" sz="1200" dirty="0"/>
              <a:t>(</a:t>
            </a:r>
            <a:r>
              <a:rPr lang="en-IN" sz="1200" dirty="0" err="1"/>
              <a:t>frame.getContentPane</a:t>
            </a:r>
            <a:r>
              <a:rPr lang="en-IN" sz="1200" dirty="0"/>
              <a:t>(),"two");</a:t>
            </a:r>
          </a:p>
          <a:p>
            <a:r>
              <a:rPr lang="en-IN" sz="1200" dirty="0"/>
              <a:t>		} }</a:t>
            </a:r>
          </a:p>
          <a:p>
            <a:r>
              <a:rPr lang="en-IN" sz="1200" dirty="0"/>
              <a:t>		public class </a:t>
            </a:r>
            <a:r>
              <a:rPr lang="en-IN" sz="1200" dirty="0" err="1"/>
              <a:t>OtherCardListener</a:t>
            </a:r>
            <a:r>
              <a:rPr lang="en-IN" sz="1200" dirty="0"/>
              <a:t> implements ActionListener {</a:t>
            </a:r>
          </a:p>
          <a:p>
            <a:r>
              <a:rPr lang="en-IN" sz="1200" dirty="0"/>
              <a:t>		public void </a:t>
            </a:r>
            <a:r>
              <a:rPr lang="en-IN" sz="1200" dirty="0" err="1"/>
              <a:t>actionPerformed</a:t>
            </a:r>
            <a:r>
              <a:rPr lang="en-IN" sz="1200" dirty="0"/>
              <a:t>(</a:t>
            </a:r>
            <a:r>
              <a:rPr lang="en-IN" sz="1200" dirty="0" err="1"/>
              <a:t>ActionEvent</a:t>
            </a:r>
            <a:r>
              <a:rPr lang="en-IN" sz="1200" dirty="0"/>
              <a:t> e) {</a:t>
            </a:r>
          </a:p>
          <a:p>
            <a:r>
              <a:rPr lang="en-IN" sz="1200" dirty="0"/>
              <a:t>			</a:t>
            </a:r>
            <a:r>
              <a:rPr lang="en-IN" sz="1200" dirty="0" err="1"/>
              <a:t>cardLayout.show</a:t>
            </a:r>
            <a:r>
              <a:rPr lang="en-IN" sz="1200" dirty="0"/>
              <a:t>(</a:t>
            </a:r>
            <a:r>
              <a:rPr lang="en-IN" sz="1200" dirty="0" err="1"/>
              <a:t>frame.getContentPane</a:t>
            </a:r>
            <a:r>
              <a:rPr lang="en-IN" sz="1200" dirty="0"/>
              <a:t>(),"one");         		</a:t>
            </a:r>
          </a:p>
          <a:p>
            <a:r>
              <a:rPr lang="en-IN" sz="1200" dirty="0"/>
              <a:t>		} }</a:t>
            </a:r>
          </a:p>
          <a:p>
            <a:r>
              <a:rPr lang="en-IN" sz="1200" dirty="0"/>
              <a:t>	public class </a:t>
            </a:r>
            <a:r>
              <a:rPr lang="en-IN" sz="1200" dirty="0" err="1"/>
              <a:t>BothListener</a:t>
            </a:r>
            <a:r>
              <a:rPr lang="en-IN" sz="1200" dirty="0"/>
              <a:t> implements ActionListener {</a:t>
            </a:r>
          </a:p>
          <a:p>
            <a:r>
              <a:rPr lang="en-IN" sz="1200" dirty="0"/>
              <a:t>		public void </a:t>
            </a:r>
            <a:r>
              <a:rPr lang="en-IN" sz="1200" dirty="0" err="1"/>
              <a:t>actionPerformed</a:t>
            </a:r>
            <a:r>
              <a:rPr lang="en-IN" sz="1200" dirty="0"/>
              <a:t>(</a:t>
            </a:r>
            <a:r>
              <a:rPr lang="en-IN" sz="1200" dirty="0" err="1"/>
              <a:t>ActionEvent</a:t>
            </a:r>
            <a:r>
              <a:rPr lang="en-IN" sz="1200" dirty="0"/>
              <a:t> e) {</a:t>
            </a:r>
          </a:p>
          <a:p>
            <a:r>
              <a:rPr lang="en-IN" sz="1200" dirty="0"/>
              <a:t>			if( </a:t>
            </a:r>
            <a:r>
              <a:rPr lang="en-IN" sz="1200" dirty="0" err="1"/>
              <a:t>e.getSource</a:t>
            </a:r>
            <a:r>
              <a:rPr lang="en-IN" sz="1200" dirty="0"/>
              <a:t>() == </a:t>
            </a:r>
            <a:r>
              <a:rPr lang="en-IN" sz="1200" dirty="0" err="1"/>
              <a:t>buttonOne</a:t>
            </a:r>
            <a:r>
              <a:rPr lang="en-IN" sz="1200" dirty="0"/>
              <a:t>)</a:t>
            </a:r>
          </a:p>
          <a:p>
            <a:r>
              <a:rPr lang="en-IN" sz="1200" dirty="0"/>
              <a:t>			{	</a:t>
            </a:r>
            <a:r>
              <a:rPr lang="en-IN" sz="1200" dirty="0" err="1"/>
              <a:t>cardLayout.show</a:t>
            </a:r>
            <a:r>
              <a:rPr lang="en-IN" sz="1200" dirty="0"/>
              <a:t>(</a:t>
            </a:r>
            <a:r>
              <a:rPr lang="en-IN" sz="1200" dirty="0" err="1"/>
              <a:t>frame.getContentPane</a:t>
            </a:r>
            <a:r>
              <a:rPr lang="en-IN" sz="1200" dirty="0"/>
              <a:t>(), "two");            }</a:t>
            </a:r>
          </a:p>
          <a:p>
            <a:r>
              <a:rPr lang="en-IN" sz="1200" dirty="0"/>
              <a:t>			else</a:t>
            </a:r>
          </a:p>
          <a:p>
            <a:r>
              <a:rPr lang="en-IN" sz="1200" dirty="0"/>
              <a:t>			{	</a:t>
            </a:r>
            <a:r>
              <a:rPr lang="en-IN" sz="1200" dirty="0" err="1"/>
              <a:t>cardLayout.show</a:t>
            </a:r>
            <a:r>
              <a:rPr lang="en-IN" sz="1200" dirty="0"/>
              <a:t>(</a:t>
            </a:r>
            <a:r>
              <a:rPr lang="en-IN" sz="1200" dirty="0" err="1"/>
              <a:t>frame.getContentPane</a:t>
            </a:r>
            <a:r>
              <a:rPr lang="en-IN" sz="1200" dirty="0"/>
              <a:t>(), "one"); 	         }</a:t>
            </a:r>
          </a:p>
          <a:p>
            <a:r>
              <a:rPr lang="en-IN" sz="1200" dirty="0"/>
              <a:t>		} }</a:t>
            </a:r>
          </a:p>
          <a:p>
            <a:r>
              <a:rPr lang="en-IN" sz="1200" dirty="0"/>
              <a:t>		// create a listener that shows the first panel register with second button</a:t>
            </a:r>
          </a:p>
          <a:p>
            <a:r>
              <a:rPr lang="en-IN" sz="1200" dirty="0"/>
              <a:t>		public static void main(String[] </a:t>
            </a:r>
            <a:r>
              <a:rPr lang="en-IN" sz="1200" dirty="0" err="1"/>
              <a:t>args</a:t>
            </a:r>
            <a:r>
              <a:rPr lang="en-IN" sz="1200" dirty="0"/>
              <a:t>) {</a:t>
            </a:r>
          </a:p>
          <a:p>
            <a:r>
              <a:rPr lang="en-IN" sz="1200" dirty="0"/>
              <a:t>		</a:t>
            </a:r>
            <a:r>
              <a:rPr lang="en-IN" sz="1200" dirty="0" err="1"/>
              <a:t>CardLayoutExample</a:t>
            </a:r>
            <a:r>
              <a:rPr lang="en-IN" sz="1200" dirty="0"/>
              <a:t> </a:t>
            </a:r>
            <a:r>
              <a:rPr lang="en-IN" sz="1200" dirty="0" err="1"/>
              <a:t>ce</a:t>
            </a:r>
            <a:r>
              <a:rPr lang="en-IN" sz="1200" dirty="0"/>
              <a:t> = new </a:t>
            </a:r>
            <a:r>
              <a:rPr lang="en-IN" sz="1200" dirty="0" err="1"/>
              <a:t>CardLayoutExample</a:t>
            </a:r>
            <a:r>
              <a:rPr lang="en-IN" sz="1200" dirty="0"/>
              <a:t>();				}</a:t>
            </a:r>
          </a:p>
          <a:p>
            <a:r>
              <a:rPr lang="en-IN" sz="120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a:extLst>
              <a:ext uri="{FF2B5EF4-FFF2-40B4-BE49-F238E27FC236}">
                <a16:creationId xmlns:a16="http://schemas.microsoft.com/office/drawing/2014/main" id="{B3ED4528-79BB-AD67-EF2D-719F5AA9CB93}"/>
              </a:ext>
            </a:extLst>
          </p:cNvPr>
          <p:cNvSpPr txBox="1">
            <a:spLocks noChangeArrowheads="1"/>
          </p:cNvSpPr>
          <p:nvPr/>
        </p:nvSpPr>
        <p:spPr bwMode="auto">
          <a:xfrm>
            <a:off x="4973638" y="685800"/>
            <a:ext cx="23968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latin typeface="Times-Roman"/>
              </a:rPr>
              <a:t>3. </a:t>
            </a:r>
            <a:r>
              <a:rPr lang="en-US" altLang="en-US" sz="2800" u="sng" dirty="0" err="1">
                <a:latin typeface="Times-Roman"/>
              </a:rPr>
              <a:t>CardLayouts</a:t>
            </a:r>
            <a:endParaRPr lang="en-US" altLang="en-US" sz="2800" u="sng" dirty="0">
              <a:latin typeface="Times-Roman"/>
            </a:endParaRPr>
          </a:p>
        </p:txBody>
      </p:sp>
      <p:sp>
        <p:nvSpPr>
          <p:cNvPr id="3" name="Footer Placeholder 2">
            <a:extLst>
              <a:ext uri="{FF2B5EF4-FFF2-40B4-BE49-F238E27FC236}">
                <a16:creationId xmlns:a16="http://schemas.microsoft.com/office/drawing/2014/main" id="{AF35CDC0-9945-A26C-9396-0E20A48034AE}"/>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75477547-2C42-5EF3-D713-55620E24B77E}"/>
              </a:ext>
            </a:extLst>
          </p:cNvPr>
          <p:cNvSpPr>
            <a:spLocks noGrp="1"/>
          </p:cNvSpPr>
          <p:nvPr>
            <p:ph type="sldNum" sz="quarter" idx="12"/>
          </p:nvPr>
        </p:nvSpPr>
        <p:spPr/>
        <p:txBody>
          <a:bodyPr/>
          <a:lstStyle/>
          <a:p>
            <a:fld id="{B6F15528-21DE-4FAA-801E-634DDDAF4B2B}" type="slidenum">
              <a:rPr lang="en-US" smtClean="0"/>
              <a:pPr/>
              <a:t>16</a:t>
            </a:fld>
            <a:endParaRPr lang="en-US"/>
          </a:p>
        </p:txBody>
      </p:sp>
      <p:pic>
        <p:nvPicPr>
          <p:cNvPr id="7" name="Picture 6">
            <a:extLst>
              <a:ext uri="{FF2B5EF4-FFF2-40B4-BE49-F238E27FC236}">
                <a16:creationId xmlns:a16="http://schemas.microsoft.com/office/drawing/2014/main" id="{603322E7-D42E-2FBE-1A59-30FF38A6E2F6}"/>
              </a:ext>
            </a:extLst>
          </p:cNvPr>
          <p:cNvPicPr>
            <a:picLocks noChangeAspect="1"/>
          </p:cNvPicPr>
          <p:nvPr/>
        </p:nvPicPr>
        <p:blipFill>
          <a:blip r:embed="rId2"/>
          <a:stretch>
            <a:fillRect/>
          </a:stretch>
        </p:blipFill>
        <p:spPr>
          <a:xfrm>
            <a:off x="2057400" y="1752600"/>
            <a:ext cx="2791215" cy="2829320"/>
          </a:xfrm>
          <a:prstGeom prst="rect">
            <a:avLst/>
          </a:prstGeom>
        </p:spPr>
      </p:pic>
      <p:pic>
        <p:nvPicPr>
          <p:cNvPr id="9" name="Picture 8">
            <a:extLst>
              <a:ext uri="{FF2B5EF4-FFF2-40B4-BE49-F238E27FC236}">
                <a16:creationId xmlns:a16="http://schemas.microsoft.com/office/drawing/2014/main" id="{3CD07914-852B-ED21-B6B7-B449AAA3885A}"/>
              </a:ext>
            </a:extLst>
          </p:cNvPr>
          <p:cNvPicPr>
            <a:picLocks noChangeAspect="1"/>
          </p:cNvPicPr>
          <p:nvPr/>
        </p:nvPicPr>
        <p:blipFill>
          <a:blip r:embed="rId3"/>
          <a:stretch>
            <a:fillRect/>
          </a:stretch>
        </p:blipFill>
        <p:spPr>
          <a:xfrm>
            <a:off x="6705600" y="1728784"/>
            <a:ext cx="2838846" cy="287695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1026">
            <a:extLst>
              <a:ext uri="{FF2B5EF4-FFF2-40B4-BE49-F238E27FC236}">
                <a16:creationId xmlns:a16="http://schemas.microsoft.com/office/drawing/2014/main" id="{F5811C07-8CAE-A6E3-A206-2EFD666EE101}"/>
              </a:ext>
            </a:extLst>
          </p:cNvPr>
          <p:cNvSpPr txBox="1">
            <a:spLocks noChangeArrowheads="1"/>
          </p:cNvSpPr>
          <p:nvPr/>
        </p:nvSpPr>
        <p:spPr bwMode="auto">
          <a:xfrm>
            <a:off x="4973638" y="769938"/>
            <a:ext cx="23583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latin typeface="Times-Roman"/>
              </a:rPr>
              <a:t>4. </a:t>
            </a:r>
            <a:r>
              <a:rPr lang="en-US" altLang="en-US" sz="2800" u="sng" dirty="0" err="1">
                <a:latin typeface="Times-Roman"/>
              </a:rPr>
              <a:t>GridLayouts</a:t>
            </a:r>
            <a:endParaRPr lang="en-US" altLang="en-US" sz="3600" u="sng" dirty="0">
              <a:latin typeface="Times-Roman"/>
            </a:endParaRPr>
          </a:p>
        </p:txBody>
      </p:sp>
      <p:sp>
        <p:nvSpPr>
          <p:cNvPr id="137219" name="Text Box 1027">
            <a:extLst>
              <a:ext uri="{FF2B5EF4-FFF2-40B4-BE49-F238E27FC236}">
                <a16:creationId xmlns:a16="http://schemas.microsoft.com/office/drawing/2014/main" id="{84D138F8-8112-0B25-4E52-7E89D5BB2F58}"/>
              </a:ext>
            </a:extLst>
          </p:cNvPr>
          <p:cNvSpPr txBox="1">
            <a:spLocks noChangeArrowheads="1"/>
          </p:cNvSpPr>
          <p:nvPr/>
        </p:nvSpPr>
        <p:spPr bwMode="auto">
          <a:xfrm>
            <a:off x="1143000" y="1447800"/>
            <a:ext cx="96774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algn="just">
              <a:lnSpc>
                <a:spcPct val="150000"/>
              </a:lnSpc>
              <a:buFontTx/>
              <a:buChar char="•"/>
            </a:pPr>
            <a:r>
              <a:rPr lang="en-US" altLang="en-US" sz="2000" dirty="0">
                <a:latin typeface="Times-Roman"/>
              </a:rPr>
              <a:t>	</a:t>
            </a:r>
            <a:r>
              <a:rPr lang="en-US" altLang="en-US" dirty="0">
                <a:latin typeface="Times-Roman"/>
              </a:rPr>
              <a:t>This layout will separate your Panel or Container into rows 	and columns.</a:t>
            </a:r>
          </a:p>
          <a:p>
            <a:pPr lvl="1" algn="just">
              <a:buFontTx/>
              <a:buChar char="•"/>
            </a:pPr>
            <a:r>
              <a:rPr lang="en-US" altLang="en-US" dirty="0">
                <a:latin typeface="Times-Roman"/>
              </a:rPr>
              <a:t>Each component added to the Panel will be placed in a cell 	of the grid from left to right, top to bottom.</a:t>
            </a:r>
          </a:p>
          <a:p>
            <a:pPr lvl="1" algn="just">
              <a:buFontTx/>
              <a:buChar char="•"/>
            </a:pPr>
            <a:r>
              <a:rPr lang="en-US" altLang="en-US" dirty="0">
                <a:latin typeface="Times-Roman"/>
              </a:rPr>
              <a:t>There are 3 constructors:</a:t>
            </a:r>
          </a:p>
          <a:p>
            <a:pPr algn="just">
              <a:lnSpc>
                <a:spcPct val="150000"/>
              </a:lnSpc>
            </a:pPr>
            <a:r>
              <a:rPr lang="en-US" altLang="en-US" sz="2000" dirty="0">
                <a:latin typeface="Times-Roman"/>
              </a:rPr>
              <a:t>	</a:t>
            </a:r>
            <a:r>
              <a:rPr lang="en-US" altLang="en-US" sz="2000" dirty="0">
                <a:latin typeface="Arial" panose="020B0604020202020204" pitchFamily="34" charset="0"/>
              </a:rPr>
              <a:t>-	</a:t>
            </a:r>
            <a:r>
              <a:rPr lang="en-US" altLang="en-US" sz="2000" dirty="0" err="1">
                <a:latin typeface="Arial" panose="020B0604020202020204" pitchFamily="34" charset="0"/>
              </a:rPr>
              <a:t>GridLayout</a:t>
            </a:r>
            <a:r>
              <a:rPr lang="en-US" altLang="en-US" sz="2000" dirty="0">
                <a:latin typeface="Arial" panose="020B0604020202020204" pitchFamily="34" charset="0"/>
              </a:rPr>
              <a:t>()</a:t>
            </a:r>
            <a:endParaRPr lang="en-US" altLang="en-US" sz="2000" dirty="0">
              <a:latin typeface="Times-Roman"/>
            </a:endParaRPr>
          </a:p>
          <a:p>
            <a:pPr algn="just">
              <a:lnSpc>
                <a:spcPct val="150000"/>
              </a:lnSpc>
            </a:pPr>
            <a:r>
              <a:rPr lang="en-US" altLang="en-US" sz="2000" dirty="0">
                <a:latin typeface="Times-Roman"/>
              </a:rPr>
              <a:t>			creates a layout with 1 row and an unlimited number of columns with no gaps</a:t>
            </a:r>
          </a:p>
          <a:p>
            <a:pPr algn="just">
              <a:lnSpc>
                <a:spcPct val="150000"/>
              </a:lnSpc>
            </a:pPr>
            <a:r>
              <a:rPr lang="en-US" altLang="en-US" sz="2000" dirty="0">
                <a:latin typeface="Times-Roman"/>
              </a:rPr>
              <a:t>	-	</a:t>
            </a:r>
            <a:r>
              <a:rPr lang="en-US" altLang="en-US" sz="2000" dirty="0" err="1">
                <a:latin typeface="Arial" panose="020B0604020202020204" pitchFamily="34" charset="0"/>
              </a:rPr>
              <a:t>GridLayout</a:t>
            </a:r>
            <a:r>
              <a:rPr lang="en-US" altLang="en-US" sz="2000" dirty="0">
                <a:latin typeface="Arial" panose="020B0604020202020204" pitchFamily="34" charset="0"/>
              </a:rPr>
              <a:t>( int rows, int cols)</a:t>
            </a:r>
            <a:endParaRPr lang="en-US" altLang="en-US" sz="2000" dirty="0">
              <a:latin typeface="Times-Roman"/>
            </a:endParaRPr>
          </a:p>
          <a:p>
            <a:pPr algn="just">
              <a:lnSpc>
                <a:spcPct val="150000"/>
              </a:lnSpc>
            </a:pPr>
            <a:r>
              <a:rPr lang="en-US" altLang="en-US" sz="2000" dirty="0">
                <a:latin typeface="Times-Roman"/>
              </a:rPr>
              <a:t>			specified number of rows and columns with no gaps</a:t>
            </a:r>
          </a:p>
          <a:p>
            <a:pPr algn="just">
              <a:lnSpc>
                <a:spcPct val="150000"/>
              </a:lnSpc>
            </a:pPr>
            <a:r>
              <a:rPr lang="en-US" altLang="en-US" sz="2000" dirty="0">
                <a:latin typeface="Times-Roman"/>
              </a:rPr>
              <a:t>	-	</a:t>
            </a:r>
            <a:r>
              <a:rPr lang="en-US" altLang="en-US" sz="2000" dirty="0" err="1">
                <a:latin typeface="Arial" panose="020B0604020202020204" pitchFamily="34" charset="0"/>
              </a:rPr>
              <a:t>GridLayout</a:t>
            </a:r>
            <a:r>
              <a:rPr lang="en-US" altLang="en-US" sz="2000" dirty="0">
                <a:latin typeface="Arial" panose="020B0604020202020204" pitchFamily="34" charset="0"/>
              </a:rPr>
              <a:t>( int rows, int cols, int </a:t>
            </a:r>
            <a:r>
              <a:rPr lang="en-US" altLang="en-US" sz="2000" dirty="0" err="1">
                <a:latin typeface="Arial" panose="020B0604020202020204" pitchFamily="34" charset="0"/>
              </a:rPr>
              <a:t>hGap</a:t>
            </a:r>
            <a:r>
              <a:rPr lang="en-US" altLang="en-US" sz="2000" dirty="0">
                <a:latin typeface="Arial" panose="020B0604020202020204" pitchFamily="34" charset="0"/>
              </a:rPr>
              <a:t>, int </a:t>
            </a:r>
            <a:r>
              <a:rPr lang="en-US" altLang="en-US" sz="2000" dirty="0" err="1">
                <a:latin typeface="Arial" panose="020B0604020202020204" pitchFamily="34" charset="0"/>
              </a:rPr>
              <a:t>vGap</a:t>
            </a:r>
            <a:r>
              <a:rPr lang="en-US" altLang="en-US" sz="2000" dirty="0">
                <a:latin typeface="Arial" panose="020B0604020202020204" pitchFamily="34" charset="0"/>
              </a:rPr>
              <a:t>)</a:t>
            </a:r>
            <a:endParaRPr lang="en-US" altLang="en-US" sz="2000" dirty="0">
              <a:latin typeface="Times-Roman"/>
            </a:endParaRPr>
          </a:p>
          <a:p>
            <a:pPr algn="just">
              <a:lnSpc>
                <a:spcPct val="150000"/>
              </a:lnSpc>
            </a:pPr>
            <a:r>
              <a:rPr lang="en-US" altLang="en-US" sz="2000" dirty="0">
                <a:latin typeface="Times-Roman"/>
              </a:rPr>
              <a:t>			allows you to set all parameters for the layout</a:t>
            </a:r>
          </a:p>
          <a:p>
            <a:pPr algn="just"/>
            <a:endParaRPr lang="en-US" altLang="en-US" dirty="0">
              <a:latin typeface="Times-Roman"/>
            </a:endParaRPr>
          </a:p>
        </p:txBody>
      </p:sp>
      <p:sp>
        <p:nvSpPr>
          <p:cNvPr id="3" name="Footer Placeholder 2">
            <a:extLst>
              <a:ext uri="{FF2B5EF4-FFF2-40B4-BE49-F238E27FC236}">
                <a16:creationId xmlns:a16="http://schemas.microsoft.com/office/drawing/2014/main" id="{D2E3D692-43C4-8F40-07AF-E3DC4A5C8509}"/>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482BAAA0-BCF8-B045-D985-C2F7B9F39187}"/>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1026">
            <a:extLst>
              <a:ext uri="{FF2B5EF4-FFF2-40B4-BE49-F238E27FC236}">
                <a16:creationId xmlns:a16="http://schemas.microsoft.com/office/drawing/2014/main" id="{70342208-10DD-28B7-C1C4-3A4BB89A4A4E}"/>
              </a:ext>
            </a:extLst>
          </p:cNvPr>
          <p:cNvSpPr txBox="1">
            <a:spLocks noChangeArrowheads="1"/>
          </p:cNvSpPr>
          <p:nvPr/>
        </p:nvSpPr>
        <p:spPr bwMode="auto">
          <a:xfrm>
            <a:off x="4973639" y="769939"/>
            <a:ext cx="23583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latin typeface="Times-Roman"/>
              </a:rPr>
              <a:t>4. </a:t>
            </a:r>
            <a:r>
              <a:rPr lang="en-US" altLang="en-US" sz="2800" u="sng" dirty="0" err="1">
                <a:latin typeface="Times-Roman"/>
              </a:rPr>
              <a:t>GridLayouts</a:t>
            </a:r>
            <a:endParaRPr lang="en-US" altLang="en-US" sz="2800" u="sng" dirty="0">
              <a:latin typeface="Times-Roman"/>
            </a:endParaRPr>
          </a:p>
        </p:txBody>
      </p:sp>
      <p:sp>
        <p:nvSpPr>
          <p:cNvPr id="138243" name="Text Box 1027">
            <a:extLst>
              <a:ext uri="{FF2B5EF4-FFF2-40B4-BE49-F238E27FC236}">
                <a16:creationId xmlns:a16="http://schemas.microsoft.com/office/drawing/2014/main" id="{F6929146-BF77-385B-8324-F45D4890FB21}"/>
              </a:ext>
            </a:extLst>
          </p:cNvPr>
          <p:cNvSpPr txBox="1">
            <a:spLocks noChangeArrowheads="1"/>
          </p:cNvSpPr>
          <p:nvPr/>
        </p:nvSpPr>
        <p:spPr bwMode="auto">
          <a:xfrm>
            <a:off x="1824038" y="1295400"/>
            <a:ext cx="8356600" cy="5563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a:lnSpc>
                <a:spcPct val="150000"/>
              </a:lnSpc>
            </a:pPr>
            <a:r>
              <a:rPr lang="en-US" altLang="en-US" sz="1800" dirty="0">
                <a:latin typeface="Times-Roman"/>
              </a:rPr>
              <a:t>		</a:t>
            </a:r>
            <a:r>
              <a:rPr lang="en-US" altLang="en-US" sz="1800" dirty="0">
                <a:latin typeface="Arial" panose="020B0604020202020204" pitchFamily="34" charset="0"/>
              </a:rPr>
              <a:t>import java. </a:t>
            </a:r>
            <a:r>
              <a:rPr lang="en-US" altLang="en-US" sz="1800" dirty="0" err="1">
                <a:latin typeface="Arial" panose="020B0604020202020204" pitchFamily="34" charset="0"/>
              </a:rPr>
              <a:t>awt</a:t>
            </a:r>
            <a:r>
              <a:rPr lang="en-US" altLang="en-US" sz="1800" dirty="0">
                <a:latin typeface="Arial" panose="020B0604020202020204" pitchFamily="34" charset="0"/>
              </a:rPr>
              <a:t>.*;</a:t>
            </a:r>
          </a:p>
          <a:p>
            <a:pPr>
              <a:lnSpc>
                <a:spcPct val="150000"/>
              </a:lnSpc>
            </a:pPr>
            <a:r>
              <a:rPr lang="en-US" altLang="en-US" sz="1800" dirty="0">
                <a:latin typeface="Arial" panose="020B0604020202020204" pitchFamily="34" charset="0"/>
              </a:rPr>
              <a:t>		public class </a:t>
            </a:r>
            <a:r>
              <a:rPr lang="en-US" altLang="en-US" sz="1800" dirty="0" err="1">
                <a:latin typeface="Arial" panose="020B0604020202020204" pitchFamily="34" charset="0"/>
              </a:rPr>
              <a:t>GridLayoutExample</a:t>
            </a:r>
            <a:r>
              <a:rPr lang="en-US" altLang="en-US" sz="1800" dirty="0">
                <a:latin typeface="Arial" panose="020B0604020202020204" pitchFamily="34" charset="0"/>
              </a:rPr>
              <a:t> extends java. applet. Applet {</a:t>
            </a:r>
          </a:p>
          <a:p>
            <a:pPr>
              <a:lnSpc>
                <a:spcPct val="150000"/>
              </a:lnSpc>
            </a:pPr>
            <a:r>
              <a:rPr lang="en-US" altLang="en-US" sz="1800" dirty="0">
                <a:latin typeface="Arial" panose="020B0604020202020204" pitchFamily="34" charset="0"/>
              </a:rPr>
              <a:t>			public void </a:t>
            </a:r>
            <a:r>
              <a:rPr lang="en-US" altLang="en-US" sz="1800" dirty="0" err="1">
                <a:latin typeface="Arial" panose="020B0604020202020204" pitchFamily="34" charset="0"/>
              </a:rPr>
              <a:t>init</a:t>
            </a:r>
            <a:r>
              <a:rPr lang="en-US" altLang="en-US" sz="1800" dirty="0">
                <a:latin typeface="Arial" panose="020B0604020202020204" pitchFamily="34" charset="0"/>
              </a:rPr>
              <a:t>() {</a:t>
            </a:r>
          </a:p>
          <a:p>
            <a:pPr>
              <a:lnSpc>
                <a:spcPct val="150000"/>
              </a:lnSpc>
            </a:pPr>
            <a:r>
              <a:rPr lang="en-US" altLang="en-US" sz="1800" dirty="0">
                <a:latin typeface="Arial" panose="020B0604020202020204" pitchFamily="34" charset="0"/>
              </a:rPr>
              <a:t>				</a:t>
            </a:r>
            <a:r>
              <a:rPr lang="en-US" altLang="en-US" sz="1800" dirty="0" err="1">
                <a:latin typeface="Arial" panose="020B0604020202020204" pitchFamily="34" charset="0"/>
              </a:rPr>
              <a:t>setLayout</a:t>
            </a:r>
            <a:r>
              <a:rPr lang="en-US" altLang="en-US" sz="1800" dirty="0">
                <a:latin typeface="Arial" panose="020B0604020202020204" pitchFamily="34" charset="0"/>
              </a:rPr>
              <a:t>( new </a:t>
            </a:r>
            <a:r>
              <a:rPr lang="en-US" altLang="en-US" sz="1800" dirty="0" err="1">
                <a:latin typeface="Arial" panose="020B0604020202020204" pitchFamily="34" charset="0"/>
              </a:rPr>
              <a:t>GridLayout</a:t>
            </a:r>
            <a:r>
              <a:rPr lang="en-US" altLang="en-US" sz="1800" dirty="0">
                <a:latin typeface="Arial" panose="020B0604020202020204" pitchFamily="34" charset="0"/>
              </a:rPr>
              <a:t>( 3,2));</a:t>
            </a:r>
          </a:p>
          <a:p>
            <a:pPr>
              <a:lnSpc>
                <a:spcPct val="150000"/>
              </a:lnSpc>
            </a:pPr>
            <a:r>
              <a:rPr lang="en-US" altLang="en-US" sz="1800" dirty="0">
                <a:latin typeface="Arial" panose="020B0604020202020204" pitchFamily="34" charset="0"/>
              </a:rPr>
              <a:t>				add( new Button(“ One”));</a:t>
            </a:r>
          </a:p>
          <a:p>
            <a:pPr>
              <a:lnSpc>
                <a:spcPct val="150000"/>
              </a:lnSpc>
            </a:pPr>
            <a:r>
              <a:rPr lang="en-US" altLang="en-US" sz="1800" dirty="0">
                <a:latin typeface="Arial" panose="020B0604020202020204" pitchFamily="34" charset="0"/>
              </a:rPr>
              <a:t>				add( new Button(“ Two”));</a:t>
            </a:r>
          </a:p>
          <a:p>
            <a:pPr>
              <a:lnSpc>
                <a:spcPct val="150000"/>
              </a:lnSpc>
            </a:pPr>
            <a:r>
              <a:rPr lang="en-US" altLang="en-US" sz="1800" dirty="0">
                <a:latin typeface="Arial" panose="020B0604020202020204" pitchFamily="34" charset="0"/>
              </a:rPr>
              <a:t>				add( new Button(“ Three”));</a:t>
            </a:r>
          </a:p>
          <a:p>
            <a:pPr>
              <a:lnSpc>
                <a:spcPct val="150000"/>
              </a:lnSpc>
            </a:pPr>
            <a:r>
              <a:rPr lang="en-US" altLang="en-US" sz="1800" dirty="0">
                <a:latin typeface="Arial" panose="020B0604020202020204" pitchFamily="34" charset="0"/>
              </a:rPr>
              <a:t>				add( new Button(“ Four”));</a:t>
            </a:r>
          </a:p>
          <a:p>
            <a:pPr>
              <a:lnSpc>
                <a:spcPct val="150000"/>
              </a:lnSpc>
            </a:pPr>
            <a:r>
              <a:rPr lang="en-US" altLang="en-US" sz="1800" dirty="0">
                <a:latin typeface="Arial" panose="020B0604020202020204" pitchFamily="34" charset="0"/>
              </a:rPr>
              <a:t>				add( new Button(“ Five”));</a:t>
            </a:r>
          </a:p>
          <a:p>
            <a:pPr>
              <a:lnSpc>
                <a:spcPct val="150000"/>
              </a:lnSpc>
            </a:pPr>
            <a:r>
              <a:rPr lang="en-US" altLang="en-US" sz="1800" dirty="0">
                <a:latin typeface="Arial" panose="020B0604020202020204" pitchFamily="34" charset="0"/>
              </a:rPr>
              <a:t>				add( new Button(“ Six”));</a:t>
            </a:r>
          </a:p>
          <a:p>
            <a:pPr>
              <a:lnSpc>
                <a:spcPct val="150000"/>
              </a:lnSpc>
            </a:pPr>
            <a:r>
              <a:rPr lang="en-US" altLang="en-US" sz="1800" dirty="0">
                <a:latin typeface="Arial" panose="020B0604020202020204" pitchFamily="34" charset="0"/>
              </a:rPr>
              <a:t>			}//end of </a:t>
            </a:r>
            <a:r>
              <a:rPr lang="en-US" altLang="en-US" sz="1800" dirty="0" err="1">
                <a:latin typeface="Arial" panose="020B0604020202020204" pitchFamily="34" charset="0"/>
              </a:rPr>
              <a:t>init</a:t>
            </a:r>
            <a:endParaRPr lang="en-US" altLang="en-US" sz="1800" dirty="0">
              <a:latin typeface="Arial" panose="020B0604020202020204" pitchFamily="34" charset="0"/>
            </a:endParaRPr>
          </a:p>
          <a:p>
            <a:pPr>
              <a:lnSpc>
                <a:spcPct val="150000"/>
              </a:lnSpc>
            </a:pPr>
            <a:r>
              <a:rPr lang="en-US" altLang="en-US" sz="1800" dirty="0">
                <a:latin typeface="Arial" panose="020B0604020202020204" pitchFamily="34" charset="0"/>
              </a:rPr>
              <a:t>		}//end of </a:t>
            </a:r>
            <a:r>
              <a:rPr lang="en-US" altLang="en-US" sz="1800" dirty="0" err="1">
                <a:latin typeface="Arial" panose="020B0604020202020204" pitchFamily="34" charset="0"/>
              </a:rPr>
              <a:t>GridLayoutExample</a:t>
            </a:r>
            <a:endParaRPr lang="en-US" altLang="en-US" sz="1800" dirty="0">
              <a:latin typeface="Arial" panose="020B0604020202020204" pitchFamily="34" charset="0"/>
            </a:endParaRPr>
          </a:p>
          <a:p>
            <a:pPr>
              <a:lnSpc>
                <a:spcPct val="150000"/>
              </a:lnSpc>
            </a:pPr>
            <a:endParaRPr lang="en-US" altLang="en-US" sz="2000" dirty="0">
              <a:latin typeface="Arial" panose="020B0604020202020204" pitchFamily="34" charset="0"/>
            </a:endParaRPr>
          </a:p>
        </p:txBody>
      </p:sp>
      <p:sp>
        <p:nvSpPr>
          <p:cNvPr id="3" name="Footer Placeholder 2">
            <a:extLst>
              <a:ext uri="{FF2B5EF4-FFF2-40B4-BE49-F238E27FC236}">
                <a16:creationId xmlns:a16="http://schemas.microsoft.com/office/drawing/2014/main" id="{65A6D64C-A6DA-03C6-A545-7FB23374472F}"/>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4636A3FD-7819-C72A-230F-FB5473EC5D83}"/>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5" name="Text Box 3">
            <a:extLst>
              <a:ext uri="{FF2B5EF4-FFF2-40B4-BE49-F238E27FC236}">
                <a16:creationId xmlns:a16="http://schemas.microsoft.com/office/drawing/2014/main" id="{82338A56-F3DF-5CBA-16D9-B2E9DB1793FB}"/>
              </a:ext>
            </a:extLst>
          </p:cNvPr>
          <p:cNvSpPr txBox="1">
            <a:spLocks noChangeArrowheads="1"/>
          </p:cNvSpPr>
          <p:nvPr/>
        </p:nvSpPr>
        <p:spPr bwMode="auto">
          <a:xfrm>
            <a:off x="4800600" y="304801"/>
            <a:ext cx="2895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b="1" u="sng" dirty="0">
                <a:solidFill>
                  <a:srgbClr val="0000FF"/>
                </a:solidFill>
              </a:rPr>
              <a:t>Grid Layout example</a:t>
            </a:r>
          </a:p>
        </p:txBody>
      </p:sp>
      <p:sp>
        <p:nvSpPr>
          <p:cNvPr id="8196" name="Text Box 4">
            <a:extLst>
              <a:ext uri="{FF2B5EF4-FFF2-40B4-BE49-F238E27FC236}">
                <a16:creationId xmlns:a16="http://schemas.microsoft.com/office/drawing/2014/main" id="{7D3A6582-4141-8895-8881-81B38D56B2D3}"/>
              </a:ext>
            </a:extLst>
          </p:cNvPr>
          <p:cNvSpPr txBox="1">
            <a:spLocks noChangeArrowheads="1"/>
          </p:cNvSpPr>
          <p:nvPr/>
        </p:nvSpPr>
        <p:spPr bwMode="auto">
          <a:xfrm>
            <a:off x="1219200" y="914400"/>
            <a:ext cx="96012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36538" indent="-2365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buFontTx/>
              <a:buChar char="•"/>
            </a:pPr>
            <a:r>
              <a:rPr lang="en-US" altLang="en-US" sz="2400" dirty="0">
                <a:latin typeface="Arial" panose="020B0604020202020204" pitchFamily="34" charset="0"/>
              </a:rPr>
              <a:t>Arranges components in a grid with a fixed number of rows and columns </a:t>
            </a:r>
          </a:p>
          <a:p>
            <a:pPr eaLnBrk="1" hangingPunct="1">
              <a:spcBef>
                <a:spcPct val="50000"/>
              </a:spcBef>
              <a:buFontTx/>
              <a:buChar char="•"/>
            </a:pPr>
            <a:r>
              <a:rPr lang="en-US" altLang="en-US" sz="2400" dirty="0">
                <a:latin typeface="Arial" panose="020B0604020202020204" pitchFamily="34" charset="0"/>
              </a:rPr>
              <a:t>Resizes each component so that they all have same size </a:t>
            </a:r>
          </a:p>
          <a:p>
            <a:pPr eaLnBrk="1" hangingPunct="1">
              <a:spcBef>
                <a:spcPct val="50000"/>
              </a:spcBef>
              <a:buFontTx/>
              <a:buChar char="•"/>
            </a:pPr>
            <a:r>
              <a:rPr lang="en-US" altLang="en-US" sz="2400" dirty="0">
                <a:latin typeface="Arial" panose="020B0604020202020204" pitchFamily="34" charset="0"/>
              </a:rPr>
              <a:t>Expands each component to fill the entire allotted area </a:t>
            </a:r>
          </a:p>
          <a:p>
            <a:pPr eaLnBrk="1" hangingPunct="1">
              <a:spcBef>
                <a:spcPct val="50000"/>
              </a:spcBef>
              <a:buFontTx/>
              <a:buChar char="•"/>
            </a:pPr>
            <a:r>
              <a:rPr lang="en-US" altLang="en-US" sz="2400" dirty="0">
                <a:latin typeface="Arial" panose="020B0604020202020204" pitchFamily="34" charset="0"/>
              </a:rPr>
              <a:t>Add the components, row by row, left to right: </a:t>
            </a:r>
            <a:br>
              <a:rPr lang="en-US" altLang="en-US" sz="2400" dirty="0">
                <a:latin typeface="Arial" panose="020B0604020202020204" pitchFamily="34" charset="0"/>
              </a:rPr>
            </a:br>
            <a:br>
              <a:rPr lang="en-US" altLang="en-US" sz="2400" dirty="0">
                <a:latin typeface="Arial" panose="020B0604020202020204" pitchFamily="34" charset="0"/>
              </a:rPr>
            </a:br>
            <a:r>
              <a:rPr lang="en-US" altLang="en-US" sz="2000" dirty="0" err="1">
                <a:latin typeface="Courier New" panose="02070309020205020404" pitchFamily="49" charset="0"/>
              </a:rPr>
              <a:t>JPanel</a:t>
            </a:r>
            <a:r>
              <a:rPr lang="en-US" altLang="en-US" sz="2000" dirty="0">
                <a:latin typeface="Courier New" panose="02070309020205020404" pitchFamily="49" charset="0"/>
              </a:rPr>
              <a:t> </a:t>
            </a:r>
            <a:r>
              <a:rPr lang="en-US" altLang="en-US" sz="2000" dirty="0" err="1">
                <a:latin typeface="Courier New" panose="02070309020205020404" pitchFamily="49" charset="0"/>
              </a:rPr>
              <a:t>numberPanel</a:t>
            </a:r>
            <a:r>
              <a:rPr lang="en-US" altLang="en-US" sz="2000" dirty="0">
                <a:latin typeface="Courier New" panose="02070309020205020404" pitchFamily="49" charset="0"/>
              </a:rPr>
              <a:t> = new </a:t>
            </a:r>
            <a:r>
              <a:rPr lang="en-US" altLang="en-US" sz="2000" dirty="0" err="1">
                <a:latin typeface="Courier New" panose="02070309020205020404" pitchFamily="49" charset="0"/>
              </a:rPr>
              <a:t>JPanel</a:t>
            </a:r>
            <a:r>
              <a:rPr lang="en-US" altLang="en-US" sz="2000" dirty="0">
                <a:latin typeface="Courier New" panose="02070309020205020404" pitchFamily="49" charset="0"/>
              </a:rPr>
              <a:t>(); </a:t>
            </a:r>
            <a:r>
              <a:rPr lang="en-US" altLang="en-US" sz="2000" dirty="0" err="1">
                <a:latin typeface="Courier New" panose="02070309020205020404" pitchFamily="49" charset="0"/>
              </a:rPr>
              <a:t>numberPanel.setLayout</a:t>
            </a:r>
            <a:r>
              <a:rPr lang="en-US" altLang="en-US" sz="2000" dirty="0">
                <a:latin typeface="Courier New" panose="02070309020205020404" pitchFamily="49" charset="0"/>
              </a:rPr>
              <a:t>(new </a:t>
            </a:r>
            <a:r>
              <a:rPr lang="en-US" altLang="en-US" sz="2000" dirty="0" err="1">
                <a:latin typeface="Courier New" panose="02070309020205020404" pitchFamily="49" charset="0"/>
              </a:rPr>
              <a:t>GridLayout</a:t>
            </a:r>
            <a:r>
              <a:rPr lang="en-US" altLang="en-US" sz="2000" dirty="0">
                <a:latin typeface="Courier New" panose="02070309020205020404" pitchFamily="49" charset="0"/>
              </a:rPr>
              <a:t>(4, 3)); </a:t>
            </a:r>
            <a:r>
              <a:rPr lang="en-US" altLang="en-US" sz="2000" dirty="0" err="1">
                <a:latin typeface="Courier New" panose="02070309020205020404" pitchFamily="49" charset="0"/>
              </a:rPr>
              <a:t>numberPanel.add</a:t>
            </a:r>
            <a:r>
              <a:rPr lang="en-US" altLang="en-US" sz="2000" dirty="0">
                <a:latin typeface="Courier New" panose="02070309020205020404" pitchFamily="49" charset="0"/>
              </a:rPr>
              <a:t>(button7); </a:t>
            </a:r>
            <a:br>
              <a:rPr lang="en-US" altLang="en-US" sz="2000" dirty="0">
                <a:latin typeface="Courier New" panose="02070309020205020404" pitchFamily="49" charset="0"/>
              </a:rPr>
            </a:br>
            <a:r>
              <a:rPr lang="en-US" altLang="en-US" sz="2000" dirty="0" err="1">
                <a:latin typeface="Courier New" panose="02070309020205020404" pitchFamily="49" charset="0"/>
              </a:rPr>
              <a:t>numberPanel.add</a:t>
            </a:r>
            <a:r>
              <a:rPr lang="en-US" altLang="en-US" sz="2000" dirty="0">
                <a:latin typeface="Courier New" panose="02070309020205020404" pitchFamily="49" charset="0"/>
              </a:rPr>
              <a:t>(button8); </a:t>
            </a:r>
            <a:br>
              <a:rPr lang="en-US" altLang="en-US" sz="2000" dirty="0">
                <a:latin typeface="Courier New" panose="02070309020205020404" pitchFamily="49" charset="0"/>
              </a:rPr>
            </a:br>
            <a:r>
              <a:rPr lang="en-US" altLang="en-US" sz="2000" dirty="0" err="1">
                <a:latin typeface="Courier New" panose="02070309020205020404" pitchFamily="49" charset="0"/>
              </a:rPr>
              <a:t>numberPanel.add</a:t>
            </a:r>
            <a:r>
              <a:rPr lang="en-US" altLang="en-US" sz="2000" dirty="0">
                <a:latin typeface="Courier New" panose="02070309020205020404" pitchFamily="49" charset="0"/>
              </a:rPr>
              <a:t>(button9); </a:t>
            </a:r>
            <a:br>
              <a:rPr lang="en-US" altLang="en-US" sz="2000" dirty="0">
                <a:latin typeface="Courier New" panose="02070309020205020404" pitchFamily="49" charset="0"/>
              </a:rPr>
            </a:br>
            <a:r>
              <a:rPr lang="en-US" altLang="en-US" sz="2000" dirty="0" err="1">
                <a:latin typeface="Courier New" panose="02070309020205020404" pitchFamily="49" charset="0"/>
              </a:rPr>
              <a:t>numberPanel.add</a:t>
            </a:r>
            <a:r>
              <a:rPr lang="en-US" altLang="en-US" sz="2000" dirty="0">
                <a:latin typeface="Courier New" panose="02070309020205020404" pitchFamily="49" charset="0"/>
              </a:rPr>
              <a:t>(button4); </a:t>
            </a:r>
            <a:br>
              <a:rPr lang="en-US" altLang="en-US" sz="2000" dirty="0">
                <a:latin typeface="Courier New" panose="02070309020205020404" pitchFamily="49" charset="0"/>
              </a:rPr>
            </a:br>
            <a:r>
              <a:rPr lang="en-US" altLang="en-US" sz="2000" dirty="0">
                <a:latin typeface="Courier New" panose="02070309020205020404" pitchFamily="49" charset="0"/>
              </a:rPr>
              <a:t>. . .</a:t>
            </a:r>
          </a:p>
        </p:txBody>
      </p:sp>
      <p:sp>
        <p:nvSpPr>
          <p:cNvPr id="8197" name="Text Box 7">
            <a:extLst>
              <a:ext uri="{FF2B5EF4-FFF2-40B4-BE49-F238E27FC236}">
                <a16:creationId xmlns:a16="http://schemas.microsoft.com/office/drawing/2014/main" id="{8ACD3898-D23E-853D-D48D-AD2F7F874AE3}"/>
              </a:ext>
            </a:extLst>
          </p:cNvPr>
          <p:cNvSpPr txBox="1">
            <a:spLocks noChangeArrowheads="1"/>
          </p:cNvSpPr>
          <p:nvPr/>
        </p:nvSpPr>
        <p:spPr bwMode="auto">
          <a:xfrm>
            <a:off x="8686800" y="6172201"/>
            <a:ext cx="1676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b="1" i="1"/>
              <a:t>Continued</a:t>
            </a:r>
          </a:p>
        </p:txBody>
      </p:sp>
    </p:spTree>
    <p:extLst>
      <p:ext uri="{BB962C8B-B14F-4D97-AF65-F5344CB8AC3E}">
        <p14:creationId xmlns:p14="http://schemas.microsoft.com/office/powerpoint/2010/main" val="2665299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220" name="Picture 6">
            <a:extLst>
              <a:ext uri="{FF2B5EF4-FFF2-40B4-BE49-F238E27FC236}">
                <a16:creationId xmlns:a16="http://schemas.microsoft.com/office/drawing/2014/main" id="{87E40281-010F-26E8-BC3E-8483995CDE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1" y="880269"/>
            <a:ext cx="6391275" cy="509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2600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a:extLst>
              <a:ext uri="{FF2B5EF4-FFF2-40B4-BE49-F238E27FC236}">
                <a16:creationId xmlns:a16="http://schemas.microsoft.com/office/drawing/2014/main" id="{76FD44A5-216E-3B2B-2E59-BE9779ED21B1}"/>
              </a:ext>
            </a:extLst>
          </p:cNvPr>
          <p:cNvSpPr txBox="1">
            <a:spLocks noChangeArrowheads="1"/>
          </p:cNvSpPr>
          <p:nvPr/>
        </p:nvSpPr>
        <p:spPr bwMode="auto">
          <a:xfrm>
            <a:off x="4911725" y="769939"/>
            <a:ext cx="25426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u="sng" dirty="0">
                <a:latin typeface="Times-Roman"/>
              </a:rPr>
              <a:t>5. </a:t>
            </a:r>
            <a:r>
              <a:rPr lang="en-US" altLang="en-US" sz="2400" u="sng" dirty="0" err="1">
                <a:latin typeface="Times-Roman"/>
              </a:rPr>
              <a:t>GridBagLayouts</a:t>
            </a:r>
            <a:endParaRPr lang="en-US" altLang="en-US" sz="3200" u="sng" dirty="0">
              <a:latin typeface="Times-Roman"/>
            </a:endParaRPr>
          </a:p>
        </p:txBody>
      </p:sp>
      <p:sp>
        <p:nvSpPr>
          <p:cNvPr id="121859" name="Text Box 3">
            <a:extLst>
              <a:ext uri="{FF2B5EF4-FFF2-40B4-BE49-F238E27FC236}">
                <a16:creationId xmlns:a16="http://schemas.microsoft.com/office/drawing/2014/main" id="{B79D1C66-05D6-F69F-6180-42960B88F4E4}"/>
              </a:ext>
            </a:extLst>
          </p:cNvPr>
          <p:cNvSpPr txBox="1">
            <a:spLocks noChangeArrowheads="1"/>
          </p:cNvSpPr>
          <p:nvPr/>
        </p:nvSpPr>
        <p:spPr bwMode="auto">
          <a:xfrm>
            <a:off x="1066800" y="1811046"/>
            <a:ext cx="9982200"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lgn="just">
              <a:lnSpc>
                <a:spcPct val="150000"/>
              </a:lnSpc>
              <a:buFontTx/>
              <a:buChar char="•"/>
            </a:pPr>
            <a:r>
              <a:rPr lang="en-US" altLang="en-US" dirty="0" err="1">
                <a:latin typeface="Arial" panose="020B0604020202020204" pitchFamily="34" charset="0"/>
              </a:rPr>
              <a:t>GridBagLayouts</a:t>
            </a:r>
            <a:r>
              <a:rPr lang="en-US" altLang="en-US" dirty="0">
                <a:latin typeface="Times-Roman"/>
              </a:rPr>
              <a:t> are the most powerful way of managing AWT layouts, they are also very complicated.</a:t>
            </a:r>
          </a:p>
          <a:p>
            <a:pPr lvl="1" algn="just">
              <a:lnSpc>
                <a:spcPct val="150000"/>
              </a:lnSpc>
              <a:buFontTx/>
              <a:buChar char="•"/>
            </a:pPr>
            <a:r>
              <a:rPr lang="en-US" altLang="en-US" dirty="0">
                <a:latin typeface="Times-Roman"/>
              </a:rPr>
              <a:t>Like </a:t>
            </a:r>
            <a:r>
              <a:rPr lang="en-US" altLang="en-US" dirty="0" err="1">
                <a:latin typeface="Arial" panose="020B0604020202020204" pitchFamily="34" charset="0"/>
              </a:rPr>
              <a:t>GridLayouts</a:t>
            </a:r>
            <a:r>
              <a:rPr lang="en-US" altLang="en-US" dirty="0">
                <a:latin typeface="Times-Roman"/>
              </a:rPr>
              <a:t>, </a:t>
            </a:r>
            <a:r>
              <a:rPr lang="en-US" altLang="en-US" dirty="0" err="1">
                <a:latin typeface="Arial" panose="020B0604020202020204" pitchFamily="34" charset="0"/>
              </a:rPr>
              <a:t>GridBagLayouts</a:t>
            </a:r>
            <a:r>
              <a:rPr lang="en-US" altLang="en-US" dirty="0">
                <a:latin typeface="Times-Roman"/>
              </a:rPr>
              <a:t> allow you to arrange 	</a:t>
            </a:r>
            <a:r>
              <a:rPr lang="en-US" altLang="en-US" dirty="0" err="1">
                <a:latin typeface="Times-Roman"/>
              </a:rPr>
              <a:t>yourcomponents</a:t>
            </a:r>
            <a:r>
              <a:rPr lang="en-US" altLang="en-US" dirty="0">
                <a:latin typeface="Times-Roman"/>
              </a:rPr>
              <a:t> in a grid like fashion</a:t>
            </a:r>
          </a:p>
          <a:p>
            <a:pPr lvl="1" algn="just">
              <a:lnSpc>
                <a:spcPct val="150000"/>
              </a:lnSpc>
              <a:buFontTx/>
              <a:buChar char="•"/>
            </a:pPr>
            <a:r>
              <a:rPr lang="en-US" altLang="en-US" dirty="0">
                <a:latin typeface="Times-Roman"/>
              </a:rPr>
              <a:t>However, </a:t>
            </a:r>
            <a:r>
              <a:rPr lang="en-US" altLang="en-US" dirty="0" err="1">
                <a:latin typeface="Arial" panose="020B0604020202020204" pitchFamily="34" charset="0"/>
              </a:rPr>
              <a:t>GridBagLayouts</a:t>
            </a:r>
            <a:r>
              <a:rPr lang="en-US" altLang="en-US" dirty="0">
                <a:latin typeface="Times-Roman"/>
              </a:rPr>
              <a:t> give you control of the span of individual cells in the grid, the proportions between rows and columns, and arrangement of components inside cells in the grid.</a:t>
            </a:r>
          </a:p>
        </p:txBody>
      </p:sp>
      <p:sp>
        <p:nvSpPr>
          <p:cNvPr id="3" name="Footer Placeholder 2">
            <a:extLst>
              <a:ext uri="{FF2B5EF4-FFF2-40B4-BE49-F238E27FC236}">
                <a16:creationId xmlns:a16="http://schemas.microsoft.com/office/drawing/2014/main" id="{B1217894-D38F-B38F-28D3-69D82F4EAA2A}"/>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DDAFA221-514B-E9AB-3F84-60F50A95E6A4}"/>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2">
            <a:extLst>
              <a:ext uri="{FF2B5EF4-FFF2-40B4-BE49-F238E27FC236}">
                <a16:creationId xmlns:a16="http://schemas.microsoft.com/office/drawing/2014/main" id="{D3FA5AD4-3563-24C7-9A62-51A715112B90}"/>
              </a:ext>
            </a:extLst>
          </p:cNvPr>
          <p:cNvSpPr txBox="1">
            <a:spLocks noChangeArrowheads="1"/>
          </p:cNvSpPr>
          <p:nvPr/>
        </p:nvSpPr>
        <p:spPr bwMode="auto">
          <a:xfrm>
            <a:off x="4924916" y="685801"/>
            <a:ext cx="25426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u="sng" dirty="0">
                <a:latin typeface="Times-Roman"/>
              </a:rPr>
              <a:t>5. </a:t>
            </a:r>
            <a:r>
              <a:rPr lang="en-US" altLang="en-US" sz="2400" u="sng" dirty="0" err="1">
                <a:latin typeface="Times-Roman"/>
              </a:rPr>
              <a:t>GridBagLayouts</a:t>
            </a:r>
            <a:endParaRPr lang="en-US" altLang="en-US" sz="3200" u="sng" dirty="0">
              <a:latin typeface="Times-Roman"/>
            </a:endParaRPr>
          </a:p>
        </p:txBody>
      </p:sp>
      <p:sp>
        <p:nvSpPr>
          <p:cNvPr id="122883" name="Text Box 3">
            <a:extLst>
              <a:ext uri="{FF2B5EF4-FFF2-40B4-BE49-F238E27FC236}">
                <a16:creationId xmlns:a16="http://schemas.microsoft.com/office/drawing/2014/main" id="{BC441C46-4321-519D-FC2B-6A461BB47592}"/>
              </a:ext>
            </a:extLst>
          </p:cNvPr>
          <p:cNvSpPr txBox="1">
            <a:spLocks noChangeArrowheads="1"/>
          </p:cNvSpPr>
          <p:nvPr/>
        </p:nvSpPr>
        <p:spPr bwMode="auto">
          <a:xfrm>
            <a:off x="1824038" y="1587500"/>
            <a:ext cx="8356600" cy="1975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lnSpc>
                <a:spcPct val="150000"/>
              </a:lnSpc>
              <a:buFontTx/>
              <a:buChar char="•"/>
            </a:pPr>
            <a:r>
              <a:rPr lang="en-US" altLang="en-US" dirty="0">
                <a:latin typeface="Times-Roman"/>
              </a:rPr>
              <a:t>There are two classes that are used:</a:t>
            </a:r>
          </a:p>
          <a:p>
            <a:pPr>
              <a:lnSpc>
                <a:spcPct val="150000"/>
              </a:lnSpc>
            </a:pPr>
            <a:r>
              <a:rPr lang="en-US" altLang="en-US" sz="2000" dirty="0">
                <a:latin typeface="BIEGHZ+MSTT31c5e600"/>
              </a:rPr>
              <a:t>	-	</a:t>
            </a:r>
            <a:r>
              <a:rPr lang="en-US" altLang="en-US" sz="2000" dirty="0" err="1">
                <a:latin typeface="Arial" panose="020B0604020202020204" pitchFamily="34" charset="0"/>
              </a:rPr>
              <a:t>GridBagLayout</a:t>
            </a:r>
            <a:r>
              <a:rPr lang="en-US" altLang="en-US" sz="2000" dirty="0">
                <a:latin typeface="Times-Roman"/>
              </a:rPr>
              <a:t>: provides the overall layout manager</a:t>
            </a:r>
          </a:p>
          <a:p>
            <a:pPr>
              <a:lnSpc>
                <a:spcPct val="150000"/>
              </a:lnSpc>
            </a:pPr>
            <a:r>
              <a:rPr lang="en-US" altLang="en-US" sz="2000" dirty="0">
                <a:latin typeface="BIEGHZ+MSTT31c5e600"/>
              </a:rPr>
              <a:t>	-	</a:t>
            </a:r>
            <a:r>
              <a:rPr lang="en-US" altLang="en-US" sz="2000" dirty="0" err="1">
                <a:latin typeface="Arial" panose="020B0604020202020204" pitchFamily="34" charset="0"/>
              </a:rPr>
              <a:t>GridBagConstraints</a:t>
            </a:r>
            <a:r>
              <a:rPr lang="en-US" altLang="en-US" sz="2000" dirty="0">
                <a:latin typeface="Times-Roman"/>
              </a:rPr>
              <a:t>: defines the properties of each component in</a:t>
            </a:r>
          </a:p>
          <a:p>
            <a:pPr>
              <a:lnSpc>
                <a:spcPct val="150000"/>
              </a:lnSpc>
            </a:pPr>
            <a:r>
              <a:rPr lang="en-US" altLang="en-US" sz="2000" dirty="0">
                <a:latin typeface="Times-Roman"/>
              </a:rPr>
              <a:t>		the grid such as placement, dimension, and alignment</a:t>
            </a:r>
          </a:p>
        </p:txBody>
      </p:sp>
      <p:sp>
        <p:nvSpPr>
          <p:cNvPr id="3" name="Footer Placeholder 2">
            <a:extLst>
              <a:ext uri="{FF2B5EF4-FFF2-40B4-BE49-F238E27FC236}">
                <a16:creationId xmlns:a16="http://schemas.microsoft.com/office/drawing/2014/main" id="{629F65A5-EE00-4591-7946-ADAC48061A5D}"/>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0150D41E-EE97-7A9B-EED5-244AA8A05939}"/>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a:extLst>
              <a:ext uri="{FF2B5EF4-FFF2-40B4-BE49-F238E27FC236}">
                <a16:creationId xmlns:a16="http://schemas.microsoft.com/office/drawing/2014/main" id="{D874CC18-E3F9-A296-CB96-37F44C6BC812}"/>
              </a:ext>
            </a:extLst>
          </p:cNvPr>
          <p:cNvSpPr txBox="1">
            <a:spLocks noChangeArrowheads="1"/>
          </p:cNvSpPr>
          <p:nvPr/>
        </p:nvSpPr>
        <p:spPr bwMode="auto">
          <a:xfrm>
            <a:off x="4724401" y="304800"/>
            <a:ext cx="29354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latin typeface="Times-Roman"/>
              </a:rPr>
              <a:t>5. </a:t>
            </a:r>
            <a:r>
              <a:rPr lang="en-US" altLang="en-US" sz="2800" u="sng" dirty="0" err="1">
                <a:latin typeface="Times-Roman"/>
              </a:rPr>
              <a:t>GridBagLayouts</a:t>
            </a:r>
            <a:endParaRPr lang="en-US" altLang="en-US" sz="3600" u="sng" dirty="0">
              <a:latin typeface="Times-Roman"/>
            </a:endParaRPr>
          </a:p>
        </p:txBody>
      </p:sp>
      <p:sp>
        <p:nvSpPr>
          <p:cNvPr id="144388" name="Text Box 4">
            <a:extLst>
              <a:ext uri="{FF2B5EF4-FFF2-40B4-BE49-F238E27FC236}">
                <a16:creationId xmlns:a16="http://schemas.microsoft.com/office/drawing/2014/main" id="{83B7E0A9-5A0E-EC40-5299-EE60BFF809C2}"/>
              </a:ext>
            </a:extLst>
          </p:cNvPr>
          <p:cNvSpPr txBox="1">
            <a:spLocks noChangeArrowheads="1"/>
          </p:cNvSpPr>
          <p:nvPr/>
        </p:nvSpPr>
        <p:spPr bwMode="auto">
          <a:xfrm>
            <a:off x="838200" y="1040756"/>
            <a:ext cx="10591800" cy="5207644"/>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857250" algn="l"/>
                <a:tab pos="1828800" algn="l"/>
                <a:tab pos="2286000" algn="l"/>
              </a:tabLst>
              <a:defRPr sz="2400">
                <a:solidFill>
                  <a:schemeClr val="tx1"/>
                </a:solidFill>
                <a:latin typeface="Times New Roman" panose="02020603050405020304" pitchFamily="18" charset="0"/>
              </a:defRPr>
            </a:lvl1pPr>
            <a:lvl2pPr marL="438150" indent="-323850">
              <a:tabLst>
                <a:tab pos="857250" algn="l"/>
                <a:tab pos="1828800" algn="l"/>
                <a:tab pos="2286000" algn="l"/>
              </a:tabLst>
              <a:defRPr sz="2400">
                <a:solidFill>
                  <a:schemeClr val="tx1"/>
                </a:solidFill>
                <a:latin typeface="Times New Roman" panose="02020603050405020304" pitchFamily="18" charset="0"/>
              </a:defRPr>
            </a:lvl2pPr>
            <a:lvl3pPr>
              <a:tabLst>
                <a:tab pos="857250" algn="l"/>
                <a:tab pos="1828800" algn="l"/>
                <a:tab pos="2286000" algn="l"/>
              </a:tabLst>
              <a:defRPr sz="2400">
                <a:solidFill>
                  <a:schemeClr val="tx1"/>
                </a:solidFill>
                <a:latin typeface="Times New Roman" panose="02020603050405020304" pitchFamily="18" charset="0"/>
              </a:defRPr>
            </a:lvl3pPr>
            <a:lvl4pPr>
              <a:tabLst>
                <a:tab pos="857250" algn="l"/>
                <a:tab pos="1828800" algn="l"/>
                <a:tab pos="2286000" algn="l"/>
              </a:tabLst>
              <a:defRPr sz="2400">
                <a:solidFill>
                  <a:schemeClr val="tx1"/>
                </a:solidFill>
                <a:latin typeface="Times New Roman" panose="02020603050405020304" pitchFamily="18" charset="0"/>
              </a:defRPr>
            </a:lvl4pPr>
            <a:lvl5pPr>
              <a:tabLst>
                <a:tab pos="857250" algn="l"/>
                <a:tab pos="1828800" algn="l"/>
                <a:tab pos="22860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9pPr>
          </a:lstStyle>
          <a:p>
            <a:pPr lvl="1" algn="just">
              <a:lnSpc>
                <a:spcPct val="150000"/>
              </a:lnSpc>
              <a:buFontTx/>
              <a:buChar char="•"/>
            </a:pPr>
            <a:r>
              <a:rPr lang="en-US" altLang="en-US" dirty="0">
                <a:latin typeface="Arial" panose="020B0604020202020204" pitchFamily="34" charset="0"/>
              </a:rPr>
              <a:t>Fields in </a:t>
            </a:r>
            <a:r>
              <a:rPr lang="en-US" altLang="en-US" dirty="0" err="1">
                <a:latin typeface="Arial" panose="020B0604020202020204" pitchFamily="34" charset="0"/>
              </a:rPr>
              <a:t>GridBagConstraints</a:t>
            </a:r>
            <a:r>
              <a:rPr lang="en-US" altLang="en-US" dirty="0">
                <a:latin typeface="Arial" panose="020B0604020202020204" pitchFamily="34" charset="0"/>
              </a:rPr>
              <a:t>:</a:t>
            </a:r>
            <a:endParaRPr lang="en-US" altLang="en-US" sz="2000" dirty="0">
              <a:latin typeface="Arial" panose="020B0604020202020204" pitchFamily="34" charset="0"/>
            </a:endParaRPr>
          </a:p>
          <a:p>
            <a:pPr lvl="1" algn="just">
              <a:lnSpc>
                <a:spcPct val="150000"/>
              </a:lnSpc>
            </a:pPr>
            <a:r>
              <a:rPr lang="en-US" altLang="en-US" sz="2000" dirty="0">
                <a:latin typeface="Arial" panose="020B0604020202020204" pitchFamily="34" charset="0"/>
              </a:rPr>
              <a:t>	-	</a:t>
            </a:r>
            <a:r>
              <a:rPr lang="en-US" altLang="en-US" sz="2000" dirty="0" err="1">
                <a:latin typeface="Arial" panose="020B0604020202020204" pitchFamily="34" charset="0"/>
              </a:rPr>
              <a:t>gridx</a:t>
            </a:r>
            <a:r>
              <a:rPr lang="en-US" altLang="en-US" sz="2000" dirty="0"/>
              <a:t> and </a:t>
            </a:r>
            <a:r>
              <a:rPr lang="en-US" altLang="en-US" sz="2000" dirty="0" err="1">
                <a:latin typeface="Arial" panose="020B0604020202020204" pitchFamily="34" charset="0"/>
              </a:rPr>
              <a:t>gridy</a:t>
            </a:r>
            <a:r>
              <a:rPr lang="en-US" altLang="en-US" sz="2000" dirty="0"/>
              <a:t> fields: specify the position of the component in the 	grid.</a:t>
            </a:r>
          </a:p>
          <a:p>
            <a:pPr lvl="1" algn="just">
              <a:lnSpc>
                <a:spcPct val="150000"/>
              </a:lnSpc>
            </a:pPr>
            <a:r>
              <a:rPr lang="en-US" altLang="en-US" sz="2000" dirty="0">
                <a:latin typeface="Arial" panose="020B0604020202020204" pitchFamily="34" charset="0"/>
              </a:rPr>
              <a:t>	-	</a:t>
            </a:r>
            <a:r>
              <a:rPr lang="en-US" altLang="en-US" sz="2000" dirty="0" err="1">
                <a:latin typeface="Arial" panose="020B0604020202020204" pitchFamily="34" charset="0"/>
              </a:rPr>
              <a:t>gridwidth</a:t>
            </a:r>
            <a:r>
              <a:rPr lang="en-US" altLang="en-US" sz="2000" dirty="0"/>
              <a:t> and </a:t>
            </a:r>
            <a:r>
              <a:rPr lang="en-US" altLang="en-US" sz="2000" dirty="0" err="1">
                <a:latin typeface="Arial" panose="020B0604020202020204" pitchFamily="34" charset="0"/>
              </a:rPr>
              <a:t>gridheight</a:t>
            </a:r>
            <a:r>
              <a:rPr lang="en-US" altLang="en-US" sz="2000" dirty="0"/>
              <a:t> fields: specify the number of columns and 	rows, respectively, that the component occupies in the grid.</a:t>
            </a:r>
          </a:p>
          <a:p>
            <a:pPr lvl="1" algn="just">
              <a:lnSpc>
                <a:spcPct val="150000"/>
              </a:lnSpc>
            </a:pPr>
            <a:r>
              <a:rPr lang="en-US" altLang="en-US" sz="2000" dirty="0">
                <a:latin typeface="Arial" panose="020B0604020202020204" pitchFamily="34" charset="0"/>
              </a:rPr>
              <a:t>	-	insets</a:t>
            </a:r>
            <a:r>
              <a:rPr lang="en-US" altLang="en-US" sz="2000" dirty="0"/>
              <a:t> field: specify the margins that should be left around each 	individual component.</a:t>
            </a:r>
          </a:p>
          <a:p>
            <a:pPr lvl="1" algn="just">
              <a:lnSpc>
                <a:spcPct val="150000"/>
              </a:lnSpc>
            </a:pPr>
            <a:r>
              <a:rPr lang="en-US" altLang="en-US" sz="2000" dirty="0">
                <a:latin typeface="Arial" panose="020B0604020202020204" pitchFamily="34" charset="0"/>
              </a:rPr>
              <a:t>	-	fill </a:t>
            </a:r>
            <a:r>
              <a:rPr lang="en-US" altLang="en-US" sz="2000" dirty="0" err="1"/>
              <a:t>field:specify</a:t>
            </a:r>
            <a:r>
              <a:rPr lang="en-US" altLang="en-US" sz="2000" dirty="0"/>
              <a:t> whether and how a component should grow when there 	is more space available for it than it needs for its default size.</a:t>
            </a:r>
          </a:p>
          <a:p>
            <a:pPr lvl="1" algn="just">
              <a:lnSpc>
                <a:spcPct val="150000"/>
              </a:lnSpc>
            </a:pPr>
            <a:r>
              <a:rPr lang="en-US" altLang="en-US" sz="2000" dirty="0">
                <a:latin typeface="Arial" panose="020B0604020202020204" pitchFamily="34" charset="0"/>
              </a:rPr>
              <a:t>	-	anchor</a:t>
            </a:r>
            <a:r>
              <a:rPr lang="en-US" altLang="en-US" sz="2000" dirty="0"/>
              <a:t> field: specify how a component should be positioned when 	there is more space available than it uses.</a:t>
            </a:r>
          </a:p>
          <a:p>
            <a:pPr lvl="1" algn="just">
              <a:lnSpc>
                <a:spcPct val="150000"/>
              </a:lnSpc>
            </a:pPr>
            <a:r>
              <a:rPr lang="en-US" altLang="en-US" sz="2000" dirty="0">
                <a:latin typeface="Arial" panose="020B0604020202020204" pitchFamily="34" charset="0"/>
              </a:rPr>
              <a:t>	-	</a:t>
            </a:r>
            <a:r>
              <a:rPr lang="en-US" altLang="en-US" sz="2000" dirty="0" err="1">
                <a:latin typeface="Arial" panose="020B0604020202020204" pitchFamily="34" charset="0"/>
              </a:rPr>
              <a:t>weightx</a:t>
            </a:r>
            <a:r>
              <a:rPr lang="en-US" altLang="en-US" sz="2000" dirty="0"/>
              <a:t> and </a:t>
            </a:r>
            <a:r>
              <a:rPr lang="en-US" altLang="en-US" sz="2000" dirty="0">
                <a:latin typeface="Arial" panose="020B0604020202020204" pitchFamily="34" charset="0"/>
              </a:rPr>
              <a:t>weighty</a:t>
            </a:r>
            <a:r>
              <a:rPr lang="en-US" altLang="en-US" sz="2000" dirty="0"/>
              <a:t> fields: specify how extra horizontal and vertical 	space should be distributed among the components when the container 	is resized.</a:t>
            </a:r>
          </a:p>
        </p:txBody>
      </p:sp>
      <p:sp>
        <p:nvSpPr>
          <p:cNvPr id="3" name="Footer Placeholder 2">
            <a:extLst>
              <a:ext uri="{FF2B5EF4-FFF2-40B4-BE49-F238E27FC236}">
                <a16:creationId xmlns:a16="http://schemas.microsoft.com/office/drawing/2014/main" id="{E2CE3D37-C88E-67BA-C15E-45676960B13E}"/>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DBF0BF70-45F3-ADC9-2A1D-8243CDC41E1B}"/>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a:extLst>
              <a:ext uri="{FF2B5EF4-FFF2-40B4-BE49-F238E27FC236}">
                <a16:creationId xmlns:a16="http://schemas.microsoft.com/office/drawing/2014/main" id="{7597838E-F157-B2CB-8F6A-FAD235808473}"/>
              </a:ext>
            </a:extLst>
          </p:cNvPr>
          <p:cNvSpPr txBox="1">
            <a:spLocks noChangeArrowheads="1"/>
          </p:cNvSpPr>
          <p:nvPr/>
        </p:nvSpPr>
        <p:spPr bwMode="auto">
          <a:xfrm>
            <a:off x="4721758" y="914400"/>
            <a:ext cx="26696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t>5. </a:t>
            </a:r>
            <a:r>
              <a:rPr lang="en-US" altLang="en-US" sz="2800" u="sng" dirty="0" err="1"/>
              <a:t>GridBagLayout</a:t>
            </a:r>
            <a:endParaRPr lang="en-US" altLang="en-US" sz="3600" u="sng" dirty="0"/>
          </a:p>
        </p:txBody>
      </p:sp>
      <p:sp>
        <p:nvSpPr>
          <p:cNvPr id="145411" name="Text Box 3">
            <a:extLst>
              <a:ext uri="{FF2B5EF4-FFF2-40B4-BE49-F238E27FC236}">
                <a16:creationId xmlns:a16="http://schemas.microsoft.com/office/drawing/2014/main" id="{11E1015D-B40D-2FB8-2124-B27AF405F160}"/>
              </a:ext>
            </a:extLst>
          </p:cNvPr>
          <p:cNvSpPr txBox="1">
            <a:spLocks noChangeArrowheads="1"/>
          </p:cNvSpPr>
          <p:nvPr/>
        </p:nvSpPr>
        <p:spPr bwMode="auto">
          <a:xfrm>
            <a:off x="1143000" y="1816100"/>
            <a:ext cx="9906000" cy="43688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857250" algn="l"/>
                <a:tab pos="1828800" algn="l"/>
                <a:tab pos="2286000" algn="l"/>
              </a:tabLst>
              <a:defRPr sz="2400">
                <a:solidFill>
                  <a:schemeClr val="tx1"/>
                </a:solidFill>
                <a:latin typeface="Times New Roman" panose="02020603050405020304" pitchFamily="18" charset="0"/>
              </a:defRPr>
            </a:lvl1pPr>
            <a:lvl2pPr marL="438150" indent="-323850">
              <a:tabLst>
                <a:tab pos="857250" algn="l"/>
                <a:tab pos="1828800" algn="l"/>
                <a:tab pos="2286000" algn="l"/>
              </a:tabLst>
              <a:defRPr sz="2400">
                <a:solidFill>
                  <a:schemeClr val="tx1"/>
                </a:solidFill>
                <a:latin typeface="Times New Roman" panose="02020603050405020304" pitchFamily="18" charset="0"/>
              </a:defRPr>
            </a:lvl2pPr>
            <a:lvl3pPr>
              <a:tabLst>
                <a:tab pos="857250" algn="l"/>
                <a:tab pos="1828800" algn="l"/>
                <a:tab pos="2286000" algn="l"/>
              </a:tabLst>
              <a:defRPr sz="2400">
                <a:solidFill>
                  <a:schemeClr val="tx1"/>
                </a:solidFill>
                <a:latin typeface="Times New Roman" panose="02020603050405020304" pitchFamily="18" charset="0"/>
              </a:defRPr>
            </a:lvl3pPr>
            <a:lvl4pPr>
              <a:tabLst>
                <a:tab pos="857250" algn="l"/>
                <a:tab pos="1828800" algn="l"/>
                <a:tab pos="2286000" algn="l"/>
              </a:tabLst>
              <a:defRPr sz="2400">
                <a:solidFill>
                  <a:schemeClr val="tx1"/>
                </a:solidFill>
                <a:latin typeface="Times New Roman" panose="02020603050405020304" pitchFamily="18" charset="0"/>
              </a:defRPr>
            </a:lvl4pPr>
            <a:lvl5pPr>
              <a:tabLst>
                <a:tab pos="857250" algn="l"/>
                <a:tab pos="1828800" algn="l"/>
                <a:tab pos="22860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9pPr>
          </a:lstStyle>
          <a:p>
            <a:pPr lvl="1"/>
            <a:r>
              <a:rPr lang="en-US" altLang="en-US" sz="2000" dirty="0"/>
              <a:t>import </a:t>
            </a:r>
            <a:r>
              <a:rPr lang="en-US" altLang="en-US" sz="2000" dirty="0" err="1"/>
              <a:t>java.applet</a:t>
            </a:r>
            <a:r>
              <a:rPr lang="en-US" altLang="en-US" sz="2000" dirty="0"/>
              <a:t>.*;</a:t>
            </a:r>
          </a:p>
          <a:p>
            <a:pPr lvl="1"/>
            <a:r>
              <a:rPr lang="en-US" altLang="en-US" sz="2000" dirty="0"/>
              <a:t>import </a:t>
            </a:r>
            <a:r>
              <a:rPr lang="en-US" altLang="en-US" sz="2000" dirty="0" err="1"/>
              <a:t>java.awt</a:t>
            </a:r>
            <a:r>
              <a:rPr lang="en-US" altLang="en-US" sz="2000" dirty="0"/>
              <a:t>.*;</a:t>
            </a:r>
          </a:p>
          <a:p>
            <a:pPr lvl="1"/>
            <a:endParaRPr lang="en-US" altLang="en-US" sz="2000" dirty="0"/>
          </a:p>
          <a:p>
            <a:pPr lvl="1"/>
            <a:r>
              <a:rPr lang="en-US" altLang="en-US" sz="2000" dirty="0"/>
              <a:t>public class </a:t>
            </a:r>
            <a:r>
              <a:rPr lang="en-US" altLang="en-US" sz="2000" dirty="0" err="1"/>
              <a:t>GridBagLayoutExample</a:t>
            </a:r>
            <a:r>
              <a:rPr lang="en-US" altLang="en-US" sz="2000" dirty="0"/>
              <a:t> extends Applet {</a:t>
            </a:r>
          </a:p>
          <a:p>
            <a:pPr lvl="1"/>
            <a:r>
              <a:rPr lang="en-US" altLang="en-US" sz="2000" dirty="0"/>
              <a:t>	public void </a:t>
            </a:r>
            <a:r>
              <a:rPr lang="en-US" altLang="en-US" sz="2000" dirty="0" err="1"/>
              <a:t>init</a:t>
            </a:r>
            <a:r>
              <a:rPr lang="en-US" altLang="en-US" sz="2000" dirty="0"/>
              <a:t>() {</a:t>
            </a:r>
          </a:p>
          <a:p>
            <a:pPr lvl="1"/>
            <a:r>
              <a:rPr lang="en-US" altLang="en-US" sz="2000" dirty="0"/>
              <a:t>		//Create and specify a layout manager</a:t>
            </a:r>
          </a:p>
          <a:p>
            <a:pPr lvl="1"/>
            <a:r>
              <a:rPr lang="en-US" altLang="en-US" sz="2000" dirty="0"/>
              <a:t>		</a:t>
            </a:r>
            <a:r>
              <a:rPr lang="en-US" altLang="en-US" sz="2000" dirty="0" err="1"/>
              <a:t>this.setLayout</a:t>
            </a:r>
            <a:r>
              <a:rPr lang="en-US" altLang="en-US" sz="2000" dirty="0"/>
              <a:t>(new </a:t>
            </a:r>
            <a:r>
              <a:rPr lang="en-US" altLang="en-US" sz="2000" dirty="0" err="1"/>
              <a:t>GridBagLayout</a:t>
            </a:r>
            <a:r>
              <a:rPr lang="en-US" altLang="en-US" sz="2000" dirty="0"/>
              <a:t>());</a:t>
            </a:r>
          </a:p>
          <a:p>
            <a:pPr lvl="1"/>
            <a:endParaRPr lang="en-US" altLang="en-US" sz="2000" dirty="0"/>
          </a:p>
          <a:p>
            <a:pPr lvl="1"/>
            <a:r>
              <a:rPr lang="en-US" altLang="en-US" sz="2000" dirty="0"/>
              <a:t>		//Create a constraint object, and specify some default values</a:t>
            </a:r>
          </a:p>
          <a:p>
            <a:pPr lvl="1"/>
            <a:r>
              <a:rPr lang="en-US" altLang="en-US" sz="2000" dirty="0"/>
              <a:t>		</a:t>
            </a:r>
            <a:r>
              <a:rPr lang="en-US" altLang="en-US" sz="2000" dirty="0" err="1"/>
              <a:t>GridBagConstraints</a:t>
            </a:r>
            <a:r>
              <a:rPr lang="en-US" altLang="en-US" sz="2000" dirty="0"/>
              <a:t> c = new </a:t>
            </a:r>
            <a:r>
              <a:rPr lang="en-US" altLang="en-US" sz="2000" dirty="0" err="1"/>
              <a:t>GridBagConstraints</a:t>
            </a:r>
            <a:r>
              <a:rPr lang="en-US" altLang="en-US" sz="2000" dirty="0"/>
              <a:t>();</a:t>
            </a:r>
          </a:p>
          <a:p>
            <a:pPr lvl="1"/>
            <a:r>
              <a:rPr lang="en-US" altLang="en-US" sz="2000" dirty="0"/>
              <a:t>		</a:t>
            </a:r>
            <a:r>
              <a:rPr lang="en-US" altLang="en-US" sz="2000" dirty="0" err="1"/>
              <a:t>c.fill</a:t>
            </a:r>
            <a:r>
              <a:rPr lang="en-US" altLang="en-US" sz="2000" dirty="0"/>
              <a:t> = </a:t>
            </a:r>
            <a:r>
              <a:rPr lang="en-US" altLang="en-US" sz="2000" dirty="0" err="1"/>
              <a:t>GridBagConstraints.BOTH</a:t>
            </a:r>
            <a:r>
              <a:rPr lang="en-US" altLang="en-US" sz="2000" dirty="0"/>
              <a:t>; //components grow in both dimensions</a:t>
            </a:r>
          </a:p>
          <a:p>
            <a:pPr lvl="1"/>
            <a:r>
              <a:rPr lang="en-US" altLang="en-US" sz="2000" dirty="0"/>
              <a:t>		</a:t>
            </a:r>
            <a:r>
              <a:rPr lang="en-US" altLang="en-US" sz="2000" dirty="0" err="1"/>
              <a:t>c.insets</a:t>
            </a:r>
            <a:r>
              <a:rPr lang="en-US" altLang="en-US" sz="2000" dirty="0"/>
              <a:t> = new Insets(5, 5, 5, 5); //5-pixel margins on all sides</a:t>
            </a:r>
          </a:p>
          <a:p>
            <a:pPr lvl="1"/>
            <a:r>
              <a:rPr lang="en-US" altLang="en-US" sz="2000" dirty="0"/>
              <a:t>		//Create and add a bunch of buttons, specifying different grid position, and</a:t>
            </a:r>
          </a:p>
          <a:p>
            <a:pPr lvl="1"/>
            <a:r>
              <a:rPr lang="en-US" altLang="en-US" sz="2000" dirty="0"/>
              <a:t>		//size for each.</a:t>
            </a:r>
            <a:endParaRPr lang="en-US" altLang="en-US" dirty="0"/>
          </a:p>
        </p:txBody>
      </p:sp>
      <p:sp>
        <p:nvSpPr>
          <p:cNvPr id="3" name="Footer Placeholder 2">
            <a:extLst>
              <a:ext uri="{FF2B5EF4-FFF2-40B4-BE49-F238E27FC236}">
                <a16:creationId xmlns:a16="http://schemas.microsoft.com/office/drawing/2014/main" id="{91ED3C80-F79D-1892-7C6F-B2EF0A0637CB}"/>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274C41EB-B97B-14AF-12EC-E83006BE80D7}"/>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a:extLst>
              <a:ext uri="{FF2B5EF4-FFF2-40B4-BE49-F238E27FC236}">
                <a16:creationId xmlns:a16="http://schemas.microsoft.com/office/drawing/2014/main" id="{9E1A54D7-571B-B44D-B9F7-C608ECE47E0E}"/>
              </a:ext>
            </a:extLst>
          </p:cNvPr>
          <p:cNvSpPr txBox="1">
            <a:spLocks noChangeArrowheads="1"/>
          </p:cNvSpPr>
          <p:nvPr/>
        </p:nvSpPr>
        <p:spPr bwMode="auto">
          <a:xfrm>
            <a:off x="4721758" y="838200"/>
            <a:ext cx="26696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t>5. </a:t>
            </a:r>
            <a:r>
              <a:rPr lang="en-US" altLang="en-US" sz="2800" u="sng" dirty="0" err="1"/>
              <a:t>GridBagLayout</a:t>
            </a:r>
            <a:endParaRPr lang="en-US" altLang="en-US" sz="3600" u="sng" dirty="0"/>
          </a:p>
        </p:txBody>
      </p:sp>
      <p:sp>
        <p:nvSpPr>
          <p:cNvPr id="146435" name="Text Box 3">
            <a:extLst>
              <a:ext uri="{FF2B5EF4-FFF2-40B4-BE49-F238E27FC236}">
                <a16:creationId xmlns:a16="http://schemas.microsoft.com/office/drawing/2014/main" id="{2423D12B-B826-7481-2D75-B9C662D2C4B6}"/>
              </a:ext>
            </a:extLst>
          </p:cNvPr>
          <p:cNvSpPr txBox="1">
            <a:spLocks noChangeArrowheads="1"/>
          </p:cNvSpPr>
          <p:nvPr/>
        </p:nvSpPr>
        <p:spPr bwMode="auto">
          <a:xfrm>
            <a:off x="1981200" y="1828800"/>
            <a:ext cx="8356600" cy="4064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857250" algn="l"/>
                <a:tab pos="1828800" algn="l"/>
                <a:tab pos="2286000" algn="l"/>
              </a:tabLst>
              <a:defRPr sz="2400">
                <a:solidFill>
                  <a:schemeClr val="tx1"/>
                </a:solidFill>
                <a:latin typeface="Times New Roman" panose="02020603050405020304" pitchFamily="18" charset="0"/>
              </a:defRPr>
            </a:lvl1pPr>
            <a:lvl2pPr marL="438150" indent="-323850">
              <a:tabLst>
                <a:tab pos="857250" algn="l"/>
                <a:tab pos="1828800" algn="l"/>
                <a:tab pos="2286000" algn="l"/>
              </a:tabLst>
              <a:defRPr sz="2400">
                <a:solidFill>
                  <a:schemeClr val="tx1"/>
                </a:solidFill>
                <a:latin typeface="Times New Roman" panose="02020603050405020304" pitchFamily="18" charset="0"/>
              </a:defRPr>
            </a:lvl2pPr>
            <a:lvl3pPr>
              <a:tabLst>
                <a:tab pos="857250" algn="l"/>
                <a:tab pos="1828800" algn="l"/>
                <a:tab pos="2286000" algn="l"/>
              </a:tabLst>
              <a:defRPr sz="2400">
                <a:solidFill>
                  <a:schemeClr val="tx1"/>
                </a:solidFill>
                <a:latin typeface="Times New Roman" panose="02020603050405020304" pitchFamily="18" charset="0"/>
              </a:defRPr>
            </a:lvl3pPr>
            <a:lvl4pPr>
              <a:tabLst>
                <a:tab pos="857250" algn="l"/>
                <a:tab pos="1828800" algn="l"/>
                <a:tab pos="2286000" algn="l"/>
              </a:tabLst>
              <a:defRPr sz="2400">
                <a:solidFill>
                  <a:schemeClr val="tx1"/>
                </a:solidFill>
                <a:latin typeface="Times New Roman" panose="02020603050405020304" pitchFamily="18" charset="0"/>
              </a:defRPr>
            </a:lvl4pPr>
            <a:lvl5pPr>
              <a:tabLst>
                <a:tab pos="857250" algn="l"/>
                <a:tab pos="1828800" algn="l"/>
                <a:tab pos="22860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9pPr>
          </a:lstStyle>
          <a:p>
            <a:pPr lvl="1"/>
            <a:r>
              <a:rPr lang="en-US" altLang="en-US" sz="2000"/>
              <a:t>//Give the first button a resize weight of 1.0 and all others a weight of 0.0.</a:t>
            </a:r>
          </a:p>
          <a:p>
            <a:pPr lvl="1"/>
            <a:r>
              <a:rPr lang="en-US" altLang="en-US" sz="2000"/>
              <a:t>//The first button will get all extra space.</a:t>
            </a:r>
          </a:p>
          <a:p>
            <a:pPr lvl="1"/>
            <a:r>
              <a:rPr lang="en-US" altLang="en-US" sz="2000"/>
              <a:t>c.gridx = 0; c.gridy = 0; c.gridwidth = 4; c.gridheight = 4;</a:t>
            </a:r>
          </a:p>
          <a:p>
            <a:pPr lvl="1"/>
            <a:r>
              <a:rPr lang="en-US" altLang="en-US" sz="2000"/>
              <a:t>c. weightx = c.weighty = 1.0;</a:t>
            </a:r>
          </a:p>
          <a:p>
            <a:pPr lvl="1"/>
            <a:r>
              <a:rPr lang="en-US" altLang="en-US" sz="2000"/>
              <a:t>this.add(new Button(“Button #1”), c);</a:t>
            </a:r>
          </a:p>
          <a:p>
            <a:pPr lvl="1"/>
            <a:endParaRPr lang="en-US" altLang="en-US" sz="2000"/>
          </a:p>
          <a:p>
            <a:pPr lvl="1"/>
            <a:r>
              <a:rPr lang="en-US" altLang="en-US" sz="2000"/>
              <a:t>c.gridx = 4; c.gridy = 0; c.gridwidth = 1; c.gridheight = 1;</a:t>
            </a:r>
          </a:p>
          <a:p>
            <a:pPr lvl="1"/>
            <a:r>
              <a:rPr lang="en-US" altLang="en-US" sz="2000"/>
              <a:t>//c. weightx = c.weighty = 0.0;</a:t>
            </a:r>
          </a:p>
          <a:p>
            <a:pPr lvl="1"/>
            <a:r>
              <a:rPr lang="en-US" altLang="en-US" sz="2000"/>
              <a:t>this.add(new Button(“Button #2”), c);</a:t>
            </a:r>
          </a:p>
          <a:p>
            <a:pPr lvl="1"/>
            <a:endParaRPr lang="en-US" altLang="en-US" sz="2000"/>
          </a:p>
          <a:p>
            <a:pPr lvl="1"/>
            <a:r>
              <a:rPr lang="en-US" altLang="en-US" sz="2000"/>
              <a:t>c.gridx = 4; c.gridy = 1; c.gridwidth = 1; c.gridheight = 1;</a:t>
            </a:r>
          </a:p>
          <a:p>
            <a:pPr lvl="1"/>
            <a:r>
              <a:rPr lang="en-US" altLang="en-US" sz="2000"/>
              <a:t>this.add(new Button(“Button #3”), c);</a:t>
            </a:r>
          </a:p>
          <a:p>
            <a:pPr lvl="1"/>
            <a:endParaRPr lang="en-US" altLang="en-US" sz="2000"/>
          </a:p>
        </p:txBody>
      </p:sp>
      <p:sp>
        <p:nvSpPr>
          <p:cNvPr id="3" name="Footer Placeholder 2">
            <a:extLst>
              <a:ext uri="{FF2B5EF4-FFF2-40B4-BE49-F238E27FC236}">
                <a16:creationId xmlns:a16="http://schemas.microsoft.com/office/drawing/2014/main" id="{99AFB917-DD74-B668-F813-0A2583A89848}"/>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4512256C-EB07-240C-706D-D28AA305ACA0}"/>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2">
            <a:extLst>
              <a:ext uri="{FF2B5EF4-FFF2-40B4-BE49-F238E27FC236}">
                <a16:creationId xmlns:a16="http://schemas.microsoft.com/office/drawing/2014/main" id="{55261BE0-7FF6-A00C-108C-2E5EF219047E}"/>
              </a:ext>
            </a:extLst>
          </p:cNvPr>
          <p:cNvSpPr txBox="1">
            <a:spLocks noChangeArrowheads="1"/>
          </p:cNvSpPr>
          <p:nvPr/>
        </p:nvSpPr>
        <p:spPr bwMode="auto">
          <a:xfrm>
            <a:off x="5003029" y="609600"/>
            <a:ext cx="26696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u="sng" dirty="0"/>
              <a:t>5. </a:t>
            </a:r>
            <a:r>
              <a:rPr lang="en-US" altLang="en-US" sz="2800" u="sng" dirty="0" err="1"/>
              <a:t>GridBagLayout</a:t>
            </a:r>
            <a:endParaRPr lang="en-US" altLang="en-US" sz="3600" u="sng" dirty="0"/>
          </a:p>
        </p:txBody>
      </p:sp>
      <p:sp>
        <p:nvSpPr>
          <p:cNvPr id="147459" name="Text Box 3">
            <a:extLst>
              <a:ext uri="{FF2B5EF4-FFF2-40B4-BE49-F238E27FC236}">
                <a16:creationId xmlns:a16="http://schemas.microsoft.com/office/drawing/2014/main" id="{ED71BD6E-62A8-B39C-5EDE-771B47C22B41}"/>
              </a:ext>
            </a:extLst>
          </p:cNvPr>
          <p:cNvSpPr txBox="1">
            <a:spLocks noChangeArrowheads="1"/>
          </p:cNvSpPr>
          <p:nvPr/>
        </p:nvSpPr>
        <p:spPr bwMode="auto">
          <a:xfrm>
            <a:off x="2895600" y="1676401"/>
            <a:ext cx="6400800" cy="4429125"/>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857250" algn="l"/>
                <a:tab pos="1828800" algn="l"/>
                <a:tab pos="2286000" algn="l"/>
              </a:tabLst>
              <a:defRPr sz="2400">
                <a:solidFill>
                  <a:schemeClr val="tx1"/>
                </a:solidFill>
                <a:latin typeface="Times New Roman" panose="02020603050405020304" pitchFamily="18" charset="0"/>
              </a:defRPr>
            </a:lvl1pPr>
            <a:lvl2pPr marL="438150" indent="-323850">
              <a:tabLst>
                <a:tab pos="857250" algn="l"/>
                <a:tab pos="1828800" algn="l"/>
                <a:tab pos="2286000" algn="l"/>
              </a:tabLst>
              <a:defRPr sz="2400">
                <a:solidFill>
                  <a:schemeClr val="tx1"/>
                </a:solidFill>
                <a:latin typeface="Times New Roman" panose="02020603050405020304" pitchFamily="18" charset="0"/>
              </a:defRPr>
            </a:lvl2pPr>
            <a:lvl3pPr>
              <a:tabLst>
                <a:tab pos="857250" algn="l"/>
                <a:tab pos="1828800" algn="l"/>
                <a:tab pos="2286000" algn="l"/>
              </a:tabLst>
              <a:defRPr sz="2400">
                <a:solidFill>
                  <a:schemeClr val="tx1"/>
                </a:solidFill>
                <a:latin typeface="Times New Roman" panose="02020603050405020304" pitchFamily="18" charset="0"/>
              </a:defRPr>
            </a:lvl3pPr>
            <a:lvl4pPr>
              <a:tabLst>
                <a:tab pos="857250" algn="l"/>
                <a:tab pos="1828800" algn="l"/>
                <a:tab pos="2286000" algn="l"/>
              </a:tabLst>
              <a:defRPr sz="2400">
                <a:solidFill>
                  <a:schemeClr val="tx1"/>
                </a:solidFill>
                <a:latin typeface="Times New Roman" panose="02020603050405020304" pitchFamily="18" charset="0"/>
              </a:defRPr>
            </a:lvl4pPr>
            <a:lvl5pPr>
              <a:tabLst>
                <a:tab pos="857250" algn="l"/>
                <a:tab pos="1828800" algn="l"/>
                <a:tab pos="22860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857250" algn="l"/>
                <a:tab pos="1828800" algn="l"/>
                <a:tab pos="2286000" algn="l"/>
              </a:tabLst>
              <a:defRPr sz="2400">
                <a:solidFill>
                  <a:schemeClr val="tx1"/>
                </a:solidFill>
                <a:latin typeface="Times New Roman" panose="02020603050405020304" pitchFamily="18" charset="0"/>
              </a:defRPr>
            </a:lvl9pPr>
          </a:lstStyle>
          <a:p>
            <a:pPr lvl="1"/>
            <a:r>
              <a:rPr lang="en-US" altLang="en-US" sz="2000" dirty="0" err="1"/>
              <a:t>c.gridx</a:t>
            </a:r>
            <a:r>
              <a:rPr lang="en-US" altLang="en-US" sz="2000" dirty="0"/>
              <a:t> = 4; </a:t>
            </a:r>
            <a:r>
              <a:rPr lang="en-US" altLang="en-US" sz="2000" dirty="0" err="1"/>
              <a:t>c.gridy</a:t>
            </a:r>
            <a:r>
              <a:rPr lang="en-US" altLang="en-US" sz="2000" dirty="0"/>
              <a:t> = 2; </a:t>
            </a:r>
            <a:r>
              <a:rPr lang="en-US" altLang="en-US" sz="2000" dirty="0" err="1"/>
              <a:t>c.gridwidth</a:t>
            </a:r>
            <a:r>
              <a:rPr lang="en-US" altLang="en-US" sz="2000" dirty="0"/>
              <a:t> = 1; </a:t>
            </a:r>
            <a:r>
              <a:rPr lang="en-US" altLang="en-US" sz="2000" dirty="0" err="1"/>
              <a:t>c.gridheight</a:t>
            </a:r>
            <a:r>
              <a:rPr lang="en-US" altLang="en-US" sz="2000" dirty="0"/>
              <a:t> = 2;</a:t>
            </a:r>
          </a:p>
          <a:p>
            <a:pPr lvl="1"/>
            <a:r>
              <a:rPr lang="en-US" altLang="en-US" sz="2000" dirty="0" err="1"/>
              <a:t>this.add</a:t>
            </a:r>
            <a:r>
              <a:rPr lang="en-US" altLang="en-US" sz="2000" dirty="0"/>
              <a:t>(new Button(“Button #4”), c);</a:t>
            </a:r>
          </a:p>
          <a:p>
            <a:pPr lvl="1"/>
            <a:endParaRPr lang="en-US" altLang="en-US" sz="2000" dirty="0"/>
          </a:p>
          <a:p>
            <a:pPr lvl="1"/>
            <a:r>
              <a:rPr lang="en-US" altLang="en-US" sz="2000" dirty="0" err="1"/>
              <a:t>c.gridx</a:t>
            </a:r>
            <a:r>
              <a:rPr lang="en-US" altLang="en-US" sz="2000" dirty="0"/>
              <a:t> = 0; </a:t>
            </a:r>
            <a:r>
              <a:rPr lang="en-US" altLang="en-US" sz="2000" dirty="0" err="1"/>
              <a:t>c.gridy</a:t>
            </a:r>
            <a:r>
              <a:rPr lang="en-US" altLang="en-US" sz="2000" dirty="0"/>
              <a:t> = 4; </a:t>
            </a:r>
            <a:r>
              <a:rPr lang="en-US" altLang="en-US" sz="2000" dirty="0" err="1"/>
              <a:t>c.gridwidth</a:t>
            </a:r>
            <a:r>
              <a:rPr lang="en-US" altLang="en-US" sz="2000" dirty="0"/>
              <a:t> = 1; </a:t>
            </a:r>
            <a:r>
              <a:rPr lang="en-US" altLang="en-US" sz="2000" dirty="0" err="1"/>
              <a:t>c.gridheight</a:t>
            </a:r>
            <a:r>
              <a:rPr lang="en-US" altLang="en-US" sz="2000" dirty="0"/>
              <a:t> = 2;</a:t>
            </a:r>
          </a:p>
          <a:p>
            <a:pPr lvl="1"/>
            <a:r>
              <a:rPr lang="en-US" altLang="en-US" sz="2000" dirty="0" err="1"/>
              <a:t>this.add</a:t>
            </a:r>
            <a:r>
              <a:rPr lang="en-US" altLang="en-US" sz="2000" dirty="0"/>
              <a:t>(new Button(“Button #5”), c);</a:t>
            </a:r>
          </a:p>
          <a:p>
            <a:pPr lvl="1"/>
            <a:endParaRPr lang="en-US" altLang="en-US" sz="2000" dirty="0"/>
          </a:p>
          <a:p>
            <a:pPr lvl="1"/>
            <a:r>
              <a:rPr lang="en-US" altLang="en-US" sz="2000" dirty="0" err="1"/>
              <a:t>c.gridx</a:t>
            </a:r>
            <a:r>
              <a:rPr lang="en-US" altLang="en-US" sz="2000" dirty="0"/>
              <a:t> = 2; </a:t>
            </a:r>
            <a:r>
              <a:rPr lang="en-US" altLang="en-US" sz="2000" dirty="0" err="1"/>
              <a:t>c.gridy</a:t>
            </a:r>
            <a:r>
              <a:rPr lang="en-US" altLang="en-US" sz="2000" dirty="0"/>
              <a:t> = 4; </a:t>
            </a:r>
            <a:r>
              <a:rPr lang="en-US" altLang="en-US" sz="2000" dirty="0" err="1"/>
              <a:t>c.gridwidth</a:t>
            </a:r>
            <a:r>
              <a:rPr lang="en-US" altLang="en-US" sz="2000" dirty="0"/>
              <a:t> = 1; </a:t>
            </a:r>
            <a:r>
              <a:rPr lang="en-US" altLang="en-US" sz="2000" dirty="0" err="1"/>
              <a:t>c.gridheight</a:t>
            </a:r>
            <a:r>
              <a:rPr lang="en-US" altLang="en-US" sz="2000" dirty="0"/>
              <a:t> = 2;</a:t>
            </a:r>
          </a:p>
          <a:p>
            <a:pPr lvl="1"/>
            <a:r>
              <a:rPr lang="en-US" altLang="en-US" sz="2000" dirty="0" err="1"/>
              <a:t>this.add</a:t>
            </a:r>
            <a:r>
              <a:rPr lang="en-US" altLang="en-US" sz="2000" dirty="0"/>
              <a:t>(new Button(“Button #6”), c);</a:t>
            </a:r>
          </a:p>
          <a:p>
            <a:pPr lvl="1"/>
            <a:endParaRPr lang="en-US" altLang="en-US" sz="2000" dirty="0"/>
          </a:p>
          <a:p>
            <a:pPr lvl="1"/>
            <a:r>
              <a:rPr lang="en-US" altLang="en-US" sz="2000" dirty="0" err="1"/>
              <a:t>c.gridx</a:t>
            </a:r>
            <a:r>
              <a:rPr lang="en-US" altLang="en-US" sz="2000" dirty="0"/>
              <a:t> = 3; </a:t>
            </a:r>
            <a:r>
              <a:rPr lang="en-US" altLang="en-US" sz="2000" dirty="0" err="1"/>
              <a:t>c.gridy</a:t>
            </a:r>
            <a:r>
              <a:rPr lang="en-US" altLang="en-US" sz="2000" dirty="0"/>
              <a:t> = 4; </a:t>
            </a:r>
            <a:r>
              <a:rPr lang="en-US" altLang="en-US" sz="2000" dirty="0" err="1"/>
              <a:t>c.gridwidth</a:t>
            </a:r>
            <a:r>
              <a:rPr lang="en-US" altLang="en-US" sz="2000" dirty="0"/>
              <a:t> = 2; </a:t>
            </a:r>
            <a:r>
              <a:rPr lang="en-US" altLang="en-US" sz="2000" dirty="0" err="1"/>
              <a:t>c.gridheight</a:t>
            </a:r>
            <a:r>
              <a:rPr lang="en-US" altLang="en-US" sz="2000" dirty="0"/>
              <a:t> = 1;</a:t>
            </a:r>
          </a:p>
          <a:p>
            <a:pPr lvl="1"/>
            <a:r>
              <a:rPr lang="en-US" altLang="en-US" sz="2000" dirty="0" err="1"/>
              <a:t>this.add</a:t>
            </a:r>
            <a:r>
              <a:rPr lang="en-US" altLang="en-US" sz="2000" dirty="0"/>
              <a:t>(new Button(“Button #7”), c);</a:t>
            </a:r>
          </a:p>
          <a:p>
            <a:pPr lvl="1"/>
            <a:endParaRPr lang="en-US" altLang="en-US" sz="2000" dirty="0"/>
          </a:p>
          <a:p>
            <a:pPr lvl="1"/>
            <a:endParaRPr lang="en-US" altLang="en-US" sz="2000" dirty="0"/>
          </a:p>
          <a:p>
            <a:pPr lvl="1"/>
            <a:endParaRPr lang="en-US" altLang="en-US" dirty="0"/>
          </a:p>
        </p:txBody>
      </p:sp>
      <p:sp>
        <p:nvSpPr>
          <p:cNvPr id="3" name="Footer Placeholder 2">
            <a:extLst>
              <a:ext uri="{FF2B5EF4-FFF2-40B4-BE49-F238E27FC236}">
                <a16:creationId xmlns:a16="http://schemas.microsoft.com/office/drawing/2014/main" id="{EABCFF4B-5E11-D9D1-EC8B-75275914D2B3}"/>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DE228636-6266-8586-F3D9-84DE1F8FD4C7}"/>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a:extLst>
              <a:ext uri="{FF2B5EF4-FFF2-40B4-BE49-F238E27FC236}">
                <a16:creationId xmlns:a16="http://schemas.microsoft.com/office/drawing/2014/main" id="{02252536-3C9B-75A9-89B4-1AB22DABEC3B}"/>
              </a:ext>
            </a:extLst>
          </p:cNvPr>
          <p:cNvSpPr txBox="1">
            <a:spLocks noChangeArrowheads="1"/>
          </p:cNvSpPr>
          <p:nvPr/>
        </p:nvSpPr>
        <p:spPr bwMode="auto">
          <a:xfrm>
            <a:off x="2667000" y="304800"/>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b="1" u="sng" dirty="0">
                <a:solidFill>
                  <a:srgbClr val="0000FF"/>
                </a:solidFill>
              </a:rPr>
              <a:t>Nesting Panels Example</a:t>
            </a:r>
          </a:p>
        </p:txBody>
      </p:sp>
      <p:sp>
        <p:nvSpPr>
          <p:cNvPr id="11268" name="Text Box 4">
            <a:extLst>
              <a:ext uri="{FF2B5EF4-FFF2-40B4-BE49-F238E27FC236}">
                <a16:creationId xmlns:a16="http://schemas.microsoft.com/office/drawing/2014/main" id="{619EFADB-F82C-0B37-901B-CD500ECD2900}"/>
              </a:ext>
            </a:extLst>
          </p:cNvPr>
          <p:cNvSpPr txBox="1">
            <a:spLocks noChangeArrowheads="1"/>
          </p:cNvSpPr>
          <p:nvPr/>
        </p:nvSpPr>
        <p:spPr bwMode="auto">
          <a:xfrm>
            <a:off x="2133600" y="1273176"/>
            <a:ext cx="7924800" cy="390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dirty="0"/>
              <a:t>Keypad from the ATM GUI in previous slide: </a:t>
            </a:r>
            <a:br>
              <a:rPr lang="en-US" altLang="en-US" sz="2400" dirty="0"/>
            </a:br>
            <a:br>
              <a:rPr lang="en-US" altLang="en-US" sz="2400" dirty="0"/>
            </a:br>
            <a:r>
              <a:rPr lang="en-US" altLang="en-US" sz="2000" dirty="0" err="1">
                <a:latin typeface="Courier New" panose="02070309020205020404" pitchFamily="49" charset="0"/>
              </a:rPr>
              <a:t>JPanel</a:t>
            </a:r>
            <a:r>
              <a:rPr lang="en-US" altLang="en-US" sz="2000" dirty="0">
                <a:latin typeface="Courier New" panose="02070309020205020404" pitchFamily="49" charset="0"/>
              </a:rPr>
              <a:t> </a:t>
            </a:r>
            <a:r>
              <a:rPr lang="en-US" altLang="en-US" sz="2000" dirty="0" err="1">
                <a:latin typeface="Courier New" panose="02070309020205020404" pitchFamily="49" charset="0"/>
              </a:rPr>
              <a:t>keypadPanel</a:t>
            </a:r>
            <a:r>
              <a:rPr lang="en-US" altLang="en-US" sz="2000" dirty="0">
                <a:latin typeface="Courier New" panose="02070309020205020404" pitchFamily="49" charset="0"/>
              </a:rPr>
              <a:t> = new </a:t>
            </a:r>
            <a:r>
              <a:rPr lang="en-US" altLang="en-US" sz="2000" dirty="0" err="1">
                <a:latin typeface="Courier New" panose="02070309020205020404" pitchFamily="49" charset="0"/>
              </a:rPr>
              <a:t>JPanel</a:t>
            </a:r>
            <a:r>
              <a:rPr lang="en-US" altLang="en-US" sz="2000" dirty="0">
                <a:latin typeface="Courier New" panose="02070309020205020404" pitchFamily="49" charset="0"/>
              </a:rPr>
              <a:t>(); </a:t>
            </a:r>
            <a:r>
              <a:rPr lang="en-US" altLang="en-US" sz="2000" dirty="0" err="1">
                <a:latin typeface="Courier New" panose="02070309020205020404" pitchFamily="49" charset="0"/>
              </a:rPr>
              <a:t>keypadPanel.setLayout</a:t>
            </a:r>
            <a:r>
              <a:rPr lang="en-US" altLang="en-US" sz="2000" dirty="0">
                <a:latin typeface="Courier New" panose="02070309020205020404" pitchFamily="49" charset="0"/>
              </a:rPr>
              <a:t>(new </a:t>
            </a:r>
            <a:r>
              <a:rPr lang="en-US" altLang="en-US" sz="2000" dirty="0" err="1">
                <a:latin typeface="Courier New" panose="02070309020205020404" pitchFamily="49" charset="0"/>
              </a:rPr>
              <a:t>BorderLayout</a:t>
            </a:r>
            <a:r>
              <a:rPr lang="en-US" altLang="en-US" sz="2000" dirty="0">
                <a:latin typeface="Courier New" panose="02070309020205020404" pitchFamily="49" charset="0"/>
              </a:rPr>
              <a:t>()); </a:t>
            </a:r>
            <a:br>
              <a:rPr lang="en-US" altLang="en-US" sz="2000" dirty="0">
                <a:latin typeface="Courier New" panose="02070309020205020404" pitchFamily="49" charset="0"/>
              </a:rPr>
            </a:br>
            <a:r>
              <a:rPr lang="en-US" altLang="en-US" sz="2000" dirty="0" err="1">
                <a:latin typeface="Courier New" panose="02070309020205020404" pitchFamily="49" charset="0"/>
              </a:rPr>
              <a:t>buttonPanel</a:t>
            </a:r>
            <a:r>
              <a:rPr lang="en-US" altLang="en-US" sz="2000" dirty="0">
                <a:latin typeface="Courier New" panose="02070309020205020404" pitchFamily="49" charset="0"/>
              </a:rPr>
              <a:t> = new </a:t>
            </a:r>
            <a:r>
              <a:rPr lang="en-US" altLang="en-US" sz="2000" dirty="0" err="1">
                <a:latin typeface="Courier New" panose="02070309020205020404" pitchFamily="49" charset="0"/>
              </a:rPr>
              <a:t>JPanel</a:t>
            </a:r>
            <a:r>
              <a:rPr lang="en-US" altLang="en-US" sz="2000" dirty="0">
                <a:latin typeface="Courier New" panose="02070309020205020404" pitchFamily="49" charset="0"/>
              </a:rPr>
              <a:t>(); </a:t>
            </a:r>
            <a:br>
              <a:rPr lang="en-US" altLang="en-US" sz="2000" dirty="0">
                <a:latin typeface="Courier New" panose="02070309020205020404" pitchFamily="49" charset="0"/>
              </a:rPr>
            </a:br>
            <a:r>
              <a:rPr lang="en-US" altLang="en-US" sz="2000" dirty="0" err="1">
                <a:latin typeface="Courier New" panose="02070309020205020404" pitchFamily="49" charset="0"/>
              </a:rPr>
              <a:t>buttonPanel.setLayout</a:t>
            </a:r>
            <a:r>
              <a:rPr lang="en-US" altLang="en-US" sz="2000" dirty="0">
                <a:latin typeface="Courier New" panose="02070309020205020404" pitchFamily="49" charset="0"/>
              </a:rPr>
              <a:t>(new </a:t>
            </a:r>
            <a:r>
              <a:rPr lang="en-US" altLang="en-US" sz="2000" dirty="0" err="1">
                <a:latin typeface="Courier New" panose="02070309020205020404" pitchFamily="49" charset="0"/>
              </a:rPr>
              <a:t>GridLayout</a:t>
            </a:r>
            <a:r>
              <a:rPr lang="en-US" altLang="en-US" sz="2000" dirty="0">
                <a:latin typeface="Courier New" panose="02070309020205020404" pitchFamily="49" charset="0"/>
              </a:rPr>
              <a:t>(4, 3)); </a:t>
            </a:r>
            <a:r>
              <a:rPr lang="en-US" altLang="en-US" sz="2000" dirty="0" err="1">
                <a:latin typeface="Courier New" panose="02070309020205020404" pitchFamily="49" charset="0"/>
              </a:rPr>
              <a:t>buttonPanel.add</a:t>
            </a:r>
            <a:r>
              <a:rPr lang="en-US" altLang="en-US" sz="2000" dirty="0">
                <a:latin typeface="Courier New" panose="02070309020205020404" pitchFamily="49" charset="0"/>
              </a:rPr>
              <a:t>(button7); </a:t>
            </a:r>
            <a:br>
              <a:rPr lang="en-US" altLang="en-US" sz="2000" dirty="0">
                <a:latin typeface="Courier New" panose="02070309020205020404" pitchFamily="49" charset="0"/>
              </a:rPr>
            </a:br>
            <a:r>
              <a:rPr lang="en-US" altLang="en-US" sz="2000" dirty="0" err="1">
                <a:latin typeface="Courier New" panose="02070309020205020404" pitchFamily="49" charset="0"/>
              </a:rPr>
              <a:t>buttonPanel.add</a:t>
            </a:r>
            <a:r>
              <a:rPr lang="en-US" altLang="en-US" sz="2000" dirty="0">
                <a:latin typeface="Courier New" panose="02070309020205020404" pitchFamily="49" charset="0"/>
              </a:rPr>
              <a:t>(button8); </a:t>
            </a:r>
            <a:br>
              <a:rPr lang="en-US" altLang="en-US" sz="2000" dirty="0">
                <a:latin typeface="Courier New" panose="02070309020205020404" pitchFamily="49" charset="0"/>
              </a:rPr>
            </a:br>
            <a:r>
              <a:rPr lang="en-US" altLang="en-US" sz="2000" dirty="0">
                <a:latin typeface="Courier New" panose="02070309020205020404" pitchFamily="49" charset="0"/>
              </a:rPr>
              <a:t>// . . . </a:t>
            </a:r>
            <a:br>
              <a:rPr lang="en-US" altLang="en-US" sz="2000" dirty="0">
                <a:latin typeface="Courier New" panose="02070309020205020404" pitchFamily="49" charset="0"/>
              </a:rPr>
            </a:br>
            <a:r>
              <a:rPr lang="en-US" altLang="en-US" sz="2000" dirty="0" err="1">
                <a:latin typeface="Courier New" panose="02070309020205020404" pitchFamily="49" charset="0"/>
              </a:rPr>
              <a:t>keypadPanel.add</a:t>
            </a:r>
            <a:r>
              <a:rPr lang="en-US" altLang="en-US" sz="2000" dirty="0">
                <a:latin typeface="Courier New" panose="02070309020205020404" pitchFamily="49" charset="0"/>
              </a:rPr>
              <a:t>(</a:t>
            </a:r>
            <a:r>
              <a:rPr lang="en-US" altLang="en-US" sz="2000" dirty="0" err="1">
                <a:latin typeface="Courier New" panose="02070309020205020404" pitchFamily="49" charset="0"/>
              </a:rPr>
              <a:t>buttonPanel</a:t>
            </a:r>
            <a:r>
              <a:rPr lang="en-US" altLang="en-US" sz="2000" dirty="0">
                <a:latin typeface="Courier New" panose="02070309020205020404" pitchFamily="49" charset="0"/>
              </a:rPr>
              <a:t>, </a:t>
            </a:r>
            <a:r>
              <a:rPr lang="en-US" altLang="en-US" sz="2000" dirty="0" err="1">
                <a:latin typeface="Courier New" panose="02070309020205020404" pitchFamily="49" charset="0"/>
              </a:rPr>
              <a:t>BorderLayout.CENTER</a:t>
            </a:r>
            <a:r>
              <a:rPr lang="en-US" altLang="en-US" sz="2000" dirty="0">
                <a:latin typeface="Courier New" panose="02070309020205020404" pitchFamily="49" charset="0"/>
              </a:rPr>
              <a:t>);</a:t>
            </a:r>
            <a:br>
              <a:rPr lang="en-US" altLang="en-US" sz="2000" dirty="0">
                <a:latin typeface="Courier New" panose="02070309020205020404" pitchFamily="49" charset="0"/>
              </a:rPr>
            </a:br>
            <a:r>
              <a:rPr lang="en-US" altLang="en-US" sz="2000" dirty="0">
                <a:latin typeface="Courier New" panose="02070309020205020404" pitchFamily="49" charset="0"/>
              </a:rPr>
              <a:t> </a:t>
            </a:r>
            <a:r>
              <a:rPr lang="en-US" altLang="en-US" sz="2000" dirty="0" err="1">
                <a:latin typeface="Courier New" panose="02070309020205020404" pitchFamily="49" charset="0"/>
              </a:rPr>
              <a:t>JTextField</a:t>
            </a:r>
            <a:r>
              <a:rPr lang="en-US" altLang="en-US" sz="2000" dirty="0">
                <a:latin typeface="Courier New" panose="02070309020205020404" pitchFamily="49" charset="0"/>
              </a:rPr>
              <a:t> display = new </a:t>
            </a:r>
            <a:r>
              <a:rPr lang="en-US" altLang="en-US" sz="2000" dirty="0" err="1">
                <a:latin typeface="Courier New" panose="02070309020205020404" pitchFamily="49" charset="0"/>
              </a:rPr>
              <a:t>JTextField</a:t>
            </a:r>
            <a:r>
              <a:rPr lang="en-US" altLang="en-US" sz="2000" dirty="0">
                <a:latin typeface="Courier New" panose="02070309020205020404" pitchFamily="49" charset="0"/>
              </a:rPr>
              <a:t>(); </a:t>
            </a:r>
            <a:br>
              <a:rPr lang="en-US" altLang="en-US" sz="2000" dirty="0">
                <a:latin typeface="Courier New" panose="02070309020205020404" pitchFamily="49" charset="0"/>
              </a:rPr>
            </a:br>
            <a:r>
              <a:rPr lang="en-US" altLang="en-US" sz="2000" dirty="0" err="1">
                <a:latin typeface="Courier New" panose="02070309020205020404" pitchFamily="49" charset="0"/>
              </a:rPr>
              <a:t>keypadPanel.add</a:t>
            </a:r>
            <a:r>
              <a:rPr lang="en-US" altLang="en-US" sz="2000" dirty="0">
                <a:latin typeface="Courier New" panose="02070309020205020404" pitchFamily="49" charset="0"/>
              </a:rPr>
              <a:t>(display, </a:t>
            </a:r>
            <a:r>
              <a:rPr lang="en-US" altLang="en-US" sz="2000" dirty="0" err="1">
                <a:latin typeface="Courier New" panose="02070309020205020404" pitchFamily="49" charset="0"/>
              </a:rPr>
              <a:t>BorderLayout.NORTH</a:t>
            </a:r>
            <a:r>
              <a:rPr lang="en-US" altLang="en-US" sz="2000" dirty="0">
                <a:latin typeface="Courier New" panose="02070309020205020404" pitchFamily="49" charset="0"/>
              </a:rPr>
              <a:t>);</a:t>
            </a:r>
          </a:p>
        </p:txBody>
      </p:sp>
      <p:sp>
        <p:nvSpPr>
          <p:cNvPr id="11269" name="Text Box 7">
            <a:extLst>
              <a:ext uri="{FF2B5EF4-FFF2-40B4-BE49-F238E27FC236}">
                <a16:creationId xmlns:a16="http://schemas.microsoft.com/office/drawing/2014/main" id="{C2C15ED9-D932-7955-0EE6-C8CD442C3E7F}"/>
              </a:ext>
            </a:extLst>
          </p:cNvPr>
          <p:cNvSpPr txBox="1">
            <a:spLocks noChangeArrowheads="1"/>
          </p:cNvSpPr>
          <p:nvPr/>
        </p:nvSpPr>
        <p:spPr bwMode="auto">
          <a:xfrm>
            <a:off x="8915400" y="6096001"/>
            <a:ext cx="1447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b="1" i="1"/>
              <a:t>Continued</a:t>
            </a:r>
          </a:p>
        </p:txBody>
      </p:sp>
    </p:spTree>
    <p:extLst>
      <p:ext uri="{BB962C8B-B14F-4D97-AF65-F5344CB8AC3E}">
        <p14:creationId xmlns:p14="http://schemas.microsoft.com/office/powerpoint/2010/main" val="1540954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a:extLst>
              <a:ext uri="{FF2B5EF4-FFF2-40B4-BE49-F238E27FC236}">
                <a16:creationId xmlns:a16="http://schemas.microsoft.com/office/drawing/2014/main" id="{2E7D1E17-DAA1-F858-6A73-355FB36AE27B}"/>
              </a:ext>
            </a:extLst>
          </p:cNvPr>
          <p:cNvSpPr txBox="1">
            <a:spLocks noChangeArrowheads="1"/>
          </p:cNvSpPr>
          <p:nvPr/>
        </p:nvSpPr>
        <p:spPr bwMode="auto">
          <a:xfrm>
            <a:off x="2209800" y="304800"/>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b="1" u="sng" dirty="0">
                <a:solidFill>
                  <a:srgbClr val="0000FF"/>
                </a:solidFill>
              </a:rPr>
              <a:t>Nesting Panels Example  (cont.)</a:t>
            </a:r>
          </a:p>
        </p:txBody>
      </p:sp>
      <p:pic>
        <p:nvPicPr>
          <p:cNvPr id="12292" name="Picture 6">
            <a:extLst>
              <a:ext uri="{FF2B5EF4-FFF2-40B4-BE49-F238E27FC236}">
                <a16:creationId xmlns:a16="http://schemas.microsoft.com/office/drawing/2014/main" id="{2211FBA9-F548-C05A-8247-F270368917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1784350"/>
            <a:ext cx="8505825"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5781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2">
            <a:extLst>
              <a:ext uri="{FF2B5EF4-FFF2-40B4-BE49-F238E27FC236}">
                <a16:creationId xmlns:a16="http://schemas.microsoft.com/office/drawing/2014/main" id="{56B46EB9-4FE7-4A57-61EC-71139A35C1F0}"/>
              </a:ext>
            </a:extLst>
          </p:cNvPr>
          <p:cNvSpPr txBox="1">
            <a:spLocks noChangeArrowheads="1"/>
          </p:cNvSpPr>
          <p:nvPr/>
        </p:nvSpPr>
        <p:spPr bwMode="auto">
          <a:xfrm>
            <a:off x="4953001" y="533401"/>
            <a:ext cx="22838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u="sng" dirty="0">
                <a:latin typeface="Times-Roman"/>
              </a:rPr>
              <a:t>No Layout</a:t>
            </a:r>
            <a:endParaRPr lang="en-US" altLang="en-US" sz="4000" b="1" u="sng" dirty="0">
              <a:latin typeface="Times-Roman"/>
            </a:endParaRPr>
          </a:p>
        </p:txBody>
      </p:sp>
      <p:sp>
        <p:nvSpPr>
          <p:cNvPr id="126979" name="Text Box 3">
            <a:extLst>
              <a:ext uri="{FF2B5EF4-FFF2-40B4-BE49-F238E27FC236}">
                <a16:creationId xmlns:a16="http://schemas.microsoft.com/office/drawing/2014/main" id="{13F11B20-0885-C088-78E7-F824FA1103AD}"/>
              </a:ext>
            </a:extLst>
          </p:cNvPr>
          <p:cNvSpPr txBox="1">
            <a:spLocks noChangeArrowheads="1"/>
          </p:cNvSpPr>
          <p:nvPr/>
        </p:nvSpPr>
        <p:spPr bwMode="auto">
          <a:xfrm>
            <a:off x="1824038" y="1587501"/>
            <a:ext cx="8356600" cy="2985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buFontTx/>
              <a:buChar char="•"/>
            </a:pPr>
            <a:r>
              <a:rPr lang="en-US" altLang="en-US">
                <a:latin typeface="Times-Roman"/>
              </a:rPr>
              <a:t>To indicate that no LayoutManager is to be used in a</a:t>
            </a:r>
          </a:p>
          <a:p>
            <a:r>
              <a:rPr lang="en-US" altLang="en-US">
                <a:latin typeface="Times-Roman"/>
              </a:rPr>
              <a:t>	Container, use the null layout</a:t>
            </a:r>
          </a:p>
          <a:p>
            <a:r>
              <a:rPr lang="en-US" altLang="en-US" sz="2000">
                <a:latin typeface="BIEGHZ+MSTT31c5e600"/>
              </a:rPr>
              <a:t>	-	</a:t>
            </a:r>
            <a:r>
              <a:rPr lang="en-US" altLang="en-US" sz="2000">
                <a:latin typeface="Times-Roman"/>
              </a:rPr>
              <a:t>myContainer. setLayout( null);</a:t>
            </a:r>
            <a:endParaRPr lang="en-US" altLang="en-US">
              <a:latin typeface="Times-Roman"/>
            </a:endParaRPr>
          </a:p>
          <a:p>
            <a:pPr lvl="1">
              <a:buFontTx/>
              <a:buChar char="•"/>
            </a:pPr>
            <a:r>
              <a:rPr lang="en-US" altLang="en-US">
                <a:latin typeface="Times-Roman"/>
              </a:rPr>
              <a:t>Without a LayoutManager, positioning components take a</a:t>
            </a:r>
          </a:p>
          <a:p>
            <a:r>
              <a:rPr lang="en-US" altLang="en-US">
                <a:latin typeface="Times-Roman"/>
              </a:rPr>
              <a:t>	lot of work.</a:t>
            </a:r>
          </a:p>
          <a:p>
            <a:pPr lvl="1">
              <a:buFontTx/>
              <a:buChar char="•"/>
            </a:pPr>
            <a:r>
              <a:rPr lang="en-US" altLang="en-US">
                <a:latin typeface="Times-Roman"/>
              </a:rPr>
              <a:t>In general, always use a LayoutManager if possible!!</a:t>
            </a:r>
          </a:p>
          <a:p>
            <a:endParaRPr lang="en-US" altLang="en-US">
              <a:latin typeface="Times-Roman"/>
            </a:endParaRPr>
          </a:p>
          <a:p>
            <a:endParaRPr lang="en-US" altLang="en-US">
              <a:latin typeface="Times-Roman"/>
            </a:endParaRPr>
          </a:p>
        </p:txBody>
      </p:sp>
      <p:sp>
        <p:nvSpPr>
          <p:cNvPr id="3" name="Footer Placeholder 2">
            <a:extLst>
              <a:ext uri="{FF2B5EF4-FFF2-40B4-BE49-F238E27FC236}">
                <a16:creationId xmlns:a16="http://schemas.microsoft.com/office/drawing/2014/main" id="{411E491F-E038-B5E9-25F5-633B9576ED73}"/>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E5D65195-D482-14B3-8A23-9F035EE5CE04}"/>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2">
            <a:extLst>
              <a:ext uri="{FF2B5EF4-FFF2-40B4-BE49-F238E27FC236}">
                <a16:creationId xmlns:a16="http://schemas.microsoft.com/office/drawing/2014/main" id="{4A491AF8-6784-7111-EF48-380A3243F402}"/>
              </a:ext>
            </a:extLst>
          </p:cNvPr>
          <p:cNvSpPr txBox="1">
            <a:spLocks noChangeArrowheads="1"/>
          </p:cNvSpPr>
          <p:nvPr/>
        </p:nvSpPr>
        <p:spPr bwMode="auto">
          <a:xfrm>
            <a:off x="3747263" y="769939"/>
            <a:ext cx="47339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b="1" u="sng" dirty="0">
                <a:latin typeface="Times-Roman"/>
              </a:rPr>
              <a:t>Manually Positioning Components</a:t>
            </a:r>
            <a:endParaRPr lang="en-US" altLang="en-US" sz="3200" b="1" u="sng" dirty="0">
              <a:latin typeface="Times-Roman"/>
            </a:endParaRPr>
          </a:p>
        </p:txBody>
      </p:sp>
      <p:sp>
        <p:nvSpPr>
          <p:cNvPr id="128003" name="Text Box 3">
            <a:extLst>
              <a:ext uri="{FF2B5EF4-FFF2-40B4-BE49-F238E27FC236}">
                <a16:creationId xmlns:a16="http://schemas.microsoft.com/office/drawing/2014/main" id="{FD9311A2-0814-470B-B42F-8EF5635CDD57}"/>
              </a:ext>
            </a:extLst>
          </p:cNvPr>
          <p:cNvSpPr txBox="1">
            <a:spLocks noChangeArrowheads="1"/>
          </p:cNvSpPr>
          <p:nvPr/>
        </p:nvSpPr>
        <p:spPr bwMode="auto">
          <a:xfrm>
            <a:off x="1824038" y="1587501"/>
            <a:ext cx="83566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buFontTx/>
              <a:buChar char="•"/>
            </a:pPr>
            <a:r>
              <a:rPr lang="en-US" altLang="en-US">
                <a:latin typeface="Times-Roman"/>
              </a:rPr>
              <a:t>You can move and resize each component in the </a:t>
            </a:r>
            <a:r>
              <a:rPr lang="en-US" altLang="en-US">
                <a:latin typeface="Arial" panose="020B0604020202020204" pitchFamily="34" charset="0"/>
              </a:rPr>
              <a:t>paint( )</a:t>
            </a:r>
            <a:r>
              <a:rPr lang="en-US" altLang="en-US">
                <a:latin typeface="Times-Roman"/>
              </a:rPr>
              <a:t> method by using</a:t>
            </a:r>
          </a:p>
          <a:p>
            <a:r>
              <a:rPr lang="en-US" altLang="en-US" sz="2000">
                <a:latin typeface="BIEGHZ+MSTT31c5e600"/>
              </a:rPr>
              <a:t>	</a:t>
            </a:r>
            <a:r>
              <a:rPr lang="en-US" altLang="en-US" sz="2000">
                <a:latin typeface="Arial" panose="020B0604020202020204" pitchFamily="34" charset="0"/>
              </a:rPr>
              <a:t>-	public void setLocation(int x, int y);</a:t>
            </a:r>
          </a:p>
          <a:p>
            <a:r>
              <a:rPr lang="en-US" altLang="en-US" sz="2000">
                <a:latin typeface="Arial" panose="020B0604020202020204" pitchFamily="34" charset="0"/>
              </a:rPr>
              <a:t>	-	public void setSize(int width, int height);</a:t>
            </a:r>
            <a:endParaRPr lang="en-US" altLang="en-US">
              <a:latin typeface="Arial" panose="020B0604020202020204" pitchFamily="34" charset="0"/>
            </a:endParaRPr>
          </a:p>
          <a:p>
            <a:pPr lvl="1">
              <a:buFontTx/>
              <a:buChar char="•"/>
            </a:pPr>
            <a:r>
              <a:rPr lang="en-US" altLang="en-US">
                <a:latin typeface="Arial" panose="020B0604020202020204" pitchFamily="34" charset="0"/>
              </a:rPr>
              <a:t>x</a:t>
            </a:r>
            <a:r>
              <a:rPr lang="en-US" altLang="en-US">
                <a:latin typeface="Times-Roman"/>
              </a:rPr>
              <a:t> and </a:t>
            </a:r>
            <a:r>
              <a:rPr lang="en-US" altLang="en-US">
                <a:latin typeface="Arial" panose="020B0604020202020204" pitchFamily="34" charset="0"/>
              </a:rPr>
              <a:t>y</a:t>
            </a:r>
            <a:r>
              <a:rPr lang="en-US" altLang="en-US">
                <a:latin typeface="Times-Roman"/>
              </a:rPr>
              <a:t> are the coordinates of the upper left hand corner, </a:t>
            </a:r>
            <a:r>
              <a:rPr lang="en-US" altLang="en-US">
                <a:latin typeface="Arial" panose="020B0604020202020204" pitchFamily="34" charset="0"/>
              </a:rPr>
              <a:t>width </a:t>
            </a:r>
            <a:r>
              <a:rPr lang="en-US" altLang="en-US">
                <a:latin typeface="Times-Roman"/>
              </a:rPr>
              <a:t>and </a:t>
            </a:r>
            <a:r>
              <a:rPr lang="en-US" altLang="en-US">
                <a:latin typeface="Arial" panose="020B0604020202020204" pitchFamily="34" charset="0"/>
              </a:rPr>
              <a:t>height</a:t>
            </a:r>
            <a:r>
              <a:rPr lang="en-US" altLang="en-US">
                <a:latin typeface="Times-Roman"/>
              </a:rPr>
              <a:t> would be the width and height in pixels of you component.</a:t>
            </a:r>
          </a:p>
        </p:txBody>
      </p:sp>
      <p:sp>
        <p:nvSpPr>
          <p:cNvPr id="3" name="Footer Placeholder 2">
            <a:extLst>
              <a:ext uri="{FF2B5EF4-FFF2-40B4-BE49-F238E27FC236}">
                <a16:creationId xmlns:a16="http://schemas.microsoft.com/office/drawing/2014/main" id="{76C6C191-A0DB-09FA-019E-A3CA1CDEDE32}"/>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6A6E7797-460B-C43E-2159-BAF149DCD7A7}"/>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2">
            <a:extLst>
              <a:ext uri="{FF2B5EF4-FFF2-40B4-BE49-F238E27FC236}">
                <a16:creationId xmlns:a16="http://schemas.microsoft.com/office/drawing/2014/main" id="{5F935BCA-4753-2603-BFA6-2B8F6562E6D2}"/>
              </a:ext>
            </a:extLst>
          </p:cNvPr>
          <p:cNvSpPr txBox="1">
            <a:spLocks noChangeArrowheads="1"/>
          </p:cNvSpPr>
          <p:nvPr/>
        </p:nvSpPr>
        <p:spPr bwMode="auto">
          <a:xfrm>
            <a:off x="3170184" y="769939"/>
            <a:ext cx="58881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b="1" u="sng" dirty="0">
                <a:latin typeface="Times-Roman"/>
              </a:rPr>
              <a:t>Manually Positioning Components (</a:t>
            </a:r>
            <a:r>
              <a:rPr lang="en-US" altLang="en-US" sz="2400" b="1" u="sng" dirty="0" err="1">
                <a:latin typeface="Times-Roman"/>
              </a:rPr>
              <a:t>cont</a:t>
            </a:r>
            <a:r>
              <a:rPr lang="en-US" altLang="en-US" sz="2400" b="1" u="sng" dirty="0">
                <a:latin typeface="Times-Roman"/>
              </a:rPr>
              <a:t>…)</a:t>
            </a:r>
            <a:endParaRPr lang="en-US" altLang="en-US" sz="3200" b="1" u="sng" dirty="0">
              <a:latin typeface="Times-Roman"/>
            </a:endParaRPr>
          </a:p>
        </p:txBody>
      </p:sp>
      <p:sp>
        <p:nvSpPr>
          <p:cNvPr id="129027" name="Text Box 3">
            <a:extLst>
              <a:ext uri="{FF2B5EF4-FFF2-40B4-BE49-F238E27FC236}">
                <a16:creationId xmlns:a16="http://schemas.microsoft.com/office/drawing/2014/main" id="{EE74C2D0-59CF-B673-8C7F-6418A0E4120B}"/>
              </a:ext>
            </a:extLst>
          </p:cNvPr>
          <p:cNvSpPr txBox="1">
            <a:spLocks noChangeArrowheads="1"/>
          </p:cNvSpPr>
          <p:nvPr/>
        </p:nvSpPr>
        <p:spPr bwMode="auto">
          <a:xfrm>
            <a:off x="1824038" y="1587500"/>
            <a:ext cx="83566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 algn="l"/>
                <a:tab pos="793750" algn="l"/>
                <a:tab pos="1033463" algn="l"/>
                <a:tab pos="1255713" algn="l"/>
              </a:tabLst>
              <a:defRPr sz="2400">
                <a:solidFill>
                  <a:schemeClr val="tx1"/>
                </a:solidFill>
                <a:latin typeface="Times New Roman" panose="02020603050405020304" pitchFamily="18" charset="0"/>
              </a:defRPr>
            </a:lvl1pPr>
            <a:lvl2pPr marL="438150" indent="-323850">
              <a:tabLst>
                <a:tab pos="457200" algn="l"/>
                <a:tab pos="793750" algn="l"/>
                <a:tab pos="1033463" algn="l"/>
                <a:tab pos="1255713" algn="l"/>
              </a:tabLst>
              <a:defRPr sz="2400">
                <a:solidFill>
                  <a:schemeClr val="tx1"/>
                </a:solidFill>
                <a:latin typeface="Times New Roman" panose="02020603050405020304" pitchFamily="18" charset="0"/>
              </a:defRPr>
            </a:lvl2pPr>
            <a:lvl3pPr>
              <a:tabLst>
                <a:tab pos="457200" algn="l"/>
                <a:tab pos="793750" algn="l"/>
                <a:tab pos="1033463" algn="l"/>
                <a:tab pos="1255713" algn="l"/>
              </a:tabLst>
              <a:defRPr sz="2400">
                <a:solidFill>
                  <a:schemeClr val="tx1"/>
                </a:solidFill>
                <a:latin typeface="Times New Roman" panose="02020603050405020304" pitchFamily="18" charset="0"/>
              </a:defRPr>
            </a:lvl3pPr>
            <a:lvl4pPr>
              <a:tabLst>
                <a:tab pos="457200" algn="l"/>
                <a:tab pos="793750" algn="l"/>
                <a:tab pos="1033463" algn="l"/>
                <a:tab pos="1255713" algn="l"/>
              </a:tabLst>
              <a:defRPr sz="2400">
                <a:solidFill>
                  <a:schemeClr val="tx1"/>
                </a:solidFill>
                <a:latin typeface="Times New Roman" panose="02020603050405020304" pitchFamily="18" charset="0"/>
              </a:defRPr>
            </a:lvl4pPr>
            <a:lvl5pPr>
              <a:tabLst>
                <a:tab pos="457200" algn="l"/>
                <a:tab pos="793750" algn="l"/>
                <a:tab pos="1033463" algn="l"/>
                <a:tab pos="1255713"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57200" algn="l"/>
                <a:tab pos="793750" algn="l"/>
                <a:tab pos="1033463" algn="l"/>
                <a:tab pos="1255713" algn="l"/>
              </a:tabLst>
              <a:defRPr sz="2400">
                <a:solidFill>
                  <a:schemeClr val="tx1"/>
                </a:solidFill>
                <a:latin typeface="Times New Roman" panose="02020603050405020304" pitchFamily="18" charset="0"/>
              </a:defRPr>
            </a:lvl9pPr>
          </a:lstStyle>
          <a:p>
            <a:pPr lvl="1">
              <a:buFontTx/>
              <a:buChar char="•"/>
            </a:pPr>
            <a:r>
              <a:rPr lang="en-US" altLang="en-US">
                <a:latin typeface="Times-Roman"/>
              </a:rPr>
              <a:t>Reasons not to use this approach:</a:t>
            </a:r>
          </a:p>
          <a:p>
            <a:r>
              <a:rPr lang="en-US" altLang="en-US" sz="2000">
                <a:latin typeface="BIEGHZ+MSTT31c5e600"/>
              </a:rPr>
              <a:t>	-	</a:t>
            </a:r>
            <a:r>
              <a:rPr lang="en-US" altLang="en-US" sz="2000">
                <a:latin typeface="Arial" panose="020B0604020202020204" pitchFamily="34" charset="0"/>
              </a:rPr>
              <a:t>Layout Managers</a:t>
            </a:r>
            <a:r>
              <a:rPr lang="en-US" altLang="en-US" sz="2000">
                <a:latin typeface="Times-Roman"/>
              </a:rPr>
              <a:t> will adjust your components to fit the size of the 		display area. By manually positioning a component, you have no control 		when the user resizes the display area.</a:t>
            </a:r>
          </a:p>
          <a:p>
            <a:r>
              <a:rPr lang="en-US" altLang="en-US" sz="2000">
                <a:latin typeface="Times-Roman"/>
              </a:rPr>
              <a:t>	-	Manually positioning components take a lot of work.</a:t>
            </a:r>
          </a:p>
          <a:p>
            <a:r>
              <a:rPr lang="en-US" altLang="en-US" sz="2000">
                <a:latin typeface="Times-Roman"/>
              </a:rPr>
              <a:t>	-	Nesting panels or using </a:t>
            </a:r>
            <a:r>
              <a:rPr lang="en-US" altLang="en-US" sz="2000">
                <a:latin typeface="Arial" panose="020B0604020202020204" pitchFamily="34" charset="0"/>
              </a:rPr>
              <a:t>GridBagLayouts</a:t>
            </a:r>
            <a:r>
              <a:rPr lang="en-US" altLang="en-US" sz="2000">
                <a:latin typeface="Times-Roman"/>
              </a:rPr>
              <a:t> can probably do everything 		you need to do with manual positioning.</a:t>
            </a:r>
            <a:endParaRPr lang="en-US" altLang="en-US">
              <a:latin typeface="Times-Roman"/>
            </a:endParaRPr>
          </a:p>
        </p:txBody>
      </p:sp>
      <p:sp>
        <p:nvSpPr>
          <p:cNvPr id="3" name="Footer Placeholder 2">
            <a:extLst>
              <a:ext uri="{FF2B5EF4-FFF2-40B4-BE49-F238E27FC236}">
                <a16:creationId xmlns:a16="http://schemas.microsoft.com/office/drawing/2014/main" id="{2D1E83D7-4D1F-BB75-5F69-05F5AEA81E48}"/>
              </a:ext>
            </a:extLst>
          </p:cNvPr>
          <p:cNvSpPr>
            <a:spLocks noGrp="1"/>
          </p:cNvSpPr>
          <p:nvPr>
            <p:ph type="ftr" sz="quarter" idx="11"/>
          </p:nvPr>
        </p:nvSpPr>
        <p:spPr/>
        <p:txBody>
          <a:bodyPr/>
          <a:lstStyle/>
          <a:p>
            <a:r>
              <a:rPr lang="en-US"/>
              <a:t>Dr. R. K. Ojha, Department of Computer Science &amp; Engineering, Silicon University</a:t>
            </a:r>
          </a:p>
        </p:txBody>
      </p:sp>
      <p:sp>
        <p:nvSpPr>
          <p:cNvPr id="5" name="Slide Number Placeholder 4">
            <a:extLst>
              <a:ext uri="{FF2B5EF4-FFF2-40B4-BE49-F238E27FC236}">
                <a16:creationId xmlns:a16="http://schemas.microsoft.com/office/drawing/2014/main" id="{A145DE4A-8ABD-C92C-6BAF-6F9DA3530DDD}"/>
              </a:ext>
            </a:extLst>
          </p:cNvPr>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654100" y="2286000"/>
            <a:ext cx="6883808" cy="1862048"/>
          </a:xfrm>
          <a:prstGeom prst="rect">
            <a:avLst/>
          </a:prstGeom>
          <a:noFill/>
        </p:spPr>
        <p:txBody>
          <a:bodyPr wrap="none" lIns="91440" tIns="45720" rIns="91440" bIns="45720">
            <a:spAutoFit/>
          </a:bodyPr>
          <a:lstStyle/>
          <a:p>
            <a:pPr algn="ctr"/>
            <a:r>
              <a:rPr lang="en-US" sz="115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Thank you</a:t>
            </a:r>
          </a:p>
        </p:txBody>
      </p:sp>
      <p:sp>
        <p:nvSpPr>
          <p:cNvPr id="8" name="Footer Placeholder 7">
            <a:extLst>
              <a:ext uri="{FF2B5EF4-FFF2-40B4-BE49-F238E27FC236}">
                <a16:creationId xmlns:a16="http://schemas.microsoft.com/office/drawing/2014/main" id="{F2F6367E-D50D-CAAD-F384-AB2C4DB001B9}"/>
              </a:ext>
            </a:extLst>
          </p:cNvPr>
          <p:cNvSpPr>
            <a:spLocks noGrp="1"/>
          </p:cNvSpPr>
          <p:nvPr>
            <p:ph type="ftr" sz="quarter" idx="11"/>
          </p:nvPr>
        </p:nvSpPr>
        <p:spPr/>
        <p:txBody>
          <a:bodyPr/>
          <a:lstStyle/>
          <a:p>
            <a:r>
              <a:rPr lang="en-US"/>
              <a:t>Dr. R. K. Ojha, Department of Computer Science &amp; Engineering, Silicon University</a:t>
            </a:r>
          </a:p>
        </p:txBody>
      </p:sp>
      <p:sp>
        <p:nvSpPr>
          <p:cNvPr id="9" name="Slide Number Placeholder 8">
            <a:extLst>
              <a:ext uri="{FF2B5EF4-FFF2-40B4-BE49-F238E27FC236}">
                <a16:creationId xmlns:a16="http://schemas.microsoft.com/office/drawing/2014/main" id="{98184462-E4AD-298E-7F4C-8455233CD25D}"/>
              </a:ext>
            </a:extLst>
          </p:cNvPr>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29921494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460</TotalTime>
  <Words>3774</Words>
  <Application>Microsoft Office PowerPoint</Application>
  <PresentationFormat>Widescreen</PresentationFormat>
  <Paragraphs>413</Paragraphs>
  <Slides>32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Baskerville Old Face</vt:lpstr>
      <vt:lpstr>BIEGHZ+MSTT31c5e600</vt:lpstr>
      <vt:lpstr>Calibri</vt:lpstr>
      <vt:lpstr>Calibri Light</vt:lpstr>
      <vt:lpstr>Courier New</vt:lpstr>
      <vt:lpstr>Times New Roman</vt:lpstr>
      <vt:lpstr>Times-Roman</vt:lpstr>
      <vt:lpstr>Wingdings 2</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JDBC PART-II</dc:title>
  <dc:creator>Rajesh</dc:creator>
  <cp:lastModifiedBy>dr.rajeshkojha@gmail.com</cp:lastModifiedBy>
  <cp:revision>34</cp:revision>
  <dcterms:created xsi:type="dcterms:W3CDTF">2006-08-16T00:00:00Z</dcterms:created>
  <dcterms:modified xsi:type="dcterms:W3CDTF">2025-12-02T10:33:24Z</dcterms:modified>
</cp:coreProperties>
</file>