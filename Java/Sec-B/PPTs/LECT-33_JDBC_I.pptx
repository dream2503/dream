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5"/>
  </p:notesMasterIdLst>
  <p:sldIdLst>
    <p:sldId id="257" r:id="rId2"/>
    <p:sldId id="259" r:id="rId3"/>
    <p:sldId id="260" r:id="rId4"/>
    <p:sldId id="261" r:id="rId5"/>
    <p:sldId id="262" r:id="rId6"/>
    <p:sldId id="263" r:id="rId7"/>
    <p:sldId id="265" r:id="rId8"/>
    <p:sldId id="264"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73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D1C4DD-A60B-4BFF-8EFF-56FEA40ACEDD}" type="datetimeFigureOut">
              <a:rPr lang="en-US" smtClean="0"/>
              <a:pPr/>
              <a:t>11/18/2025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8CA4F5-6664-4DA8-844B-8D2EDADDC8F2}" type="slidenum">
              <a:rPr lang="en-US" smtClean="0"/>
              <a:pPr/>
              <a:t>‹#›</a:t>
            </a:fld>
            <a:endParaRPr lang="en-US"/>
          </a:p>
        </p:txBody>
      </p:sp>
    </p:spTree>
    <p:extLst>
      <p:ext uri="{BB962C8B-B14F-4D97-AF65-F5344CB8AC3E}">
        <p14:creationId xmlns:p14="http://schemas.microsoft.com/office/powerpoint/2010/main" val="4243535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38CA4F5-6664-4DA8-844B-8D2EDADDC8F2}" type="slidenum">
              <a:rPr lang="en-US" smtClean="0"/>
              <a:pPr/>
              <a:t>1</a:t>
            </a:fld>
            <a:endParaRPr lang="en-US"/>
          </a:p>
        </p:txBody>
      </p:sp>
    </p:spTree>
    <p:extLst>
      <p:ext uri="{BB962C8B-B14F-4D97-AF65-F5344CB8AC3E}">
        <p14:creationId xmlns:p14="http://schemas.microsoft.com/office/powerpoint/2010/main" val="2766315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29AF1E52-F94D-44B1-AE8D-01FBCE490A56}" type="datetime1">
              <a:rPr lang="en-US" smtClean="0"/>
              <a:t>11/18/2025</a:t>
            </a:fld>
            <a:endParaRPr lang="en-US"/>
          </a:p>
        </p:txBody>
      </p:sp>
      <p:sp>
        <p:nvSpPr>
          <p:cNvPr id="17" name="Footer Placeholder 16"/>
          <p:cNvSpPr>
            <a:spLocks noGrp="1"/>
          </p:cNvSpPr>
          <p:nvPr>
            <p:ph type="ftr" sz="quarter" idx="11"/>
          </p:nvPr>
        </p:nvSpPr>
        <p:spPr/>
        <p:txBody>
          <a:bodyPr/>
          <a:lstStyle/>
          <a:p>
            <a:r>
              <a:rPr lang="en-US"/>
              <a:t>Department of Computer Science &amp; Engineering, Silicon University</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D822274A-D74A-4A74-B3FF-F11367ABFA5C}" type="datetime1">
              <a:rPr lang="en-US" smtClean="0"/>
              <a:t>11/18/2025</a:t>
            </a:fld>
            <a:endParaRPr lang="en-US"/>
          </a:p>
        </p:txBody>
      </p:sp>
      <p:sp>
        <p:nvSpPr>
          <p:cNvPr id="5" name="Footer Placeholder 4"/>
          <p:cNvSpPr>
            <a:spLocks noGrp="1"/>
          </p:cNvSpPr>
          <p:nvPr>
            <p:ph type="ftr" sz="quarter" idx="11"/>
          </p:nvPr>
        </p:nvSpPr>
        <p:spPr/>
        <p:txBody>
          <a:bodyPr/>
          <a:lstStyle/>
          <a:p>
            <a:r>
              <a:rPr lang="en-US"/>
              <a:t>Department of Computer Science &amp; Engineering, Silicon University</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152E833-EAFC-4236-92FB-BFA291EB0525}" type="datetime1">
              <a:rPr lang="en-US" smtClean="0"/>
              <a:t>11/18/2025</a:t>
            </a:fld>
            <a:endParaRPr lang="en-US"/>
          </a:p>
        </p:txBody>
      </p:sp>
      <p:sp>
        <p:nvSpPr>
          <p:cNvPr id="5" name="Footer Placeholder 4"/>
          <p:cNvSpPr>
            <a:spLocks noGrp="1"/>
          </p:cNvSpPr>
          <p:nvPr>
            <p:ph type="ftr" sz="quarter" idx="11"/>
          </p:nvPr>
        </p:nvSpPr>
        <p:spPr>
          <a:xfrm>
            <a:off x="800100" y="6172200"/>
            <a:ext cx="4000500" cy="457200"/>
          </a:xfrm>
        </p:spPr>
        <p:txBody>
          <a:bodyPr/>
          <a:lstStyle/>
          <a:p>
            <a:r>
              <a:rPr lang="en-US"/>
              <a:t>Department of Computer Science &amp; Engineering, Silicon University</a:t>
            </a: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39A7E8D-529A-493D-ADE8-B51DB78DD35E}" type="datetime1">
              <a:rPr lang="en-US" smtClean="0"/>
              <a:t>11/18/2025</a:t>
            </a:fld>
            <a:endParaRPr lang="en-US"/>
          </a:p>
        </p:txBody>
      </p:sp>
      <p:sp>
        <p:nvSpPr>
          <p:cNvPr id="6" name="Footer Placeholder 5"/>
          <p:cNvSpPr>
            <a:spLocks noGrp="1"/>
          </p:cNvSpPr>
          <p:nvPr>
            <p:ph type="ftr" sz="quarter" idx="11"/>
          </p:nvPr>
        </p:nvSpPr>
        <p:spPr/>
        <p:txBody>
          <a:bodyPr/>
          <a:lstStyle/>
          <a:p>
            <a:r>
              <a:rPr lang="en-US"/>
              <a:t>Department of Computer Science &amp; Engineering, Silicon University</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B768A5D5-C01B-4394-A2E0-CF4556CE7D94}" type="datetime1">
              <a:rPr lang="en-US" smtClean="0"/>
              <a:t>11/18/2025</a:t>
            </a:fld>
            <a:endParaRPr lang="en-US"/>
          </a:p>
        </p:txBody>
      </p:sp>
      <p:sp>
        <p:nvSpPr>
          <p:cNvPr id="8" name="Footer Placeholder 7"/>
          <p:cNvSpPr>
            <a:spLocks noGrp="1"/>
          </p:cNvSpPr>
          <p:nvPr>
            <p:ph type="ftr" sz="quarter" idx="11"/>
          </p:nvPr>
        </p:nvSpPr>
        <p:spPr/>
        <p:txBody>
          <a:bodyPr/>
          <a:lstStyle/>
          <a:p>
            <a:r>
              <a:rPr lang="en-US"/>
              <a:t>Department of Computer Science &amp; Engineering, Silicon University</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3BB8B882-CFB1-42A8-BE28-3B7D8B831528}" type="datetime1">
              <a:rPr lang="en-US" smtClean="0"/>
              <a:t>11/18/2025</a:t>
            </a:fld>
            <a:endParaRPr lang="en-US"/>
          </a:p>
        </p:txBody>
      </p:sp>
      <p:sp>
        <p:nvSpPr>
          <p:cNvPr id="4" name="Footer Placeholder 3"/>
          <p:cNvSpPr>
            <a:spLocks noGrp="1"/>
          </p:cNvSpPr>
          <p:nvPr>
            <p:ph type="ftr" sz="quarter" idx="11"/>
          </p:nvPr>
        </p:nvSpPr>
        <p:spPr/>
        <p:txBody>
          <a:bodyPr/>
          <a:lstStyle/>
          <a:p>
            <a:r>
              <a:rPr lang="en-US"/>
              <a:t>Department of Computer Science &amp; Engineering, Silicon University</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F05864-68F3-428F-9CED-05F9EB700C02}" type="datetime1">
              <a:rPr lang="en-US" smtClean="0"/>
              <a:t>11/18/2025</a:t>
            </a:fld>
            <a:endParaRPr lang="en-US"/>
          </a:p>
        </p:txBody>
      </p:sp>
      <p:sp>
        <p:nvSpPr>
          <p:cNvPr id="3" name="Footer Placeholder 2"/>
          <p:cNvSpPr>
            <a:spLocks noGrp="1"/>
          </p:cNvSpPr>
          <p:nvPr>
            <p:ph type="ftr" sz="quarter" idx="11"/>
          </p:nvPr>
        </p:nvSpPr>
        <p:spPr/>
        <p:txBody>
          <a:bodyPr/>
          <a:lstStyle/>
          <a:p>
            <a:r>
              <a:rPr lang="en-US"/>
              <a:t>Department of Computer Science &amp; Engineering, Silicon University</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FB419310-6FA4-462F-8E0B-6EEB6A3355B2}" type="datetime1">
              <a:rPr lang="en-US" smtClean="0"/>
              <a:t>11/18/2025</a:t>
            </a:fld>
            <a:endParaRPr lang="en-US"/>
          </a:p>
        </p:txBody>
      </p:sp>
      <p:sp>
        <p:nvSpPr>
          <p:cNvPr id="6" name="Footer Placeholder 5"/>
          <p:cNvSpPr>
            <a:spLocks noGrp="1"/>
          </p:cNvSpPr>
          <p:nvPr>
            <p:ph type="ftr" sz="quarter" idx="11"/>
          </p:nvPr>
        </p:nvSpPr>
        <p:spPr/>
        <p:txBody>
          <a:bodyPr/>
          <a:lstStyle/>
          <a:p>
            <a:r>
              <a:rPr lang="en-US"/>
              <a:t>Department of Computer Science &amp; Engineering, Silicon University</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9A6912D7-7D2F-4FAE-B49A-4A4896CBE3BE}" type="datetime1">
              <a:rPr lang="en-US" smtClean="0"/>
              <a:t>11/18/2025</a:t>
            </a:fld>
            <a:endParaRPr lang="en-US"/>
          </a:p>
        </p:txBody>
      </p:sp>
      <p:sp>
        <p:nvSpPr>
          <p:cNvPr id="6" name="Footer Placeholder 5"/>
          <p:cNvSpPr>
            <a:spLocks noGrp="1"/>
          </p:cNvSpPr>
          <p:nvPr>
            <p:ph type="ftr" sz="quarter" idx="11"/>
          </p:nvPr>
        </p:nvSpPr>
        <p:spPr>
          <a:xfrm>
            <a:off x="914400" y="6172200"/>
            <a:ext cx="3886200" cy="457200"/>
          </a:xfrm>
        </p:spPr>
        <p:txBody>
          <a:bodyPr/>
          <a:lstStyle/>
          <a:p>
            <a:r>
              <a:rPr lang="en-US"/>
              <a:t>Department of Computer Science &amp; Engineering, Silicon University</a:t>
            </a:r>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745EA1F-E57D-402D-9937-552D7B3B6B1E}" type="datetime1">
              <a:rPr lang="en-US" smtClean="0"/>
              <a:t>11/18/2025</a:t>
            </a:fld>
            <a:endParaRPr lang="en-US"/>
          </a:p>
        </p:txBody>
      </p:sp>
      <p:sp>
        <p:nvSpPr>
          <p:cNvPr id="5" name="Footer Placeholder 4"/>
          <p:cNvSpPr>
            <a:spLocks noGrp="1"/>
          </p:cNvSpPr>
          <p:nvPr>
            <p:ph type="ftr" sz="quarter" idx="11"/>
          </p:nvPr>
        </p:nvSpPr>
        <p:spPr/>
        <p:txBody>
          <a:bodyPr/>
          <a:lstStyle/>
          <a:p>
            <a:r>
              <a:rPr lang="en-US"/>
              <a:t>Department of Computer Science &amp; Engineering, Silicon University</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537FB3C-347D-49B9-AB6A-99E38E725765}" type="datetime1">
              <a:rPr lang="en-US" smtClean="0"/>
              <a:t>11/18/2025</a:t>
            </a:fld>
            <a:endParaRPr lang="en-US"/>
          </a:p>
        </p:txBody>
      </p:sp>
      <p:sp>
        <p:nvSpPr>
          <p:cNvPr id="5" name="Footer Placeholder 4"/>
          <p:cNvSpPr>
            <a:spLocks noGrp="1"/>
          </p:cNvSpPr>
          <p:nvPr>
            <p:ph type="ftr" sz="quarter" idx="11"/>
          </p:nvPr>
        </p:nvSpPr>
        <p:spPr/>
        <p:txBody>
          <a:bodyPr/>
          <a:lstStyle/>
          <a:p>
            <a:r>
              <a:rPr lang="en-US"/>
              <a:t>Department of Computer Science &amp; Engineering, Silicon University</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277E263D-ED51-430A-AB61-9DB4D5DCAE3F}" type="datetime1">
              <a:rPr lang="en-US" smtClean="0"/>
              <a:t>11/18/2025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US"/>
              <a:t>Department of Computer Science &amp; Engineering, Silicon University</a:t>
            </a: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www.javatpoint.com/src/jdbc/ojdbc14.jar"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www.javatpoint.com/src/jdbc/mysql-connector.jar"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JDBC</a:t>
            </a:r>
            <a:br>
              <a:rPr lang="en-US" dirty="0"/>
            </a:br>
            <a:r>
              <a:t>Part- I</a:t>
            </a:r>
            <a:endParaRPr lang="en-US" dirty="0"/>
          </a:p>
        </p:txBody>
      </p:sp>
      <p:sp>
        <p:nvSpPr>
          <p:cNvPr id="4" name="Subtitle 2"/>
          <p:cNvSpPr txBox="1">
            <a:spLocks/>
          </p:cNvSpPr>
          <p:nvPr/>
        </p:nvSpPr>
        <p:spPr>
          <a:xfrm>
            <a:off x="304800" y="6096000"/>
            <a:ext cx="2057400" cy="381000"/>
          </a:xfrm>
          <a:prstGeom prst="rect">
            <a:avLst/>
          </a:prstGeom>
        </p:spPr>
        <p:txBody>
          <a:bodyPr>
            <a:normAutofit fontScale="85000" lnSpcReduction="20000"/>
          </a:bodyPr>
          <a:lstStyle>
            <a:lvl1pPr marL="0" indent="0" algn="ctr" rtl="0" eaLnBrk="1" latinLnBrk="0" hangingPunct="1">
              <a:spcBef>
                <a:spcPts val="580"/>
              </a:spcBef>
              <a:buClr>
                <a:schemeClr val="accent1"/>
              </a:buClr>
              <a:buSzPct val="85000"/>
              <a:buFont typeface="Wingdings 2"/>
              <a:buNone/>
              <a:defRPr kumimoji="0" sz="2600" kern="1200">
                <a:solidFill>
                  <a:schemeClr val="tx2"/>
                </a:solidFill>
                <a:latin typeface="+mn-lt"/>
                <a:ea typeface="+mn-ea"/>
                <a:cs typeface="+mn-cs"/>
              </a:defRPr>
            </a:lvl1pPr>
            <a:lvl2pPr marL="457200" indent="0" algn="ctr" rtl="0" eaLnBrk="1" latinLnBrk="0" hangingPunct="1">
              <a:spcBef>
                <a:spcPts val="370"/>
              </a:spcBef>
              <a:buClr>
                <a:schemeClr val="accent2"/>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ts val="370"/>
              </a:spcBef>
              <a:buClr>
                <a:schemeClr val="accent1">
                  <a:tint val="60000"/>
                </a:schemeClr>
              </a:buClr>
              <a:buSzPct val="85000"/>
              <a:buFont typeface="Wingdings 2"/>
              <a:buNone/>
              <a:defRPr kumimoji="0" sz="2000" kern="1200">
                <a:solidFill>
                  <a:schemeClr val="tx1"/>
                </a:solidFill>
                <a:latin typeface="+mn-lt"/>
                <a:ea typeface="+mn-ea"/>
                <a:cs typeface="+mn-cs"/>
              </a:defRPr>
            </a:lvl3pPr>
            <a:lvl4pPr marL="1371600" indent="0" algn="ctr" rtl="0" eaLnBrk="1" latinLnBrk="0" hangingPunct="1">
              <a:spcBef>
                <a:spcPts val="370"/>
              </a:spcBef>
              <a:buClr>
                <a:schemeClr val="accent3"/>
              </a:buClr>
              <a:buSzPct val="80000"/>
              <a:buFont typeface="Wingdings 2"/>
              <a:buNone/>
              <a:defRPr kumimoji="0" sz="2000" kern="1200">
                <a:solidFill>
                  <a:schemeClr val="tx1"/>
                </a:solidFill>
                <a:latin typeface="+mn-lt"/>
                <a:ea typeface="+mn-ea"/>
                <a:cs typeface="+mn-cs"/>
              </a:defRPr>
            </a:lvl4pPr>
            <a:lvl5pPr marL="1828800" indent="0" algn="ctr" rtl="0" eaLnBrk="1" latinLnBrk="0" hangingPunct="1">
              <a:spcBef>
                <a:spcPts val="370"/>
              </a:spcBef>
              <a:buClr>
                <a:schemeClr val="accent3"/>
              </a:buClr>
              <a:buFontTx/>
              <a:buNone/>
              <a:defRPr kumimoji="0" sz="2000" kern="1200">
                <a:solidFill>
                  <a:schemeClr val="tx1"/>
                </a:solidFill>
                <a:latin typeface="+mn-lt"/>
                <a:ea typeface="+mn-ea"/>
                <a:cs typeface="+mn-cs"/>
              </a:defRPr>
            </a:lvl5pPr>
            <a:lvl6pPr marL="2286000" indent="0" algn="ctr" rtl="0" eaLnBrk="1" latinLnBrk="0" hangingPunct="1">
              <a:spcBef>
                <a:spcPts val="370"/>
              </a:spcBef>
              <a:buClr>
                <a:schemeClr val="accent3"/>
              </a:buClr>
              <a:buNone/>
              <a:defRPr kumimoji="0" sz="1800" kern="1200" baseline="0">
                <a:solidFill>
                  <a:schemeClr val="tx1"/>
                </a:solidFill>
                <a:latin typeface="+mn-lt"/>
                <a:ea typeface="+mn-ea"/>
                <a:cs typeface="+mn-cs"/>
              </a:defRPr>
            </a:lvl6pPr>
            <a:lvl7pPr marL="2743200" indent="0" algn="ctr" rtl="0" eaLnBrk="1" latinLnBrk="0" hangingPunct="1">
              <a:spcBef>
                <a:spcPts val="370"/>
              </a:spcBef>
              <a:buClr>
                <a:schemeClr val="accent2"/>
              </a:buClr>
              <a:buNone/>
              <a:defRPr kumimoji="0" sz="1800" kern="1200">
                <a:solidFill>
                  <a:schemeClr val="tx1"/>
                </a:solidFill>
                <a:latin typeface="+mn-lt"/>
                <a:ea typeface="+mn-ea"/>
                <a:cs typeface="+mn-cs"/>
              </a:defRPr>
            </a:lvl7pPr>
            <a:lvl8pPr marL="3200400" indent="0" algn="ctr" rtl="0" eaLnBrk="1" latinLnBrk="0" hangingPunct="1">
              <a:spcBef>
                <a:spcPts val="370"/>
              </a:spcBef>
              <a:buClr>
                <a:schemeClr val="accent1">
                  <a:tint val="60000"/>
                </a:schemeClr>
              </a:buClr>
              <a:buNone/>
              <a:defRPr kumimoji="0" sz="1800" kern="1200">
                <a:solidFill>
                  <a:schemeClr val="tx1"/>
                </a:solidFill>
                <a:latin typeface="+mn-lt"/>
                <a:ea typeface="+mn-ea"/>
                <a:cs typeface="+mn-cs"/>
              </a:defRPr>
            </a:lvl8pPr>
            <a:lvl9pPr marL="3657600" indent="0" algn="ctr" rtl="0" eaLnBrk="1" latinLnBrk="0" hangingPunct="1">
              <a:spcBef>
                <a:spcPts val="370"/>
              </a:spcBef>
              <a:buClr>
                <a:schemeClr val="accent2">
                  <a:tint val="60000"/>
                </a:schemeClr>
              </a:buClr>
              <a:buNone/>
              <a:defRPr kumimoji="0" sz="1800" kern="1200">
                <a:solidFill>
                  <a:schemeClr val="tx1"/>
                </a:solidFill>
                <a:latin typeface="+mn-lt"/>
                <a:ea typeface="+mn-ea"/>
                <a:cs typeface="+mn-cs"/>
              </a:defRPr>
            </a:lvl9pPr>
          </a:lstStyle>
          <a:p>
            <a:pPr algn="l"/>
            <a:r>
              <a:rPr lang="en-US" dirty="0"/>
              <a:t>Prepared by</a:t>
            </a:r>
          </a:p>
        </p:txBody>
      </p:sp>
      <p:sp>
        <p:nvSpPr>
          <p:cNvPr id="5" name="Subtitle 2"/>
          <p:cNvSpPr txBox="1">
            <a:spLocks/>
          </p:cNvSpPr>
          <p:nvPr/>
        </p:nvSpPr>
        <p:spPr>
          <a:xfrm>
            <a:off x="4724400" y="6019800"/>
            <a:ext cx="4114800" cy="609600"/>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gn="l"/>
            <a:r>
              <a:rPr lang="en-US" sz="1800" dirty="0"/>
              <a:t>Rajesh Kumar Ojha</a:t>
            </a:r>
          </a:p>
          <a:p>
            <a:pPr algn="l"/>
            <a:r>
              <a:rPr lang="en-US" sz="1800" dirty="0"/>
              <a:t>Asst. Prof., CSE, Silicon University</a:t>
            </a:r>
          </a:p>
          <a:p>
            <a:pPr algn="l"/>
            <a:endParaRPr lang="en-US" sz="1800" dirty="0"/>
          </a:p>
        </p:txBody>
      </p:sp>
      <p:pic>
        <p:nvPicPr>
          <p:cNvPr id="6" name="Picture 1">
            <a:extLst>
              <a:ext uri="{FF2B5EF4-FFF2-40B4-BE49-F238E27FC236}">
                <a16:creationId xmlns:a16="http://schemas.microsoft.com/office/drawing/2014/main" id="{3126DB03-9228-74C3-4ADC-57DACEF9B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581400"/>
            <a:ext cx="2362200" cy="1237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6474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a:t>Java JDBC is a java API to connect and execute query with the database. JDBC API uses </a:t>
            </a:r>
            <a:r>
              <a:rPr lang="en-US" dirty="0" err="1"/>
              <a:t>jdbc</a:t>
            </a:r>
            <a:r>
              <a:rPr lang="en-US" dirty="0"/>
              <a:t> drivers to connect with the database.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667000"/>
            <a:ext cx="7772400" cy="3900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4" name="Footer Placeholder 3"/>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123629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563562"/>
          </a:xfrm>
        </p:spPr>
        <p:txBody>
          <a:bodyPr>
            <a:normAutofit fontScale="90000"/>
          </a:bodyPr>
          <a:lstStyle/>
          <a:p>
            <a:r>
              <a:rPr lang="en-US" b="1" dirty="0">
                <a:solidFill>
                  <a:schemeClr val="tx1"/>
                </a:solidFill>
              </a:rPr>
              <a:t>Why use JDBC</a:t>
            </a:r>
            <a:endParaRPr lang="en-US" dirty="0">
              <a:solidFill>
                <a:schemeClr val="tx1"/>
              </a:solidFill>
            </a:endParaRPr>
          </a:p>
        </p:txBody>
      </p:sp>
      <p:sp>
        <p:nvSpPr>
          <p:cNvPr id="3" name="Content Placeholder 2"/>
          <p:cNvSpPr>
            <a:spLocks noGrp="1"/>
          </p:cNvSpPr>
          <p:nvPr>
            <p:ph sz="quarter" idx="1"/>
          </p:nvPr>
        </p:nvSpPr>
        <p:spPr>
          <a:xfrm>
            <a:off x="533400" y="838200"/>
            <a:ext cx="8153400" cy="5181600"/>
          </a:xfrm>
        </p:spPr>
        <p:txBody>
          <a:bodyPr/>
          <a:lstStyle/>
          <a:p>
            <a:pPr marL="0" indent="0">
              <a:buNone/>
            </a:pPr>
            <a:r>
              <a:rPr lang="en-US" dirty="0"/>
              <a:t>Before JDBC, ODBC API was the database API to connect and execute query with the database. But, ODBC API uses ODBC driver which is written in C language (i.e. platform dependent and unsecured). That is why Java has defined its own API (JDBC API) that uses JDBC drivers (written in Java language).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
        <p:nvSpPr>
          <p:cNvPr id="5" name="Footer Placeholder 4"/>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366106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563562"/>
          </a:xfrm>
        </p:spPr>
        <p:txBody>
          <a:bodyPr>
            <a:normAutofit fontScale="90000"/>
          </a:bodyPr>
          <a:lstStyle/>
          <a:p>
            <a:r>
              <a:rPr lang="en-US" b="1" dirty="0">
                <a:solidFill>
                  <a:schemeClr val="tx1"/>
                </a:solidFill>
              </a:rPr>
              <a:t>What is API</a:t>
            </a:r>
          </a:p>
        </p:txBody>
      </p:sp>
      <p:sp>
        <p:nvSpPr>
          <p:cNvPr id="3" name="Content Placeholder 2"/>
          <p:cNvSpPr>
            <a:spLocks noGrp="1"/>
          </p:cNvSpPr>
          <p:nvPr>
            <p:ph sz="quarter" idx="1"/>
          </p:nvPr>
        </p:nvSpPr>
        <p:spPr>
          <a:xfrm>
            <a:off x="533400" y="838200"/>
            <a:ext cx="8153400" cy="5181600"/>
          </a:xfrm>
        </p:spPr>
        <p:txBody>
          <a:bodyPr/>
          <a:lstStyle/>
          <a:p>
            <a:pPr marL="0" indent="0">
              <a:buNone/>
            </a:pPr>
            <a:r>
              <a:rPr lang="en-US" dirty="0"/>
              <a:t>API (Application programming interface) is a document that contains description of all the features of a product or software. It represents classes and interfaces that software programs can follow to communicate with each other. An API can be created for applications, libraries, operating systems, </a:t>
            </a:r>
            <a:r>
              <a:rPr lang="en-US" dirty="0" err="1"/>
              <a:t>etc</a:t>
            </a:r>
            <a:r>
              <a:rPr lang="en-US" dirty="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
        <p:nvSpPr>
          <p:cNvPr id="5" name="Footer Placeholder 4"/>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3265554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563562"/>
          </a:xfrm>
        </p:spPr>
        <p:txBody>
          <a:bodyPr>
            <a:normAutofit fontScale="90000"/>
          </a:bodyPr>
          <a:lstStyle/>
          <a:p>
            <a:r>
              <a:rPr lang="en-US" b="1" dirty="0">
                <a:solidFill>
                  <a:schemeClr val="tx1"/>
                </a:solidFill>
              </a:rPr>
              <a:t>JDBC Driver</a:t>
            </a:r>
          </a:p>
        </p:txBody>
      </p:sp>
      <p:sp>
        <p:nvSpPr>
          <p:cNvPr id="3" name="Content Placeholder 2"/>
          <p:cNvSpPr>
            <a:spLocks noGrp="1"/>
          </p:cNvSpPr>
          <p:nvPr>
            <p:ph sz="quarter" idx="1"/>
          </p:nvPr>
        </p:nvSpPr>
        <p:spPr>
          <a:xfrm>
            <a:off x="533400" y="838200"/>
            <a:ext cx="8153400" cy="5181600"/>
          </a:xfrm>
        </p:spPr>
        <p:txBody>
          <a:bodyPr/>
          <a:lstStyle/>
          <a:p>
            <a:pPr marL="0" indent="0">
              <a:buNone/>
            </a:pPr>
            <a:r>
              <a:rPr lang="en-US" dirty="0"/>
              <a:t>There are 4 types of JDBC drivers:</a:t>
            </a:r>
          </a:p>
          <a:p>
            <a:r>
              <a:rPr lang="en-US" dirty="0"/>
              <a:t>JDBC-ODBC bridge driver</a:t>
            </a:r>
          </a:p>
          <a:p>
            <a:r>
              <a:rPr lang="en-US" dirty="0"/>
              <a:t>Native-API driver (partially java driver)</a:t>
            </a:r>
          </a:p>
          <a:p>
            <a:r>
              <a:rPr lang="en-US" dirty="0"/>
              <a:t>Network Protocol driver (fully java driver)</a:t>
            </a:r>
          </a:p>
          <a:p>
            <a:r>
              <a:rPr lang="en-US" dirty="0"/>
              <a:t>Thin driver (fully java driver)</a:t>
            </a:r>
          </a:p>
          <a:p>
            <a:pPr marL="0" indent="0">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
        <p:nvSpPr>
          <p:cNvPr id="5" name="Footer Placeholder 4"/>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781757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563562"/>
          </a:xfrm>
        </p:spPr>
        <p:txBody>
          <a:bodyPr>
            <a:normAutofit fontScale="90000"/>
          </a:bodyPr>
          <a:lstStyle/>
          <a:p>
            <a:r>
              <a:rPr lang="en-US" b="1" dirty="0">
                <a:solidFill>
                  <a:schemeClr val="tx1"/>
                </a:solidFill>
              </a:rPr>
              <a:t>JDBC-ODBC bridge driver</a:t>
            </a:r>
          </a:p>
        </p:txBody>
      </p:sp>
      <p:sp>
        <p:nvSpPr>
          <p:cNvPr id="3" name="Content Placeholder 2"/>
          <p:cNvSpPr>
            <a:spLocks noGrp="1"/>
          </p:cNvSpPr>
          <p:nvPr>
            <p:ph sz="quarter" idx="1"/>
          </p:nvPr>
        </p:nvSpPr>
        <p:spPr>
          <a:xfrm>
            <a:off x="533400" y="838200"/>
            <a:ext cx="8153400" cy="5181600"/>
          </a:xfrm>
        </p:spPr>
        <p:txBody>
          <a:bodyPr/>
          <a:lstStyle/>
          <a:p>
            <a:pPr marL="0" indent="0">
              <a:buNone/>
            </a:pPr>
            <a:r>
              <a:rPr lang="en-US" dirty="0"/>
              <a:t>The JDBC-ODBC bridge driver uses ODBC driver to connect to the database. The JDBC-ODBC bridge driver converts JDBC method calls into the ODBC function calls. This is now discouraged because of thin driver.</a:t>
            </a:r>
          </a:p>
          <a:p>
            <a:pPr marL="0" indent="0">
              <a:buNone/>
            </a:pP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514600"/>
            <a:ext cx="8533822"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a:p>
        </p:txBody>
      </p:sp>
      <p:sp>
        <p:nvSpPr>
          <p:cNvPr id="4" name="Footer Placeholder 3"/>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3143724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914400"/>
            <a:ext cx="8229600" cy="5105400"/>
          </a:xfrm>
        </p:spPr>
        <p:txBody>
          <a:bodyPr/>
          <a:lstStyle/>
          <a:p>
            <a:pPr marL="0" indent="0">
              <a:buNone/>
            </a:pPr>
            <a:r>
              <a:rPr lang="en-US" b="1" dirty="0"/>
              <a:t>Advantages:</a:t>
            </a:r>
          </a:p>
          <a:p>
            <a:r>
              <a:rPr lang="en-US" dirty="0"/>
              <a:t>easy to use.</a:t>
            </a:r>
          </a:p>
          <a:p>
            <a:r>
              <a:rPr lang="en-US" dirty="0"/>
              <a:t>can be easily connected to any database.</a:t>
            </a:r>
          </a:p>
          <a:p>
            <a:pPr marL="0" indent="0">
              <a:buNone/>
            </a:pPr>
            <a:r>
              <a:rPr lang="en-US" b="1" dirty="0"/>
              <a:t>Disadvantages:</a:t>
            </a:r>
          </a:p>
          <a:p>
            <a:r>
              <a:rPr lang="en-US" dirty="0"/>
              <a:t>Performance degraded because JDBC method call is converted into the ODBC function calls.</a:t>
            </a:r>
          </a:p>
          <a:p>
            <a:r>
              <a:rPr lang="en-US" dirty="0"/>
              <a:t>The ODBC driver needs to be installed on the client machine.</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
        <p:nvSpPr>
          <p:cNvPr id="2" name="Footer Placeholder 1"/>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3803541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563562"/>
          </a:xfrm>
        </p:spPr>
        <p:txBody>
          <a:bodyPr>
            <a:normAutofit fontScale="90000"/>
          </a:bodyPr>
          <a:lstStyle/>
          <a:p>
            <a:r>
              <a:rPr lang="en-US" b="1" dirty="0">
                <a:solidFill>
                  <a:schemeClr val="tx1"/>
                </a:solidFill>
              </a:rPr>
              <a:t>Native-API driver</a:t>
            </a:r>
          </a:p>
        </p:txBody>
      </p:sp>
      <p:sp>
        <p:nvSpPr>
          <p:cNvPr id="3" name="Content Placeholder 2"/>
          <p:cNvSpPr>
            <a:spLocks noGrp="1"/>
          </p:cNvSpPr>
          <p:nvPr>
            <p:ph sz="quarter" idx="1"/>
          </p:nvPr>
        </p:nvSpPr>
        <p:spPr>
          <a:xfrm>
            <a:off x="533400" y="838200"/>
            <a:ext cx="8153400" cy="5181600"/>
          </a:xfrm>
        </p:spPr>
        <p:txBody>
          <a:bodyPr/>
          <a:lstStyle/>
          <a:p>
            <a:pPr marL="0" indent="0">
              <a:buNone/>
            </a:pPr>
            <a:r>
              <a:rPr lang="en-US" dirty="0"/>
              <a:t>The Native API driver uses the client-side libraries of the database. The driver converts JDBC method calls into native calls of the database API. It is not written entirely in java.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209800"/>
            <a:ext cx="809625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
        <p:nvSpPr>
          <p:cNvPr id="4" name="Footer Placeholder 3"/>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937850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914400"/>
            <a:ext cx="8229600" cy="5105400"/>
          </a:xfrm>
        </p:spPr>
        <p:txBody>
          <a:bodyPr/>
          <a:lstStyle/>
          <a:p>
            <a:pPr marL="0" indent="0">
              <a:buNone/>
            </a:pPr>
            <a:r>
              <a:rPr lang="en-US" b="1" dirty="0"/>
              <a:t>Advantage:</a:t>
            </a:r>
          </a:p>
          <a:p>
            <a:r>
              <a:rPr lang="en-US" dirty="0"/>
              <a:t>performance upgraded than JDBC-ODBC bridge driver.</a:t>
            </a:r>
          </a:p>
          <a:p>
            <a:pPr marL="0" indent="0">
              <a:buNone/>
            </a:pPr>
            <a:r>
              <a:rPr lang="en-US" b="1" dirty="0"/>
              <a:t>Disadvantage:</a:t>
            </a:r>
          </a:p>
          <a:p>
            <a:r>
              <a:rPr lang="en-US" dirty="0"/>
              <a:t>The Native driver needs to be installed on the each client machine.</a:t>
            </a:r>
          </a:p>
          <a:p>
            <a:r>
              <a:rPr lang="en-US" dirty="0"/>
              <a:t>The Vendor client library needs to be installed on client machine.</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
        <p:nvSpPr>
          <p:cNvPr id="2" name="Footer Placeholder 1"/>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427724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563562"/>
          </a:xfrm>
        </p:spPr>
        <p:txBody>
          <a:bodyPr>
            <a:normAutofit fontScale="90000"/>
          </a:bodyPr>
          <a:lstStyle/>
          <a:p>
            <a:r>
              <a:rPr lang="en-US" b="1" dirty="0">
                <a:solidFill>
                  <a:schemeClr val="tx1"/>
                </a:solidFill>
              </a:rPr>
              <a:t>Network Protocol driver</a:t>
            </a:r>
          </a:p>
        </p:txBody>
      </p:sp>
      <p:sp>
        <p:nvSpPr>
          <p:cNvPr id="3" name="Content Placeholder 2"/>
          <p:cNvSpPr>
            <a:spLocks noGrp="1"/>
          </p:cNvSpPr>
          <p:nvPr>
            <p:ph sz="quarter" idx="1"/>
          </p:nvPr>
        </p:nvSpPr>
        <p:spPr>
          <a:xfrm>
            <a:off x="533400" y="838200"/>
            <a:ext cx="8153400" cy="5181600"/>
          </a:xfrm>
        </p:spPr>
        <p:txBody>
          <a:bodyPr/>
          <a:lstStyle/>
          <a:p>
            <a:pPr marL="0" indent="0">
              <a:buNone/>
            </a:pPr>
            <a:r>
              <a:rPr lang="en-US" dirty="0"/>
              <a:t>The Network Protocol driver uses middleware (application server) that converts JDBC calls directly or indirectly into the vendor-specific database protocol. It is fully written in java.</a:t>
            </a:r>
          </a:p>
        </p:txBody>
      </p:sp>
      <p:pic>
        <p:nvPicPr>
          <p:cNvPr id="4098" name="Picture 2" descr="Network Protocol driv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362200"/>
            <a:ext cx="8305800" cy="419100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
        <p:nvSpPr>
          <p:cNvPr id="4" name="Footer Placeholder 3"/>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1338535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914400"/>
            <a:ext cx="8229600" cy="5105400"/>
          </a:xfrm>
        </p:spPr>
        <p:txBody>
          <a:bodyPr/>
          <a:lstStyle/>
          <a:p>
            <a:pPr marL="0" indent="0">
              <a:buNone/>
            </a:pPr>
            <a:r>
              <a:rPr lang="en-US" b="1" dirty="0"/>
              <a:t>Advantage:</a:t>
            </a:r>
          </a:p>
          <a:p>
            <a:r>
              <a:rPr lang="en-US" dirty="0"/>
              <a:t>No client side library is required because of application server that can perform many tasks like auditing, load balancing, logging etc.</a:t>
            </a:r>
          </a:p>
          <a:p>
            <a:pPr marL="0" indent="0">
              <a:buNone/>
            </a:pPr>
            <a:r>
              <a:rPr lang="en-US" b="1" dirty="0"/>
              <a:t>Disadvantages:</a:t>
            </a:r>
          </a:p>
          <a:p>
            <a:r>
              <a:rPr lang="en-US" dirty="0"/>
              <a:t>Network support is required on client machine.</a:t>
            </a:r>
          </a:p>
          <a:p>
            <a:r>
              <a:rPr lang="en-US" dirty="0"/>
              <a:t>Requires database-specific coding to be done in the middle tier.</a:t>
            </a:r>
          </a:p>
          <a:p>
            <a:r>
              <a:rPr lang="en-US" dirty="0"/>
              <a:t>Maintenance of Network Protocol driver becomes costly because it requires database-specific coding to be done in the middle tier.</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
        <p:nvSpPr>
          <p:cNvPr id="2" name="Footer Placeholder 1"/>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3842420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563562"/>
          </a:xfrm>
        </p:spPr>
        <p:txBody>
          <a:bodyPr>
            <a:normAutofit fontScale="90000"/>
          </a:bodyPr>
          <a:lstStyle/>
          <a:p>
            <a:r>
              <a:rPr lang="en-US" b="1" dirty="0">
                <a:solidFill>
                  <a:schemeClr val="tx1"/>
                </a:solidFill>
              </a:rPr>
              <a:t>Thin driver</a:t>
            </a:r>
          </a:p>
        </p:txBody>
      </p:sp>
      <p:sp>
        <p:nvSpPr>
          <p:cNvPr id="3" name="Content Placeholder 2"/>
          <p:cNvSpPr>
            <a:spLocks noGrp="1"/>
          </p:cNvSpPr>
          <p:nvPr>
            <p:ph sz="quarter" idx="1"/>
          </p:nvPr>
        </p:nvSpPr>
        <p:spPr>
          <a:xfrm>
            <a:off x="533400" y="838200"/>
            <a:ext cx="8153400" cy="5181600"/>
          </a:xfrm>
        </p:spPr>
        <p:txBody>
          <a:bodyPr/>
          <a:lstStyle/>
          <a:p>
            <a:pPr marL="0" indent="0">
              <a:buNone/>
            </a:pPr>
            <a:r>
              <a:rPr lang="en-US" dirty="0"/>
              <a:t>The thin driver converts JDBC calls directly into the vendor-specific database protocol. That is why it is known as thin driver. It is fully written in Java language.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133600"/>
            <a:ext cx="8458200" cy="451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sp>
        <p:nvSpPr>
          <p:cNvPr id="4" name="Footer Placeholder 3"/>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3401611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914400"/>
            <a:ext cx="8229600" cy="5105400"/>
          </a:xfrm>
        </p:spPr>
        <p:txBody>
          <a:bodyPr/>
          <a:lstStyle/>
          <a:p>
            <a:pPr marL="0" indent="0">
              <a:buNone/>
            </a:pPr>
            <a:r>
              <a:rPr lang="en-US" b="1" dirty="0"/>
              <a:t>Advantage:</a:t>
            </a:r>
          </a:p>
          <a:p>
            <a:r>
              <a:rPr lang="en-US" dirty="0"/>
              <a:t>Better performance than all other drivers.</a:t>
            </a:r>
          </a:p>
          <a:p>
            <a:r>
              <a:rPr lang="en-US" dirty="0"/>
              <a:t>No software is required at client side or server side.</a:t>
            </a:r>
          </a:p>
          <a:p>
            <a:pPr marL="0" indent="0">
              <a:buNone/>
            </a:pPr>
            <a:r>
              <a:rPr lang="en-US" b="1" dirty="0"/>
              <a:t>Disadvantage:</a:t>
            </a:r>
          </a:p>
          <a:p>
            <a:r>
              <a:rPr lang="en-US" dirty="0"/>
              <a:t>Drivers depends on the Database.</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
        <p:nvSpPr>
          <p:cNvPr id="2" name="Footer Placeholder 1"/>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1852740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638"/>
            <a:ext cx="8153400" cy="563562"/>
          </a:xfrm>
        </p:spPr>
        <p:txBody>
          <a:bodyPr>
            <a:normAutofit fontScale="90000"/>
          </a:bodyPr>
          <a:lstStyle/>
          <a:p>
            <a:r>
              <a:rPr lang="en-US" b="1" dirty="0">
                <a:solidFill>
                  <a:schemeClr val="tx1"/>
                </a:solidFill>
              </a:rPr>
              <a:t>Steps to connect to the database</a:t>
            </a:r>
            <a:endParaRPr lang="en-US" dirty="0">
              <a:solidFill>
                <a:schemeClr val="tx1"/>
              </a:solidFill>
            </a:endParaRPr>
          </a:p>
        </p:txBody>
      </p:sp>
      <p:sp>
        <p:nvSpPr>
          <p:cNvPr id="3" name="Content Placeholder 2"/>
          <p:cNvSpPr>
            <a:spLocks noGrp="1"/>
          </p:cNvSpPr>
          <p:nvPr>
            <p:ph sz="quarter" idx="1"/>
          </p:nvPr>
        </p:nvSpPr>
        <p:spPr>
          <a:xfrm>
            <a:off x="457200" y="838200"/>
            <a:ext cx="8229600" cy="5181600"/>
          </a:xfrm>
        </p:spPr>
        <p:txBody>
          <a:bodyPr/>
          <a:lstStyle/>
          <a:p>
            <a:pPr marL="0" indent="0">
              <a:buNone/>
            </a:pPr>
            <a:r>
              <a:rPr lang="en-US" dirty="0"/>
              <a:t>There are 5 steps to connect any java application with the database in java using JDBC. They are as follows: </a:t>
            </a:r>
          </a:p>
          <a:p>
            <a:r>
              <a:rPr lang="en-US" dirty="0"/>
              <a:t>Register the driver class</a:t>
            </a:r>
          </a:p>
          <a:p>
            <a:r>
              <a:rPr lang="en-US" dirty="0"/>
              <a:t>Creating connection</a:t>
            </a:r>
          </a:p>
          <a:p>
            <a:r>
              <a:rPr lang="en-US" dirty="0"/>
              <a:t>Creating statement</a:t>
            </a:r>
          </a:p>
          <a:p>
            <a:r>
              <a:rPr lang="en-US" dirty="0"/>
              <a:t>Executing queries</a:t>
            </a:r>
          </a:p>
          <a:p>
            <a:r>
              <a:rPr lang="en-US" dirty="0"/>
              <a:t>Closing connection</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
        <p:nvSpPr>
          <p:cNvPr id="5" name="Footer Placeholder 4"/>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1216910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9762"/>
          </a:xfrm>
        </p:spPr>
        <p:txBody>
          <a:bodyPr>
            <a:normAutofit fontScale="90000"/>
          </a:bodyPr>
          <a:lstStyle/>
          <a:p>
            <a:r>
              <a:rPr lang="en-US" b="1" dirty="0">
                <a:solidFill>
                  <a:schemeClr val="tx1"/>
                </a:solidFill>
              </a:rPr>
              <a:t>Register the driver class</a:t>
            </a:r>
            <a:endParaRPr lang="en-US" dirty="0">
              <a:solidFill>
                <a:schemeClr val="tx1"/>
              </a:solidFill>
            </a:endParaRPr>
          </a:p>
        </p:txBody>
      </p:sp>
      <p:sp>
        <p:nvSpPr>
          <p:cNvPr id="3" name="Content Placeholder 2"/>
          <p:cNvSpPr>
            <a:spLocks noGrp="1"/>
          </p:cNvSpPr>
          <p:nvPr>
            <p:ph sz="quarter" idx="1"/>
          </p:nvPr>
        </p:nvSpPr>
        <p:spPr>
          <a:xfrm>
            <a:off x="457200" y="914400"/>
            <a:ext cx="8229600" cy="5105400"/>
          </a:xfrm>
        </p:spPr>
        <p:txBody>
          <a:bodyPr/>
          <a:lstStyle/>
          <a:p>
            <a:r>
              <a:rPr lang="en-US" dirty="0"/>
              <a:t>The </a:t>
            </a:r>
            <a:r>
              <a:rPr lang="en-US" dirty="0" err="1"/>
              <a:t>forName</a:t>
            </a:r>
            <a:r>
              <a:rPr lang="en-US" dirty="0"/>
              <a:t>() method of Class </a:t>
            </a:r>
            <a:r>
              <a:rPr lang="en-US" dirty="0" err="1"/>
              <a:t>class</a:t>
            </a:r>
            <a:r>
              <a:rPr lang="en-US" dirty="0"/>
              <a:t> is used to register the driver class. This method is used to dynamically load the driver class.</a:t>
            </a:r>
          </a:p>
          <a:p>
            <a:r>
              <a:rPr lang="en-US" b="1" dirty="0"/>
              <a:t>Syntax</a:t>
            </a:r>
            <a:r>
              <a:rPr lang="en-US" dirty="0"/>
              <a:t>:</a:t>
            </a:r>
          </a:p>
          <a:p>
            <a:pPr marL="0" indent="0">
              <a:buNone/>
            </a:pPr>
            <a:r>
              <a:rPr lang="en-US" dirty="0">
                <a:solidFill>
                  <a:srgbClr val="FF0000"/>
                </a:solidFill>
              </a:rPr>
              <a:t>public static void </a:t>
            </a:r>
            <a:r>
              <a:rPr lang="en-US" dirty="0" err="1">
                <a:solidFill>
                  <a:srgbClr val="FF0000"/>
                </a:solidFill>
              </a:rPr>
              <a:t>forName</a:t>
            </a:r>
            <a:r>
              <a:rPr lang="en-US" dirty="0">
                <a:solidFill>
                  <a:srgbClr val="FF0000"/>
                </a:solidFill>
              </a:rPr>
              <a:t>(String </a:t>
            </a:r>
            <a:r>
              <a:rPr lang="en-US" dirty="0" err="1">
                <a:solidFill>
                  <a:srgbClr val="FF0000"/>
                </a:solidFill>
              </a:rPr>
              <a:t>className</a:t>
            </a:r>
            <a:r>
              <a:rPr lang="en-US" dirty="0">
                <a:solidFill>
                  <a:srgbClr val="FF0000"/>
                </a:solidFill>
              </a:rPr>
              <a:t>)throws </a:t>
            </a:r>
            <a:r>
              <a:rPr lang="en-US" dirty="0" err="1">
                <a:solidFill>
                  <a:srgbClr val="FF0000"/>
                </a:solidFill>
              </a:rPr>
              <a:t>ClassNotFoundException</a:t>
            </a:r>
            <a:r>
              <a:rPr lang="en-US" b="1" dirty="0">
                <a:solidFill>
                  <a:srgbClr val="FF0000"/>
                </a:solidFill>
              </a:rPr>
              <a:t>  </a:t>
            </a:r>
          </a:p>
          <a:p>
            <a:pPr marL="0" indent="0">
              <a:buNone/>
            </a:pPr>
            <a:r>
              <a:rPr lang="en-US" b="1" dirty="0"/>
              <a:t>Example to register the </a:t>
            </a:r>
            <a:r>
              <a:rPr lang="en-US" b="1" dirty="0" err="1"/>
              <a:t>OracleDriver</a:t>
            </a:r>
            <a:r>
              <a:rPr lang="en-US" b="1" dirty="0"/>
              <a:t> class</a:t>
            </a:r>
          </a:p>
          <a:p>
            <a:pPr marL="0" indent="0">
              <a:buNone/>
            </a:pPr>
            <a:r>
              <a:rPr lang="en-US" dirty="0" err="1">
                <a:solidFill>
                  <a:srgbClr val="FF0000"/>
                </a:solidFill>
              </a:rPr>
              <a:t>Class.forName</a:t>
            </a:r>
            <a:r>
              <a:rPr lang="en-US" dirty="0">
                <a:solidFill>
                  <a:srgbClr val="FF0000"/>
                </a:solidFill>
              </a:rPr>
              <a:t>("</a:t>
            </a:r>
            <a:r>
              <a:rPr lang="en-US" dirty="0" err="1">
                <a:solidFill>
                  <a:srgbClr val="FF0000"/>
                </a:solidFill>
              </a:rPr>
              <a:t>oracle.jdbc.driver.OracleDriver</a:t>
            </a:r>
            <a:r>
              <a:rPr lang="en-US" dirty="0">
                <a:solidFill>
                  <a:srgbClr val="FF0000"/>
                </a:solidFill>
              </a:rPr>
              <a:t>"); </a:t>
            </a:r>
            <a:r>
              <a:rPr lang="en-US" dirty="0"/>
              <a:t> </a:t>
            </a:r>
          </a:p>
          <a:p>
            <a:pPr marL="0" indent="0">
              <a:buNone/>
            </a:pPr>
            <a:endParaRPr lang="en-US" b="1" dirty="0"/>
          </a:p>
          <a:p>
            <a:pPr marL="0" indent="0">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
        <p:nvSpPr>
          <p:cNvPr id="5" name="Footer Placeholder 4"/>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1924923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9762"/>
          </a:xfrm>
        </p:spPr>
        <p:txBody>
          <a:bodyPr>
            <a:normAutofit fontScale="90000"/>
          </a:bodyPr>
          <a:lstStyle/>
          <a:p>
            <a:r>
              <a:rPr lang="en-US" b="1" dirty="0">
                <a:solidFill>
                  <a:schemeClr val="tx1"/>
                </a:solidFill>
              </a:rPr>
              <a:t>Create the connection object</a:t>
            </a:r>
          </a:p>
        </p:txBody>
      </p:sp>
      <p:sp>
        <p:nvSpPr>
          <p:cNvPr id="3" name="Content Placeholder 2"/>
          <p:cNvSpPr>
            <a:spLocks noGrp="1"/>
          </p:cNvSpPr>
          <p:nvPr>
            <p:ph sz="quarter" idx="1"/>
          </p:nvPr>
        </p:nvSpPr>
        <p:spPr>
          <a:xfrm>
            <a:off x="228600" y="914400"/>
            <a:ext cx="8686800" cy="5105400"/>
          </a:xfrm>
        </p:spPr>
        <p:txBody>
          <a:bodyPr/>
          <a:lstStyle/>
          <a:p>
            <a:r>
              <a:rPr lang="en-US" dirty="0"/>
              <a:t>The </a:t>
            </a:r>
            <a:r>
              <a:rPr lang="en-US" dirty="0" err="1"/>
              <a:t>getConnection</a:t>
            </a:r>
            <a:r>
              <a:rPr lang="en-US" dirty="0"/>
              <a:t>() method of </a:t>
            </a:r>
            <a:r>
              <a:rPr lang="en-US" dirty="0" err="1"/>
              <a:t>DriverManager</a:t>
            </a:r>
            <a:r>
              <a:rPr lang="en-US" dirty="0"/>
              <a:t> class is used to establish connection with the database.</a:t>
            </a:r>
          </a:p>
          <a:p>
            <a:r>
              <a:rPr lang="en-US" b="1" dirty="0"/>
              <a:t>Syntax</a:t>
            </a:r>
            <a:r>
              <a:rPr lang="en-US" dirty="0"/>
              <a:t>:</a:t>
            </a:r>
          </a:p>
          <a:p>
            <a:pPr marL="0" indent="0">
              <a:buNone/>
            </a:pPr>
            <a:r>
              <a:rPr lang="en-US" dirty="0">
                <a:solidFill>
                  <a:srgbClr val="FF0000"/>
                </a:solidFill>
              </a:rPr>
              <a:t>public static Connection </a:t>
            </a:r>
            <a:r>
              <a:rPr lang="en-US" dirty="0" err="1">
                <a:solidFill>
                  <a:srgbClr val="FF0000"/>
                </a:solidFill>
              </a:rPr>
              <a:t>getConnection</a:t>
            </a:r>
            <a:r>
              <a:rPr lang="en-US" dirty="0">
                <a:solidFill>
                  <a:srgbClr val="FF0000"/>
                </a:solidFill>
              </a:rPr>
              <a:t>(String </a:t>
            </a:r>
            <a:r>
              <a:rPr lang="en-US" dirty="0" err="1">
                <a:solidFill>
                  <a:srgbClr val="FF0000"/>
                </a:solidFill>
              </a:rPr>
              <a:t>url</a:t>
            </a:r>
            <a:r>
              <a:rPr lang="en-US" dirty="0">
                <a:solidFill>
                  <a:srgbClr val="FF0000"/>
                </a:solidFill>
              </a:rPr>
              <a:t>)throws </a:t>
            </a:r>
            <a:r>
              <a:rPr lang="en-US" dirty="0" err="1">
                <a:solidFill>
                  <a:srgbClr val="FF0000"/>
                </a:solidFill>
              </a:rPr>
              <a:t>SQLException</a:t>
            </a:r>
            <a:r>
              <a:rPr lang="en-US" dirty="0"/>
              <a:t>  </a:t>
            </a:r>
          </a:p>
          <a:p>
            <a:pPr marL="0" indent="0">
              <a:buNone/>
            </a:pPr>
            <a:r>
              <a:rPr lang="en-US" dirty="0">
                <a:solidFill>
                  <a:srgbClr val="FF0000"/>
                </a:solidFill>
              </a:rPr>
              <a:t>public static Connection </a:t>
            </a:r>
            <a:r>
              <a:rPr lang="en-US" dirty="0" err="1">
                <a:solidFill>
                  <a:srgbClr val="FF0000"/>
                </a:solidFill>
              </a:rPr>
              <a:t>getConnection</a:t>
            </a:r>
            <a:r>
              <a:rPr lang="en-US" dirty="0">
                <a:solidFill>
                  <a:srgbClr val="FF0000"/>
                </a:solidFill>
              </a:rPr>
              <a:t>(String </a:t>
            </a:r>
            <a:r>
              <a:rPr lang="en-US" dirty="0" err="1">
                <a:solidFill>
                  <a:srgbClr val="FF0000"/>
                </a:solidFill>
              </a:rPr>
              <a:t>url,String</a:t>
            </a:r>
            <a:r>
              <a:rPr lang="en-US" dirty="0">
                <a:solidFill>
                  <a:srgbClr val="FF0000"/>
                </a:solidFill>
              </a:rPr>
              <a:t> </a:t>
            </a:r>
            <a:r>
              <a:rPr lang="en-US" dirty="0" err="1">
                <a:solidFill>
                  <a:srgbClr val="FF0000"/>
                </a:solidFill>
              </a:rPr>
              <a:t>name,String</a:t>
            </a:r>
            <a:r>
              <a:rPr lang="en-US" dirty="0">
                <a:solidFill>
                  <a:srgbClr val="FF0000"/>
                </a:solidFill>
              </a:rPr>
              <a:t> password)  throws </a:t>
            </a:r>
            <a:r>
              <a:rPr lang="en-US" dirty="0" err="1">
                <a:solidFill>
                  <a:srgbClr val="FF0000"/>
                </a:solidFill>
              </a:rPr>
              <a:t>SQLException</a:t>
            </a:r>
            <a:r>
              <a:rPr lang="en-US" dirty="0">
                <a:solidFill>
                  <a:srgbClr val="FF0000"/>
                </a:solidFill>
              </a:rPr>
              <a:t> </a:t>
            </a:r>
            <a:r>
              <a:rPr lang="en-US" dirty="0"/>
              <a:t> </a:t>
            </a:r>
          </a:p>
          <a:p>
            <a:r>
              <a:rPr lang="en-US" b="1" dirty="0"/>
              <a:t>Example to establish connection with the Oracle database</a:t>
            </a:r>
          </a:p>
          <a:p>
            <a:pPr marL="0" indent="0">
              <a:buNone/>
            </a:pPr>
            <a:r>
              <a:rPr lang="en-US" dirty="0">
                <a:solidFill>
                  <a:srgbClr val="FF0000"/>
                </a:solidFill>
              </a:rPr>
              <a:t>Connection con=</a:t>
            </a:r>
            <a:r>
              <a:rPr lang="en-US" dirty="0" err="1">
                <a:solidFill>
                  <a:srgbClr val="FF0000"/>
                </a:solidFill>
              </a:rPr>
              <a:t>DriverManager.getConnection</a:t>
            </a:r>
            <a:r>
              <a:rPr lang="en-US" dirty="0">
                <a:solidFill>
                  <a:srgbClr val="FF0000"/>
                </a:solidFill>
              </a:rPr>
              <a:t>(  "</a:t>
            </a:r>
            <a:r>
              <a:rPr lang="en-US" dirty="0" err="1">
                <a:solidFill>
                  <a:srgbClr val="FF0000"/>
                </a:solidFill>
              </a:rPr>
              <a:t>jdbc:oracle:thin</a:t>
            </a:r>
            <a:r>
              <a:rPr lang="en-US" dirty="0">
                <a:solidFill>
                  <a:srgbClr val="FF0000"/>
                </a:solidFill>
              </a:rPr>
              <a:t>:@localhost:1521:xe","system","password"); </a:t>
            </a:r>
          </a:p>
          <a:p>
            <a:pPr marL="0" indent="0">
              <a:buNone/>
            </a:pPr>
            <a:endParaRPr lang="en-US" b="1" dirty="0"/>
          </a:p>
          <a:p>
            <a:pPr marL="0" indent="0">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
        <p:nvSpPr>
          <p:cNvPr id="5" name="Footer Placeholder 4"/>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3043439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9762"/>
          </a:xfrm>
        </p:spPr>
        <p:txBody>
          <a:bodyPr>
            <a:normAutofit fontScale="90000"/>
          </a:bodyPr>
          <a:lstStyle/>
          <a:p>
            <a:r>
              <a:rPr lang="en-US" b="1" dirty="0">
                <a:solidFill>
                  <a:schemeClr val="tx1"/>
                </a:solidFill>
              </a:rPr>
              <a:t>Create the Statement object</a:t>
            </a:r>
          </a:p>
        </p:txBody>
      </p:sp>
      <p:sp>
        <p:nvSpPr>
          <p:cNvPr id="3" name="Content Placeholder 2"/>
          <p:cNvSpPr>
            <a:spLocks noGrp="1"/>
          </p:cNvSpPr>
          <p:nvPr>
            <p:ph sz="quarter" idx="1"/>
          </p:nvPr>
        </p:nvSpPr>
        <p:spPr>
          <a:xfrm>
            <a:off x="457200" y="914400"/>
            <a:ext cx="8229600" cy="5105400"/>
          </a:xfrm>
        </p:spPr>
        <p:txBody>
          <a:bodyPr/>
          <a:lstStyle/>
          <a:p>
            <a:r>
              <a:rPr lang="en-US" dirty="0"/>
              <a:t>The </a:t>
            </a:r>
            <a:r>
              <a:rPr lang="en-US" dirty="0" err="1">
                <a:solidFill>
                  <a:srgbClr val="FF0000"/>
                </a:solidFill>
              </a:rPr>
              <a:t>createStatement</a:t>
            </a:r>
            <a:r>
              <a:rPr lang="en-US" dirty="0"/>
              <a:t>() method of Connection interface is used to create statement. The object of statement is responsible to execute queries with the database. </a:t>
            </a:r>
          </a:p>
          <a:p>
            <a:r>
              <a:rPr lang="en-US" b="1" dirty="0"/>
              <a:t>Syntax</a:t>
            </a:r>
            <a:r>
              <a:rPr lang="en-US" dirty="0"/>
              <a:t>:</a:t>
            </a:r>
          </a:p>
          <a:p>
            <a:pPr marL="0" indent="0">
              <a:buNone/>
            </a:pPr>
            <a:r>
              <a:rPr lang="en-US" dirty="0">
                <a:solidFill>
                  <a:srgbClr val="FF0000"/>
                </a:solidFill>
              </a:rPr>
              <a:t>public Statement </a:t>
            </a:r>
            <a:r>
              <a:rPr lang="en-US" dirty="0" err="1">
                <a:solidFill>
                  <a:srgbClr val="FF0000"/>
                </a:solidFill>
              </a:rPr>
              <a:t>createStatement</a:t>
            </a:r>
            <a:r>
              <a:rPr lang="en-US" dirty="0">
                <a:solidFill>
                  <a:srgbClr val="FF0000"/>
                </a:solidFill>
              </a:rPr>
              <a:t>()throws </a:t>
            </a:r>
            <a:r>
              <a:rPr lang="en-US" dirty="0" err="1">
                <a:solidFill>
                  <a:srgbClr val="FF0000"/>
                </a:solidFill>
              </a:rPr>
              <a:t>SQLException</a:t>
            </a:r>
            <a:r>
              <a:rPr lang="en-US" dirty="0"/>
              <a:t> </a:t>
            </a:r>
            <a:r>
              <a:rPr lang="en-US" b="1" dirty="0">
                <a:solidFill>
                  <a:srgbClr val="FF0000"/>
                </a:solidFill>
              </a:rPr>
              <a:t>  </a:t>
            </a:r>
          </a:p>
          <a:p>
            <a:pPr marL="0" indent="0">
              <a:buNone/>
            </a:pPr>
            <a:r>
              <a:rPr lang="en-US" b="1" dirty="0"/>
              <a:t>Example to register the </a:t>
            </a:r>
            <a:r>
              <a:rPr lang="en-US" b="1" dirty="0" err="1"/>
              <a:t>OracleDriver</a:t>
            </a:r>
            <a:r>
              <a:rPr lang="en-US" b="1" dirty="0"/>
              <a:t> class</a:t>
            </a:r>
          </a:p>
          <a:p>
            <a:pPr marL="0" indent="0">
              <a:buNone/>
            </a:pPr>
            <a:r>
              <a:rPr lang="en-US" dirty="0">
                <a:solidFill>
                  <a:srgbClr val="FF0000"/>
                </a:solidFill>
              </a:rPr>
              <a:t>Statement </a:t>
            </a:r>
            <a:r>
              <a:rPr lang="en-US" dirty="0" err="1">
                <a:solidFill>
                  <a:srgbClr val="FF0000"/>
                </a:solidFill>
              </a:rPr>
              <a:t>stmt</a:t>
            </a:r>
            <a:r>
              <a:rPr lang="en-US" dirty="0">
                <a:solidFill>
                  <a:srgbClr val="FF0000"/>
                </a:solidFill>
              </a:rPr>
              <a:t>=</a:t>
            </a:r>
            <a:r>
              <a:rPr lang="en-US" dirty="0" err="1">
                <a:solidFill>
                  <a:srgbClr val="FF0000"/>
                </a:solidFill>
              </a:rPr>
              <a:t>con.createStatement</a:t>
            </a:r>
            <a:r>
              <a:rPr lang="en-US" dirty="0">
                <a:solidFill>
                  <a:srgbClr val="FF0000"/>
                </a:solidFill>
              </a:rPr>
              <a:t>(); </a:t>
            </a:r>
            <a:r>
              <a:rPr lang="en-US" dirty="0"/>
              <a:t> </a:t>
            </a:r>
          </a:p>
          <a:p>
            <a:pPr marL="0" indent="0">
              <a:buNone/>
            </a:pPr>
            <a:endParaRPr lang="en-US" b="1" dirty="0"/>
          </a:p>
          <a:p>
            <a:pPr marL="0" indent="0">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
        <p:nvSpPr>
          <p:cNvPr id="5" name="Footer Placeholder 4"/>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3043439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9762"/>
          </a:xfrm>
        </p:spPr>
        <p:txBody>
          <a:bodyPr>
            <a:normAutofit fontScale="90000"/>
          </a:bodyPr>
          <a:lstStyle/>
          <a:p>
            <a:r>
              <a:rPr lang="en-US" b="1" dirty="0">
                <a:solidFill>
                  <a:schemeClr val="tx1"/>
                </a:solidFill>
              </a:rPr>
              <a:t>Execute the query</a:t>
            </a:r>
          </a:p>
        </p:txBody>
      </p:sp>
      <p:sp>
        <p:nvSpPr>
          <p:cNvPr id="3" name="Content Placeholder 2"/>
          <p:cNvSpPr>
            <a:spLocks noGrp="1"/>
          </p:cNvSpPr>
          <p:nvPr>
            <p:ph sz="quarter" idx="1"/>
          </p:nvPr>
        </p:nvSpPr>
        <p:spPr>
          <a:xfrm>
            <a:off x="457200" y="914400"/>
            <a:ext cx="8229600" cy="5105400"/>
          </a:xfrm>
        </p:spPr>
        <p:txBody>
          <a:bodyPr/>
          <a:lstStyle/>
          <a:p>
            <a:r>
              <a:rPr lang="en-US" dirty="0"/>
              <a:t>The </a:t>
            </a:r>
            <a:r>
              <a:rPr lang="en-US" dirty="0" err="1"/>
              <a:t>executeQuery</a:t>
            </a:r>
            <a:r>
              <a:rPr lang="en-US" dirty="0"/>
              <a:t>() method of Statement interface is used to execute queries to the database. This method returns the object of </a:t>
            </a:r>
            <a:r>
              <a:rPr lang="en-US" dirty="0" err="1"/>
              <a:t>ResultSet</a:t>
            </a:r>
            <a:r>
              <a:rPr lang="en-US" dirty="0"/>
              <a:t> that can be used to get all the records of a table.</a:t>
            </a:r>
          </a:p>
          <a:p>
            <a:r>
              <a:rPr lang="en-US" b="1" dirty="0"/>
              <a:t>Syntax</a:t>
            </a:r>
            <a:r>
              <a:rPr lang="en-US" dirty="0"/>
              <a:t>:</a:t>
            </a:r>
          </a:p>
          <a:p>
            <a:pPr marL="0" indent="0">
              <a:buNone/>
            </a:pPr>
            <a:r>
              <a:rPr lang="en-US" dirty="0">
                <a:solidFill>
                  <a:srgbClr val="FF0000"/>
                </a:solidFill>
              </a:rPr>
              <a:t>public </a:t>
            </a:r>
            <a:r>
              <a:rPr lang="en-US" dirty="0" err="1">
                <a:solidFill>
                  <a:srgbClr val="FF0000"/>
                </a:solidFill>
              </a:rPr>
              <a:t>ResultSet</a:t>
            </a:r>
            <a:r>
              <a:rPr lang="en-US" dirty="0">
                <a:solidFill>
                  <a:srgbClr val="FF0000"/>
                </a:solidFill>
              </a:rPr>
              <a:t> </a:t>
            </a:r>
            <a:r>
              <a:rPr lang="en-US" dirty="0" err="1">
                <a:solidFill>
                  <a:srgbClr val="FF0000"/>
                </a:solidFill>
              </a:rPr>
              <a:t>executeQuery</a:t>
            </a:r>
            <a:r>
              <a:rPr lang="en-US" dirty="0">
                <a:solidFill>
                  <a:srgbClr val="FF0000"/>
                </a:solidFill>
              </a:rPr>
              <a:t>(String </a:t>
            </a:r>
            <a:r>
              <a:rPr lang="en-US" dirty="0" err="1">
                <a:solidFill>
                  <a:srgbClr val="FF0000"/>
                </a:solidFill>
              </a:rPr>
              <a:t>sql</a:t>
            </a:r>
            <a:r>
              <a:rPr lang="en-US" dirty="0">
                <a:solidFill>
                  <a:srgbClr val="FF0000"/>
                </a:solidFill>
              </a:rPr>
              <a:t>)throws </a:t>
            </a:r>
            <a:r>
              <a:rPr lang="en-US" dirty="0" err="1">
                <a:solidFill>
                  <a:srgbClr val="FF0000"/>
                </a:solidFill>
              </a:rPr>
              <a:t>SQLException</a:t>
            </a:r>
            <a:r>
              <a:rPr lang="en-US" b="1" dirty="0">
                <a:solidFill>
                  <a:srgbClr val="FF0000"/>
                </a:solidFill>
              </a:rPr>
              <a:t>  </a:t>
            </a:r>
          </a:p>
          <a:p>
            <a:pPr marL="0" indent="0">
              <a:buNone/>
            </a:pPr>
            <a:r>
              <a:rPr lang="en-US" b="1" dirty="0"/>
              <a:t>Example to register the </a:t>
            </a:r>
            <a:r>
              <a:rPr lang="en-US" b="1" dirty="0" err="1"/>
              <a:t>OracleDriver</a:t>
            </a:r>
            <a:r>
              <a:rPr lang="en-US" b="1" dirty="0"/>
              <a:t> class</a:t>
            </a:r>
          </a:p>
          <a:p>
            <a:pPr marL="0" indent="0">
              <a:buNone/>
            </a:pPr>
            <a:r>
              <a:rPr lang="en-US" dirty="0" err="1">
                <a:solidFill>
                  <a:srgbClr val="FF0000"/>
                </a:solidFill>
              </a:rPr>
              <a:t>ResultSet</a:t>
            </a:r>
            <a:r>
              <a:rPr lang="en-US" dirty="0">
                <a:solidFill>
                  <a:srgbClr val="FF0000"/>
                </a:solidFill>
              </a:rPr>
              <a:t> </a:t>
            </a:r>
            <a:r>
              <a:rPr lang="en-US" dirty="0" err="1">
                <a:solidFill>
                  <a:srgbClr val="FF0000"/>
                </a:solidFill>
              </a:rPr>
              <a:t>rs</a:t>
            </a:r>
            <a:r>
              <a:rPr lang="en-US" dirty="0">
                <a:solidFill>
                  <a:srgbClr val="FF0000"/>
                </a:solidFill>
              </a:rPr>
              <a:t>=</a:t>
            </a:r>
            <a:r>
              <a:rPr lang="en-US" dirty="0" err="1">
                <a:solidFill>
                  <a:srgbClr val="FF0000"/>
                </a:solidFill>
              </a:rPr>
              <a:t>stmt.executeQuery</a:t>
            </a:r>
            <a:r>
              <a:rPr lang="en-US" dirty="0">
                <a:solidFill>
                  <a:srgbClr val="FF0000"/>
                </a:solidFill>
              </a:rPr>
              <a:t>("select * from </a:t>
            </a:r>
            <a:r>
              <a:rPr lang="en-US" dirty="0" err="1">
                <a:solidFill>
                  <a:srgbClr val="FF0000"/>
                </a:solidFill>
              </a:rPr>
              <a:t>emp</a:t>
            </a:r>
            <a:r>
              <a:rPr lang="en-US" dirty="0">
                <a:solidFill>
                  <a:srgbClr val="FF0000"/>
                </a:solidFill>
              </a:rPr>
              <a:t>");  </a:t>
            </a:r>
          </a:p>
          <a:p>
            <a:pPr marL="0" indent="0">
              <a:buNone/>
            </a:pPr>
            <a:r>
              <a:rPr lang="en-US" dirty="0">
                <a:solidFill>
                  <a:srgbClr val="FF0000"/>
                </a:solidFill>
              </a:rPr>
              <a:t>  </a:t>
            </a:r>
          </a:p>
          <a:p>
            <a:pPr marL="0" indent="0">
              <a:buNone/>
            </a:pPr>
            <a:r>
              <a:rPr lang="en-US" dirty="0">
                <a:solidFill>
                  <a:srgbClr val="FF0000"/>
                </a:solidFill>
              </a:rPr>
              <a:t>while(</a:t>
            </a:r>
            <a:r>
              <a:rPr lang="en-US" dirty="0" err="1">
                <a:solidFill>
                  <a:srgbClr val="FF0000"/>
                </a:solidFill>
              </a:rPr>
              <a:t>rs.next</a:t>
            </a:r>
            <a:r>
              <a:rPr lang="en-US" dirty="0">
                <a:solidFill>
                  <a:srgbClr val="FF0000"/>
                </a:solidFill>
              </a:rPr>
              <a:t>()){  </a:t>
            </a:r>
          </a:p>
          <a:p>
            <a:pPr marL="0" indent="0">
              <a:buNone/>
            </a:pPr>
            <a:r>
              <a:rPr lang="en-US" dirty="0" err="1">
                <a:solidFill>
                  <a:srgbClr val="FF0000"/>
                </a:solidFill>
              </a:rPr>
              <a:t>System.out.println</a:t>
            </a:r>
            <a:r>
              <a:rPr lang="en-US" dirty="0">
                <a:solidFill>
                  <a:srgbClr val="FF0000"/>
                </a:solidFill>
              </a:rPr>
              <a:t>(</a:t>
            </a:r>
            <a:r>
              <a:rPr lang="en-US" dirty="0" err="1">
                <a:solidFill>
                  <a:srgbClr val="FF0000"/>
                </a:solidFill>
              </a:rPr>
              <a:t>rs.getInt</a:t>
            </a:r>
            <a:r>
              <a:rPr lang="en-US" dirty="0">
                <a:solidFill>
                  <a:srgbClr val="FF0000"/>
                </a:solidFill>
              </a:rPr>
              <a:t>(1)+" "+</a:t>
            </a:r>
            <a:r>
              <a:rPr lang="en-US" dirty="0" err="1">
                <a:solidFill>
                  <a:srgbClr val="FF0000"/>
                </a:solidFill>
              </a:rPr>
              <a:t>rs.getString</a:t>
            </a:r>
            <a:r>
              <a:rPr lang="en-US" dirty="0">
                <a:solidFill>
                  <a:srgbClr val="FF0000"/>
                </a:solidFill>
              </a:rPr>
              <a:t>(2));  </a:t>
            </a:r>
          </a:p>
          <a:p>
            <a:pPr marL="0" indent="0">
              <a:buNone/>
            </a:pPr>
            <a:r>
              <a:rPr lang="en-US" dirty="0">
                <a:solidFill>
                  <a:srgbClr val="FF0000"/>
                </a:solidFill>
              </a:rPr>
              <a:t>}  </a:t>
            </a:r>
          </a:p>
          <a:p>
            <a:pPr marL="0" indent="0">
              <a:buNone/>
            </a:pPr>
            <a:endParaRPr lang="en-US" b="1" dirty="0"/>
          </a:p>
          <a:p>
            <a:pPr marL="0" indent="0">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
        <p:nvSpPr>
          <p:cNvPr id="5" name="Footer Placeholder 4"/>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3043439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9762"/>
          </a:xfrm>
        </p:spPr>
        <p:txBody>
          <a:bodyPr>
            <a:normAutofit fontScale="90000"/>
          </a:bodyPr>
          <a:lstStyle/>
          <a:p>
            <a:r>
              <a:rPr lang="en-US" b="1" dirty="0">
                <a:solidFill>
                  <a:schemeClr val="tx1"/>
                </a:solidFill>
              </a:rPr>
              <a:t>Close the connection object</a:t>
            </a:r>
          </a:p>
        </p:txBody>
      </p:sp>
      <p:sp>
        <p:nvSpPr>
          <p:cNvPr id="3" name="Content Placeholder 2"/>
          <p:cNvSpPr>
            <a:spLocks noGrp="1"/>
          </p:cNvSpPr>
          <p:nvPr>
            <p:ph sz="quarter" idx="1"/>
          </p:nvPr>
        </p:nvSpPr>
        <p:spPr>
          <a:xfrm>
            <a:off x="457200" y="914400"/>
            <a:ext cx="8229600" cy="5105400"/>
          </a:xfrm>
        </p:spPr>
        <p:txBody>
          <a:bodyPr/>
          <a:lstStyle/>
          <a:p>
            <a:r>
              <a:rPr lang="en-US" dirty="0"/>
              <a:t>By closing connection object statement and </a:t>
            </a:r>
            <a:r>
              <a:rPr lang="en-US" dirty="0" err="1"/>
              <a:t>ResultSet</a:t>
            </a:r>
            <a:r>
              <a:rPr lang="en-US" dirty="0"/>
              <a:t> will be closed automatically. The close() method of Connection interface is used to close the connection. </a:t>
            </a:r>
          </a:p>
          <a:p>
            <a:r>
              <a:rPr lang="en-US" b="1" dirty="0"/>
              <a:t>Syntax</a:t>
            </a:r>
            <a:r>
              <a:rPr lang="en-US" dirty="0"/>
              <a:t>:</a:t>
            </a:r>
          </a:p>
          <a:p>
            <a:pPr marL="0" indent="0">
              <a:buNone/>
            </a:pPr>
            <a:r>
              <a:rPr lang="en-US" dirty="0">
                <a:solidFill>
                  <a:srgbClr val="FF0000"/>
                </a:solidFill>
              </a:rPr>
              <a:t>	public void close()throws </a:t>
            </a:r>
            <a:r>
              <a:rPr lang="en-US" dirty="0" err="1">
                <a:solidFill>
                  <a:srgbClr val="FF0000"/>
                </a:solidFill>
              </a:rPr>
              <a:t>SQLException</a:t>
            </a:r>
            <a:r>
              <a:rPr lang="en-US" dirty="0">
                <a:solidFill>
                  <a:srgbClr val="FF0000"/>
                </a:solidFill>
              </a:rPr>
              <a:t> </a:t>
            </a:r>
            <a:r>
              <a:rPr lang="en-US" b="1" dirty="0">
                <a:solidFill>
                  <a:srgbClr val="FF0000"/>
                </a:solidFill>
              </a:rPr>
              <a:t>  </a:t>
            </a:r>
          </a:p>
          <a:p>
            <a:pPr marL="0" indent="0">
              <a:buNone/>
            </a:pPr>
            <a:r>
              <a:rPr lang="en-US" b="1" dirty="0"/>
              <a:t>Example to register the </a:t>
            </a:r>
            <a:r>
              <a:rPr lang="en-US" b="1" dirty="0" err="1"/>
              <a:t>OracleDriver</a:t>
            </a:r>
            <a:r>
              <a:rPr lang="en-US" b="1" dirty="0"/>
              <a:t> class</a:t>
            </a:r>
          </a:p>
          <a:p>
            <a:pPr marL="0" indent="0">
              <a:buNone/>
            </a:pPr>
            <a:r>
              <a:rPr lang="en-US" dirty="0">
                <a:solidFill>
                  <a:srgbClr val="FF0000"/>
                </a:solidFill>
              </a:rPr>
              <a:t>	</a:t>
            </a:r>
            <a:r>
              <a:rPr lang="en-US" dirty="0" err="1">
                <a:solidFill>
                  <a:srgbClr val="FF0000"/>
                </a:solidFill>
              </a:rPr>
              <a:t>con.close</a:t>
            </a:r>
            <a:r>
              <a:rPr lang="en-US" dirty="0">
                <a:solidFill>
                  <a:srgbClr val="FF0000"/>
                </a:solidFill>
              </a:rPr>
              <a:t>();  </a:t>
            </a:r>
            <a:r>
              <a:rPr lang="en-US" dirty="0"/>
              <a:t> </a:t>
            </a:r>
          </a:p>
          <a:p>
            <a:pPr marL="0" indent="0">
              <a:buNone/>
            </a:pPr>
            <a:endParaRPr lang="en-US" b="1" dirty="0"/>
          </a:p>
          <a:p>
            <a:pPr marL="0" indent="0">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
        <p:nvSpPr>
          <p:cNvPr id="5" name="Footer Placeholder 4"/>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3043439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9762"/>
          </a:xfrm>
        </p:spPr>
        <p:txBody>
          <a:bodyPr>
            <a:normAutofit fontScale="90000"/>
          </a:bodyPr>
          <a:lstStyle/>
          <a:p>
            <a:r>
              <a:rPr lang="en-US" sz="3600" b="1" dirty="0">
                <a:solidFill>
                  <a:schemeClr val="tx1"/>
                </a:solidFill>
              </a:rPr>
              <a:t>Example to connect to the Oracle database</a:t>
            </a:r>
            <a:endParaRPr lang="en-US" dirty="0">
              <a:solidFill>
                <a:schemeClr val="tx1"/>
              </a:solidFill>
            </a:endParaRPr>
          </a:p>
        </p:txBody>
      </p:sp>
      <p:sp>
        <p:nvSpPr>
          <p:cNvPr id="3" name="Content Placeholder 2"/>
          <p:cNvSpPr>
            <a:spLocks noGrp="1"/>
          </p:cNvSpPr>
          <p:nvPr>
            <p:ph sz="quarter" idx="1"/>
          </p:nvPr>
        </p:nvSpPr>
        <p:spPr>
          <a:xfrm>
            <a:off x="533400" y="914400"/>
            <a:ext cx="8153400" cy="5105400"/>
          </a:xfrm>
        </p:spPr>
        <p:txBody>
          <a:bodyPr>
            <a:normAutofit fontScale="92500" lnSpcReduction="10000"/>
          </a:bodyPr>
          <a:lstStyle/>
          <a:p>
            <a:pPr marL="0" indent="0">
              <a:buNone/>
            </a:pPr>
            <a:r>
              <a:rPr lang="en-US" dirty="0"/>
              <a:t>In this example we are using Oracle10g as the database. So we need to know following information for the oracle database: </a:t>
            </a:r>
          </a:p>
          <a:p>
            <a:r>
              <a:rPr lang="en-US" b="1" dirty="0"/>
              <a:t>Driver class: </a:t>
            </a:r>
            <a:r>
              <a:rPr lang="en-US" dirty="0"/>
              <a:t>The driver class for the oracle database is </a:t>
            </a:r>
            <a:r>
              <a:rPr lang="en-US" b="1" dirty="0" err="1"/>
              <a:t>oracle.jdbc.driver.OracleDriver</a:t>
            </a:r>
            <a:r>
              <a:rPr lang="en-US" dirty="0"/>
              <a:t>.</a:t>
            </a:r>
          </a:p>
          <a:p>
            <a:r>
              <a:rPr lang="en-US" b="1" dirty="0"/>
              <a:t>Connection URL: </a:t>
            </a:r>
            <a:r>
              <a:rPr lang="en-US" dirty="0"/>
              <a:t>The connection URL for the oracle10G database is </a:t>
            </a:r>
            <a:r>
              <a:rPr lang="en-US" b="1" dirty="0" err="1"/>
              <a:t>jdbc:oracle:thin</a:t>
            </a:r>
            <a:r>
              <a:rPr lang="en-US" b="1" dirty="0"/>
              <a:t>:@localhost:1521:xe</a:t>
            </a:r>
            <a:r>
              <a:rPr lang="en-US" dirty="0"/>
              <a:t> where </a:t>
            </a:r>
            <a:r>
              <a:rPr lang="en-US" dirty="0" err="1"/>
              <a:t>jdbc</a:t>
            </a:r>
            <a:r>
              <a:rPr lang="en-US" dirty="0"/>
              <a:t> is the API, oracle is the database, thin is the driver, </a:t>
            </a:r>
            <a:r>
              <a:rPr lang="en-US" dirty="0" err="1"/>
              <a:t>localhost</a:t>
            </a:r>
            <a:r>
              <a:rPr lang="en-US" dirty="0"/>
              <a:t> is the server name on which oracle is running, we may also use IP address, 1521 is the port number and XE is the Oracle service name. You may get all these </a:t>
            </a:r>
            <a:r>
              <a:rPr lang="en-US" dirty="0" err="1"/>
              <a:t>informations</a:t>
            </a:r>
            <a:r>
              <a:rPr lang="en-US" dirty="0"/>
              <a:t> from the </a:t>
            </a:r>
            <a:r>
              <a:rPr lang="en-US" dirty="0" err="1"/>
              <a:t>tnsnames.ora</a:t>
            </a:r>
            <a:r>
              <a:rPr lang="en-US" dirty="0"/>
              <a:t> file. </a:t>
            </a:r>
          </a:p>
          <a:p>
            <a:r>
              <a:rPr lang="en-US" b="1" dirty="0"/>
              <a:t>Username: </a:t>
            </a:r>
            <a:r>
              <a:rPr lang="en-US" dirty="0"/>
              <a:t>The default username for the oracle database is </a:t>
            </a:r>
            <a:r>
              <a:rPr lang="en-US" b="1" dirty="0"/>
              <a:t>system</a:t>
            </a:r>
            <a:r>
              <a:rPr lang="en-US" dirty="0"/>
              <a:t>.</a:t>
            </a:r>
          </a:p>
          <a:p>
            <a:r>
              <a:rPr lang="en-US" b="1" dirty="0"/>
              <a:t>Password: </a:t>
            </a:r>
            <a:r>
              <a:rPr lang="en-US" dirty="0"/>
              <a:t>Password is given by the user at the time of installing the oracle database.</a:t>
            </a:r>
          </a:p>
          <a:p>
            <a:pPr marL="0" indent="0">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5" name="Footer Placeholder 4"/>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717974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a:t>Let's first create a table in oracle database. </a:t>
            </a:r>
          </a:p>
          <a:p>
            <a:r>
              <a:rPr lang="en-US" dirty="0"/>
              <a:t>create table </a:t>
            </a:r>
            <a:r>
              <a:rPr lang="en-US" dirty="0" err="1"/>
              <a:t>emp</a:t>
            </a:r>
            <a:r>
              <a:rPr lang="en-US" dirty="0"/>
              <a:t>(id number(10),name varchar2(40),age number(3));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
        <p:nvSpPr>
          <p:cNvPr id="5" name="Footer Placeholder 4"/>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15671421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304800"/>
            <a:ext cx="8382000" cy="6096000"/>
          </a:xfrm>
        </p:spPr>
        <p:txBody>
          <a:bodyPr/>
          <a:lstStyle/>
          <a:p>
            <a:pPr marL="0" indent="0">
              <a:buNone/>
            </a:pPr>
            <a:r>
              <a:rPr lang="en-US" dirty="0"/>
              <a:t>import </a:t>
            </a:r>
            <a:r>
              <a:rPr lang="en-US" dirty="0" err="1"/>
              <a:t>java.sql</a:t>
            </a:r>
            <a:r>
              <a:rPr lang="en-US" dirty="0"/>
              <a:t>.*;  </a:t>
            </a:r>
          </a:p>
          <a:p>
            <a:pPr marL="0" indent="0">
              <a:buNone/>
            </a:pPr>
            <a:r>
              <a:rPr lang="en-US" dirty="0"/>
              <a:t>class </a:t>
            </a:r>
            <a:r>
              <a:rPr lang="en-US" dirty="0" err="1"/>
              <a:t>OracleCon</a:t>
            </a:r>
            <a:r>
              <a:rPr lang="en-US" dirty="0"/>
              <a:t>{  </a:t>
            </a:r>
          </a:p>
          <a:p>
            <a:pPr marL="0" indent="0">
              <a:buNone/>
            </a:pPr>
            <a:r>
              <a:rPr lang="en-US" dirty="0"/>
              <a:t>public static void main(String </a:t>
            </a:r>
            <a:r>
              <a:rPr lang="en-US" dirty="0" err="1"/>
              <a:t>args</a:t>
            </a:r>
            <a:r>
              <a:rPr lang="en-US" dirty="0"/>
              <a:t>[]){  </a:t>
            </a:r>
          </a:p>
          <a:p>
            <a:pPr marL="0" indent="0">
              <a:buNone/>
            </a:pPr>
            <a:r>
              <a:rPr lang="en-US" dirty="0"/>
              <a:t>try{  </a:t>
            </a:r>
          </a:p>
          <a:p>
            <a:pPr marL="0" indent="0">
              <a:buNone/>
            </a:pPr>
            <a:r>
              <a:rPr lang="en-US" dirty="0"/>
              <a:t>//step1 load the driver class  </a:t>
            </a:r>
          </a:p>
          <a:p>
            <a:pPr marL="0" indent="0">
              <a:buNone/>
            </a:pPr>
            <a:r>
              <a:rPr lang="en-US" dirty="0" err="1"/>
              <a:t>Class.forName</a:t>
            </a:r>
            <a:r>
              <a:rPr lang="en-US" dirty="0"/>
              <a:t>("</a:t>
            </a:r>
            <a:r>
              <a:rPr lang="en-US" dirty="0" err="1"/>
              <a:t>oracle.jdbc.driver.OracleDriver</a:t>
            </a:r>
            <a:r>
              <a:rPr lang="en-US" dirty="0"/>
              <a:t>");    </a:t>
            </a:r>
          </a:p>
          <a:p>
            <a:pPr marL="0" indent="0">
              <a:buNone/>
            </a:pPr>
            <a:r>
              <a:rPr lang="en-US" dirty="0"/>
              <a:t>//step2 create  the connection object  </a:t>
            </a:r>
          </a:p>
          <a:p>
            <a:pPr marL="0" indent="0">
              <a:buNone/>
            </a:pPr>
            <a:r>
              <a:rPr lang="en-US" dirty="0"/>
              <a:t>Connection con=</a:t>
            </a:r>
            <a:r>
              <a:rPr lang="en-US" dirty="0" err="1"/>
              <a:t>DriverManager.getConnection</a:t>
            </a:r>
            <a:r>
              <a:rPr lang="en-US" dirty="0"/>
              <a:t>(  "</a:t>
            </a:r>
            <a:r>
              <a:rPr lang="en-US" dirty="0" err="1"/>
              <a:t>jdbc:oracle:thin</a:t>
            </a:r>
            <a:r>
              <a:rPr lang="en-US" dirty="0"/>
              <a:t>:@localhost:1521:xe","system","oracle");    </a:t>
            </a:r>
          </a:p>
          <a:p>
            <a:pPr marL="0" indent="0">
              <a:buNone/>
            </a:pPr>
            <a:r>
              <a:rPr lang="en-US" dirty="0"/>
              <a:t>//step3 create the statement object  </a:t>
            </a:r>
          </a:p>
          <a:p>
            <a:pPr marL="0" indent="0">
              <a:buNone/>
            </a:pPr>
            <a:r>
              <a:rPr lang="en-US" dirty="0"/>
              <a:t>Statement </a:t>
            </a:r>
            <a:r>
              <a:rPr lang="en-US" dirty="0" err="1"/>
              <a:t>stmt</a:t>
            </a:r>
            <a:r>
              <a:rPr lang="en-US" dirty="0"/>
              <a:t>=</a:t>
            </a:r>
            <a:r>
              <a:rPr lang="en-US" dirty="0" err="1"/>
              <a:t>con.createStatement</a:t>
            </a:r>
            <a:r>
              <a:rPr lang="en-US" dirty="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
        <p:nvSpPr>
          <p:cNvPr id="2" name="Footer Placeholder 1"/>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2641651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228600"/>
            <a:ext cx="8382000" cy="5791200"/>
          </a:xfrm>
        </p:spPr>
        <p:txBody>
          <a:bodyPr/>
          <a:lstStyle/>
          <a:p>
            <a:pPr marL="0" indent="0">
              <a:buNone/>
            </a:pPr>
            <a:r>
              <a:rPr lang="en-US" dirty="0"/>
              <a:t>//step4 execute query  </a:t>
            </a:r>
          </a:p>
          <a:p>
            <a:pPr marL="0" indent="0">
              <a:buNone/>
            </a:pPr>
            <a:r>
              <a:rPr lang="en-US" dirty="0" err="1"/>
              <a:t>ResultSet</a:t>
            </a:r>
            <a:r>
              <a:rPr lang="en-US" dirty="0"/>
              <a:t> </a:t>
            </a:r>
            <a:r>
              <a:rPr lang="en-US" dirty="0" err="1"/>
              <a:t>rs</a:t>
            </a:r>
            <a:r>
              <a:rPr lang="en-US" dirty="0"/>
              <a:t>=</a:t>
            </a:r>
            <a:r>
              <a:rPr lang="en-US" dirty="0" err="1"/>
              <a:t>stmt.executeQuery</a:t>
            </a:r>
            <a:r>
              <a:rPr lang="en-US" dirty="0"/>
              <a:t>("select * from </a:t>
            </a:r>
            <a:r>
              <a:rPr lang="en-US" dirty="0" err="1"/>
              <a:t>emp</a:t>
            </a:r>
            <a:r>
              <a:rPr lang="en-US" dirty="0"/>
              <a:t>");  </a:t>
            </a:r>
          </a:p>
          <a:p>
            <a:pPr marL="0" indent="0">
              <a:buNone/>
            </a:pPr>
            <a:r>
              <a:rPr lang="en-US" dirty="0"/>
              <a:t>while(</a:t>
            </a:r>
            <a:r>
              <a:rPr lang="en-US" dirty="0" err="1"/>
              <a:t>rs.next</a:t>
            </a:r>
            <a:r>
              <a:rPr lang="en-US" dirty="0"/>
              <a:t>())  </a:t>
            </a:r>
          </a:p>
          <a:p>
            <a:pPr marL="0" indent="0">
              <a:buNone/>
            </a:pPr>
            <a:r>
              <a:rPr lang="en-US" dirty="0" err="1"/>
              <a:t>System.out.println</a:t>
            </a:r>
            <a:r>
              <a:rPr lang="en-US" dirty="0"/>
              <a:t>(</a:t>
            </a:r>
            <a:r>
              <a:rPr lang="en-US" dirty="0" err="1"/>
              <a:t>rs.getInt</a:t>
            </a:r>
            <a:r>
              <a:rPr lang="en-US" dirty="0"/>
              <a:t>(1)+"  "+</a:t>
            </a:r>
            <a:r>
              <a:rPr lang="en-US" dirty="0" err="1"/>
              <a:t>rs.getString</a:t>
            </a:r>
            <a:r>
              <a:rPr lang="en-US" dirty="0"/>
              <a:t>(2)+"  "+</a:t>
            </a:r>
            <a:r>
              <a:rPr lang="en-US" dirty="0" err="1"/>
              <a:t>rs.getString</a:t>
            </a:r>
            <a:r>
              <a:rPr lang="en-US" dirty="0"/>
              <a:t>(3));    </a:t>
            </a:r>
          </a:p>
          <a:p>
            <a:pPr marL="0" indent="0">
              <a:buNone/>
            </a:pPr>
            <a:r>
              <a:rPr lang="en-US" dirty="0"/>
              <a:t>//step5 close the connection object  </a:t>
            </a:r>
          </a:p>
          <a:p>
            <a:pPr marL="0" indent="0">
              <a:buNone/>
            </a:pPr>
            <a:r>
              <a:rPr lang="en-US" dirty="0" err="1"/>
              <a:t>con.close</a:t>
            </a:r>
            <a:r>
              <a:rPr lang="en-US" dirty="0"/>
              <a:t>();    </a:t>
            </a:r>
          </a:p>
          <a:p>
            <a:pPr marL="0" indent="0">
              <a:buNone/>
            </a:pPr>
            <a:r>
              <a:rPr lang="en-US" dirty="0"/>
              <a:t>}catch(Exception e){</a:t>
            </a:r>
          </a:p>
          <a:p>
            <a:pPr marL="0" indent="0">
              <a:buNone/>
            </a:pPr>
            <a:r>
              <a:rPr lang="en-US" dirty="0"/>
              <a:t> </a:t>
            </a:r>
            <a:r>
              <a:rPr lang="en-US" dirty="0" err="1"/>
              <a:t>System.out.println</a:t>
            </a:r>
            <a:r>
              <a:rPr lang="en-US" dirty="0"/>
              <a:t>(e);</a:t>
            </a:r>
          </a:p>
          <a:p>
            <a:pPr marL="0" indent="0">
              <a:buNone/>
            </a:pPr>
            <a:r>
              <a:rPr lang="en-US" dirty="0"/>
              <a:t>}    </a:t>
            </a:r>
          </a:p>
          <a:p>
            <a:pPr marL="0" indent="0">
              <a:buNone/>
            </a:pPr>
            <a:r>
              <a:rPr lang="en-US" dirty="0"/>
              <a:t>}  </a:t>
            </a:r>
          </a:p>
          <a:p>
            <a:pPr marL="0" indent="0">
              <a:buNone/>
            </a:pPr>
            <a:r>
              <a:rPr lang="en-US" dirty="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
        <p:nvSpPr>
          <p:cNvPr id="2" name="Footer Placeholder 1"/>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1178720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304800"/>
            <a:ext cx="8382000" cy="5715000"/>
          </a:xfrm>
        </p:spPr>
        <p:txBody>
          <a:bodyPr/>
          <a:lstStyle/>
          <a:p>
            <a:pPr marL="0" indent="0">
              <a:buNone/>
            </a:pPr>
            <a:r>
              <a:rPr lang="en-US" dirty="0"/>
              <a:t>To connect java application with the Oracle database ojdbc14.jar file is required to be loaded.</a:t>
            </a:r>
          </a:p>
          <a:p>
            <a:pPr marL="0" indent="0">
              <a:buNone/>
            </a:pPr>
            <a:r>
              <a:rPr lang="en-US" b="1" dirty="0">
                <a:hlinkClick r:id="rId2"/>
              </a:rPr>
              <a:t>download the jar file ojdbc14.jar</a:t>
            </a:r>
            <a:endParaRPr lang="en-US" b="1" dirty="0"/>
          </a:p>
          <a:p>
            <a:pPr marL="0" indent="0">
              <a:buNone/>
            </a:pPr>
            <a:r>
              <a:rPr lang="en-US" b="1" dirty="0"/>
              <a:t>Two ways to load the jar file:</a:t>
            </a:r>
          </a:p>
          <a:p>
            <a:r>
              <a:rPr lang="en-US" dirty="0"/>
              <a:t>paste the ojdbc14.jar file in </a:t>
            </a:r>
            <a:r>
              <a:rPr lang="en-US" dirty="0" err="1"/>
              <a:t>jre</a:t>
            </a:r>
            <a:r>
              <a:rPr lang="en-US" dirty="0"/>
              <a:t>/lib/</a:t>
            </a:r>
            <a:r>
              <a:rPr lang="en-US" dirty="0" err="1"/>
              <a:t>ext</a:t>
            </a:r>
            <a:r>
              <a:rPr lang="en-US" dirty="0"/>
              <a:t> folder</a:t>
            </a:r>
          </a:p>
          <a:p>
            <a:r>
              <a:rPr lang="en-US" dirty="0"/>
              <a:t>set </a:t>
            </a:r>
            <a:r>
              <a:rPr lang="en-US" dirty="0" err="1"/>
              <a:t>classpath</a:t>
            </a:r>
            <a:endParaRPr lang="en-US" dirty="0"/>
          </a:p>
          <a:p>
            <a:pPr marL="0" indent="0">
              <a:buNone/>
            </a:pPr>
            <a:endParaRPr lang="en-US" b="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
        <p:nvSpPr>
          <p:cNvPr id="2" name="Footer Placeholder 1"/>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38221640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457200"/>
            <a:ext cx="8382000" cy="5562600"/>
          </a:xfrm>
        </p:spPr>
        <p:txBody>
          <a:bodyPr/>
          <a:lstStyle/>
          <a:p>
            <a:pPr marL="514350" indent="-514350">
              <a:buAutoNum type="arabicParenR"/>
            </a:pPr>
            <a:r>
              <a:rPr lang="en-US" b="1" dirty="0"/>
              <a:t>Paste the ojdbc14.jar file in JRE/lib/</a:t>
            </a:r>
            <a:r>
              <a:rPr lang="en-US" b="1" dirty="0" err="1"/>
              <a:t>ext</a:t>
            </a:r>
            <a:r>
              <a:rPr lang="en-US" b="1" dirty="0"/>
              <a:t> folder:</a:t>
            </a:r>
          </a:p>
          <a:p>
            <a:pPr marL="0" indent="0">
              <a:buNone/>
            </a:pPr>
            <a:r>
              <a:rPr lang="en-US" dirty="0"/>
              <a:t>Firstly, search the ojdbc14.jar file then go to JRE/lib/</a:t>
            </a:r>
            <a:r>
              <a:rPr lang="en-US" dirty="0" err="1"/>
              <a:t>ext</a:t>
            </a:r>
            <a:r>
              <a:rPr lang="en-US" dirty="0"/>
              <a:t> folder and paste the jar file here.</a:t>
            </a:r>
          </a:p>
          <a:p>
            <a:pPr marL="0" indent="0">
              <a:buNone/>
            </a:pPr>
            <a:r>
              <a:rPr lang="en-US" b="1" dirty="0"/>
              <a:t>2) set </a:t>
            </a:r>
            <a:r>
              <a:rPr lang="en-US" b="1" dirty="0" err="1"/>
              <a:t>classpath</a:t>
            </a:r>
            <a:r>
              <a:rPr lang="en-US" b="1" dirty="0"/>
              <a:t>:</a:t>
            </a:r>
          </a:p>
          <a:p>
            <a:pPr marL="0" indent="0">
              <a:buNone/>
            </a:pPr>
            <a:r>
              <a:rPr lang="en-US" dirty="0"/>
              <a:t>There are two ways to set the </a:t>
            </a:r>
            <a:r>
              <a:rPr lang="en-US" dirty="0" err="1"/>
              <a:t>classpath</a:t>
            </a:r>
            <a:r>
              <a:rPr lang="en-US" dirty="0"/>
              <a:t>: </a:t>
            </a:r>
          </a:p>
          <a:p>
            <a:r>
              <a:rPr lang="en-US" dirty="0"/>
              <a:t>temporary</a:t>
            </a:r>
          </a:p>
          <a:p>
            <a:r>
              <a:rPr lang="en-US" dirty="0"/>
              <a:t>permanent</a:t>
            </a:r>
          </a:p>
          <a:p>
            <a:pPr marL="0" indent="0">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
        <p:nvSpPr>
          <p:cNvPr id="2" name="Footer Placeholder 1"/>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33569460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533400"/>
            <a:ext cx="8305800" cy="5486400"/>
          </a:xfrm>
        </p:spPr>
        <p:txBody>
          <a:bodyPr/>
          <a:lstStyle/>
          <a:p>
            <a:pPr marL="0" indent="0">
              <a:buNone/>
            </a:pPr>
            <a:r>
              <a:rPr lang="en-US" b="1" dirty="0"/>
              <a:t>How to set the temporary </a:t>
            </a:r>
            <a:r>
              <a:rPr lang="en-US" b="1" dirty="0" err="1"/>
              <a:t>classpath</a:t>
            </a:r>
            <a:r>
              <a:rPr lang="en-US" b="1" dirty="0"/>
              <a:t>:</a:t>
            </a:r>
          </a:p>
          <a:p>
            <a:pPr marL="0" indent="0">
              <a:buNone/>
            </a:pPr>
            <a:r>
              <a:rPr lang="en-US" dirty="0"/>
              <a:t>Firstly, search the ojdbc14.jar file then open command prompt and write:</a:t>
            </a:r>
          </a:p>
          <a:p>
            <a:pPr marL="0" indent="0">
              <a:buNone/>
            </a:pPr>
            <a:r>
              <a:rPr lang="en-US" b="1" dirty="0"/>
              <a:t>C:&gt;set </a:t>
            </a:r>
            <a:r>
              <a:rPr lang="en-US" b="1" dirty="0" err="1"/>
              <a:t>classpath</a:t>
            </a:r>
            <a:r>
              <a:rPr lang="en-US" b="1" dirty="0"/>
              <a:t>=c:\folder\ojdbc14.jar;.;</a:t>
            </a:r>
          </a:p>
          <a:p>
            <a:pPr marL="0" indent="0">
              <a:buNone/>
            </a:pPr>
            <a:r>
              <a:rPr lang="en-US" b="1" dirty="0"/>
              <a:t>How to set the permanent </a:t>
            </a:r>
            <a:r>
              <a:rPr lang="en-US" b="1" dirty="0" err="1"/>
              <a:t>classpath</a:t>
            </a:r>
            <a:r>
              <a:rPr lang="en-US" b="1" dirty="0"/>
              <a:t>:</a:t>
            </a:r>
          </a:p>
          <a:p>
            <a:pPr marL="0" indent="0">
              <a:buNone/>
            </a:pPr>
            <a:r>
              <a:rPr lang="en-US" dirty="0"/>
              <a:t>Go to environment variable then click on new tab. In variable name write </a:t>
            </a:r>
            <a:r>
              <a:rPr lang="en-US" b="1" dirty="0" err="1"/>
              <a:t>classpath</a:t>
            </a:r>
            <a:r>
              <a:rPr lang="en-US" dirty="0"/>
              <a:t> and in variable value paste the path to ojdbc14.jar by appending ojdbc14.jar;.; as C:\oraclexe\app\oracle\product\10.2.0\server\jdbc\lib\ojdbc14.jar;.;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
        <p:nvSpPr>
          <p:cNvPr id="2" name="Footer Placeholder 1"/>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24367138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305800" cy="563562"/>
          </a:xfrm>
        </p:spPr>
        <p:txBody>
          <a:bodyPr>
            <a:noAutofit/>
          </a:bodyPr>
          <a:lstStyle/>
          <a:p>
            <a:r>
              <a:rPr lang="en-US" sz="3200" b="1" dirty="0">
                <a:solidFill>
                  <a:schemeClr val="tx1"/>
                </a:solidFill>
              </a:rPr>
              <a:t>Example to connect to the </a:t>
            </a:r>
            <a:r>
              <a:rPr lang="en-US" sz="3200" b="1" dirty="0" err="1">
                <a:solidFill>
                  <a:schemeClr val="tx1"/>
                </a:solidFill>
              </a:rPr>
              <a:t>mysql</a:t>
            </a:r>
            <a:r>
              <a:rPr lang="en-US" sz="3200" b="1" dirty="0">
                <a:solidFill>
                  <a:schemeClr val="tx1"/>
                </a:solidFill>
              </a:rPr>
              <a:t> database</a:t>
            </a:r>
            <a:endParaRPr lang="en-US" sz="3200" dirty="0">
              <a:solidFill>
                <a:schemeClr val="tx1"/>
              </a:solidFill>
            </a:endParaRPr>
          </a:p>
        </p:txBody>
      </p:sp>
      <p:sp>
        <p:nvSpPr>
          <p:cNvPr id="3" name="Content Placeholder 2"/>
          <p:cNvSpPr>
            <a:spLocks noGrp="1"/>
          </p:cNvSpPr>
          <p:nvPr>
            <p:ph sz="quarter" idx="1"/>
          </p:nvPr>
        </p:nvSpPr>
        <p:spPr>
          <a:xfrm>
            <a:off x="381000" y="838200"/>
            <a:ext cx="8305800" cy="5562600"/>
          </a:xfrm>
        </p:spPr>
        <p:txBody>
          <a:bodyPr>
            <a:normAutofit fontScale="92500"/>
          </a:bodyPr>
          <a:lstStyle/>
          <a:p>
            <a:pPr marL="0" indent="0">
              <a:buNone/>
            </a:pPr>
            <a:r>
              <a:rPr lang="en-US" dirty="0"/>
              <a:t>In this example we are using </a:t>
            </a:r>
            <a:r>
              <a:rPr lang="en-US" dirty="0" err="1"/>
              <a:t>MySql</a:t>
            </a:r>
            <a:r>
              <a:rPr lang="en-US" dirty="0"/>
              <a:t> as the database. So we need to know following </a:t>
            </a:r>
            <a:r>
              <a:rPr lang="en-US" dirty="0" err="1"/>
              <a:t>informations</a:t>
            </a:r>
            <a:r>
              <a:rPr lang="en-US" dirty="0"/>
              <a:t> for the </a:t>
            </a:r>
            <a:r>
              <a:rPr lang="en-US" dirty="0" err="1"/>
              <a:t>mysql</a:t>
            </a:r>
            <a:r>
              <a:rPr lang="en-US" dirty="0"/>
              <a:t> database:</a:t>
            </a:r>
          </a:p>
          <a:p>
            <a:r>
              <a:rPr lang="en-US" b="1" dirty="0"/>
              <a:t>Driver class: </a:t>
            </a:r>
            <a:r>
              <a:rPr lang="en-US" dirty="0"/>
              <a:t>The driver class for the </a:t>
            </a:r>
            <a:r>
              <a:rPr lang="en-US" dirty="0" err="1"/>
              <a:t>mysql</a:t>
            </a:r>
            <a:r>
              <a:rPr lang="en-US" dirty="0"/>
              <a:t> database is </a:t>
            </a:r>
            <a:r>
              <a:rPr lang="en-US" b="1" dirty="0" err="1"/>
              <a:t>com.mysql.jdbc.Driver</a:t>
            </a:r>
            <a:r>
              <a:rPr lang="en-US" dirty="0"/>
              <a:t>.</a:t>
            </a:r>
          </a:p>
          <a:p>
            <a:r>
              <a:rPr lang="en-US" b="1" dirty="0"/>
              <a:t>Connection URL: </a:t>
            </a:r>
            <a:r>
              <a:rPr lang="en-US" dirty="0"/>
              <a:t>The connection URL for the </a:t>
            </a:r>
            <a:r>
              <a:rPr lang="en-US" dirty="0" err="1"/>
              <a:t>mysql</a:t>
            </a:r>
            <a:r>
              <a:rPr lang="en-US" dirty="0"/>
              <a:t> database is </a:t>
            </a:r>
            <a:r>
              <a:rPr lang="en-US" b="1" dirty="0" err="1"/>
              <a:t>jdbc:mysql</a:t>
            </a:r>
            <a:r>
              <a:rPr lang="en-US" b="1" dirty="0"/>
              <a:t>://localhost:3306/</a:t>
            </a:r>
            <a:r>
              <a:rPr lang="en-US" b="1" dirty="0" err="1"/>
              <a:t>sonoo</a:t>
            </a:r>
            <a:r>
              <a:rPr lang="en-US" dirty="0"/>
              <a:t> where </a:t>
            </a:r>
            <a:r>
              <a:rPr lang="en-US" dirty="0" err="1"/>
              <a:t>jdbc</a:t>
            </a:r>
            <a:r>
              <a:rPr lang="en-US" dirty="0"/>
              <a:t> is the API, </a:t>
            </a:r>
            <a:r>
              <a:rPr lang="en-US" dirty="0" err="1"/>
              <a:t>mysql</a:t>
            </a:r>
            <a:r>
              <a:rPr lang="en-US" dirty="0"/>
              <a:t> is the database, </a:t>
            </a:r>
            <a:r>
              <a:rPr lang="en-US" dirty="0" err="1"/>
              <a:t>localhost</a:t>
            </a:r>
            <a:r>
              <a:rPr lang="en-US" dirty="0"/>
              <a:t> is the server name on which </a:t>
            </a:r>
            <a:r>
              <a:rPr lang="en-US" dirty="0" err="1"/>
              <a:t>mysql</a:t>
            </a:r>
            <a:r>
              <a:rPr lang="en-US" dirty="0"/>
              <a:t> is running, we may also use IP address, 3306 is the port number and </a:t>
            </a:r>
            <a:r>
              <a:rPr lang="en-US" dirty="0" err="1"/>
              <a:t>sonoo</a:t>
            </a:r>
            <a:r>
              <a:rPr lang="en-US" dirty="0"/>
              <a:t> is the database name. We may use any database, in such case, you need to replace the </a:t>
            </a:r>
            <a:r>
              <a:rPr lang="en-US" dirty="0" err="1"/>
              <a:t>sonoo</a:t>
            </a:r>
            <a:r>
              <a:rPr lang="en-US" dirty="0"/>
              <a:t> with your database name. </a:t>
            </a:r>
          </a:p>
          <a:p>
            <a:r>
              <a:rPr lang="en-US" b="1" dirty="0"/>
              <a:t>Username: </a:t>
            </a:r>
            <a:r>
              <a:rPr lang="en-US" dirty="0"/>
              <a:t>The default username for the </a:t>
            </a:r>
            <a:r>
              <a:rPr lang="en-US" dirty="0" err="1"/>
              <a:t>mysql</a:t>
            </a:r>
            <a:r>
              <a:rPr lang="en-US" dirty="0"/>
              <a:t> database is </a:t>
            </a:r>
            <a:r>
              <a:rPr lang="en-US" b="1" dirty="0"/>
              <a:t>root</a:t>
            </a:r>
            <a:r>
              <a:rPr lang="en-US" dirty="0"/>
              <a:t>.</a:t>
            </a:r>
          </a:p>
          <a:p>
            <a:r>
              <a:rPr lang="en-US" b="1" dirty="0"/>
              <a:t>Password: </a:t>
            </a:r>
            <a:r>
              <a:rPr lang="en-US" dirty="0"/>
              <a:t>Password is given by the user at the time of installing the </a:t>
            </a:r>
            <a:r>
              <a:rPr lang="en-US" dirty="0" err="1"/>
              <a:t>mysql</a:t>
            </a:r>
            <a:r>
              <a:rPr lang="en-US" dirty="0"/>
              <a:t> database. In this example, we are going to use root as the password.</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
        <p:nvSpPr>
          <p:cNvPr id="5" name="Footer Placeholder 4"/>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39944601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381000"/>
            <a:ext cx="8305800" cy="5638800"/>
          </a:xfrm>
        </p:spPr>
        <p:txBody>
          <a:bodyPr/>
          <a:lstStyle/>
          <a:p>
            <a:pPr marL="0" indent="0">
              <a:buNone/>
            </a:pPr>
            <a:r>
              <a:rPr lang="en-US" dirty="0"/>
              <a:t>Let's first create a table in the </a:t>
            </a:r>
            <a:r>
              <a:rPr lang="en-US" dirty="0" err="1"/>
              <a:t>mysql</a:t>
            </a:r>
            <a:r>
              <a:rPr lang="en-US" dirty="0"/>
              <a:t> database, but before creating table, we need to create database first.</a:t>
            </a:r>
          </a:p>
          <a:p>
            <a:pPr marL="0" indent="0">
              <a:buNone/>
            </a:pPr>
            <a:endParaRPr lang="en-US" dirty="0"/>
          </a:p>
          <a:p>
            <a:r>
              <a:rPr lang="en-US" dirty="0"/>
              <a:t>create database </a:t>
            </a:r>
            <a:r>
              <a:rPr lang="en-US" dirty="0" err="1"/>
              <a:t>sonoo</a:t>
            </a:r>
            <a:r>
              <a:rPr lang="en-US" dirty="0"/>
              <a:t>;  </a:t>
            </a:r>
          </a:p>
          <a:p>
            <a:r>
              <a:rPr lang="en-US" dirty="0"/>
              <a:t>use </a:t>
            </a:r>
            <a:r>
              <a:rPr lang="en-US" dirty="0" err="1"/>
              <a:t>sonoo</a:t>
            </a:r>
            <a:r>
              <a:rPr lang="en-US" dirty="0"/>
              <a:t>;  </a:t>
            </a:r>
          </a:p>
          <a:p>
            <a:r>
              <a:rPr lang="en-US" dirty="0"/>
              <a:t>create table </a:t>
            </a:r>
            <a:r>
              <a:rPr lang="en-US" dirty="0" err="1"/>
              <a:t>emp</a:t>
            </a:r>
            <a:r>
              <a:rPr lang="en-US" dirty="0"/>
              <a:t>(id </a:t>
            </a:r>
            <a:r>
              <a:rPr lang="en-US" dirty="0" err="1"/>
              <a:t>int</a:t>
            </a:r>
            <a:r>
              <a:rPr lang="en-US" dirty="0"/>
              <a:t>(10),name </a:t>
            </a:r>
            <a:r>
              <a:rPr lang="en-US" dirty="0" err="1"/>
              <a:t>varchar</a:t>
            </a:r>
            <a:r>
              <a:rPr lang="en-US" dirty="0"/>
              <a:t>(40),age </a:t>
            </a:r>
            <a:r>
              <a:rPr lang="en-US" dirty="0" err="1"/>
              <a:t>int</a:t>
            </a:r>
            <a:r>
              <a:rPr lang="en-US" dirty="0"/>
              <a:t>(3));  </a:t>
            </a:r>
          </a:p>
          <a:p>
            <a:pPr marL="0" indent="0">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
        <p:nvSpPr>
          <p:cNvPr id="2" name="Footer Placeholder 1"/>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307609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228600"/>
            <a:ext cx="8458200" cy="6324600"/>
          </a:xfrm>
        </p:spPr>
        <p:txBody>
          <a:bodyPr>
            <a:normAutofit fontScale="92500" lnSpcReduction="20000"/>
          </a:bodyPr>
          <a:lstStyle/>
          <a:p>
            <a:pPr marL="0" indent="0">
              <a:buNone/>
            </a:pPr>
            <a:r>
              <a:rPr lang="en-US" dirty="0"/>
              <a:t>import </a:t>
            </a:r>
            <a:r>
              <a:rPr lang="en-US" dirty="0" err="1"/>
              <a:t>java.sql</a:t>
            </a:r>
            <a:r>
              <a:rPr lang="en-US" dirty="0"/>
              <a:t>.*;  </a:t>
            </a:r>
          </a:p>
          <a:p>
            <a:pPr marL="0" indent="0">
              <a:buNone/>
            </a:pPr>
            <a:r>
              <a:rPr lang="en-US" dirty="0"/>
              <a:t>class </a:t>
            </a:r>
            <a:r>
              <a:rPr lang="en-US" dirty="0" err="1"/>
              <a:t>MysqlCon</a:t>
            </a:r>
            <a:r>
              <a:rPr lang="en-US" dirty="0"/>
              <a:t>{  </a:t>
            </a:r>
          </a:p>
          <a:p>
            <a:pPr marL="0" indent="0">
              <a:buNone/>
            </a:pPr>
            <a:r>
              <a:rPr lang="en-US" dirty="0"/>
              <a:t>public static void main(String </a:t>
            </a:r>
            <a:r>
              <a:rPr lang="en-US" dirty="0" err="1"/>
              <a:t>args</a:t>
            </a:r>
            <a:r>
              <a:rPr lang="en-US" dirty="0"/>
              <a:t>[]){  </a:t>
            </a:r>
          </a:p>
          <a:p>
            <a:pPr marL="0" indent="0">
              <a:buNone/>
            </a:pPr>
            <a:r>
              <a:rPr lang="en-US" dirty="0"/>
              <a:t>try{  </a:t>
            </a:r>
          </a:p>
          <a:p>
            <a:pPr marL="0" indent="0">
              <a:buNone/>
            </a:pPr>
            <a:r>
              <a:rPr lang="en-US" dirty="0" err="1"/>
              <a:t>Class.forName</a:t>
            </a:r>
            <a:r>
              <a:rPr lang="en-US" dirty="0"/>
              <a:t>("</a:t>
            </a:r>
            <a:r>
              <a:rPr lang="en-US" dirty="0" err="1"/>
              <a:t>com.mysql.jdbc.Driver</a:t>
            </a:r>
            <a:r>
              <a:rPr lang="en-US" dirty="0"/>
              <a:t>");    </a:t>
            </a:r>
          </a:p>
          <a:p>
            <a:pPr marL="0" indent="0">
              <a:buNone/>
            </a:pPr>
            <a:r>
              <a:rPr lang="en-US" dirty="0"/>
              <a:t>Connection con=</a:t>
            </a:r>
            <a:r>
              <a:rPr lang="en-US" dirty="0" err="1"/>
              <a:t>DriverManager.getConnection</a:t>
            </a:r>
            <a:r>
              <a:rPr lang="en-US" dirty="0"/>
              <a:t>(  "</a:t>
            </a:r>
            <a:r>
              <a:rPr lang="en-US" dirty="0" err="1"/>
              <a:t>jdbc:mysql</a:t>
            </a:r>
            <a:r>
              <a:rPr lang="en-US" dirty="0"/>
              <a:t>://localhost:3306/</a:t>
            </a:r>
            <a:r>
              <a:rPr lang="en-US" dirty="0" err="1"/>
              <a:t>sonoo</a:t>
            </a:r>
            <a:r>
              <a:rPr lang="en-US" dirty="0"/>
              <a:t>","</a:t>
            </a:r>
            <a:r>
              <a:rPr lang="en-US" dirty="0" err="1"/>
              <a:t>root","root</a:t>
            </a:r>
            <a:r>
              <a:rPr lang="en-US" dirty="0"/>
              <a:t>");    </a:t>
            </a:r>
          </a:p>
          <a:p>
            <a:pPr marL="0" indent="0">
              <a:buNone/>
            </a:pPr>
            <a:r>
              <a:rPr lang="en-US" dirty="0"/>
              <a:t>//here </a:t>
            </a:r>
            <a:r>
              <a:rPr lang="en-US" dirty="0" err="1"/>
              <a:t>sonoo</a:t>
            </a:r>
            <a:r>
              <a:rPr lang="en-US" dirty="0"/>
              <a:t> is database name, root is username and password    </a:t>
            </a:r>
          </a:p>
          <a:p>
            <a:pPr marL="0" indent="0">
              <a:buNone/>
            </a:pPr>
            <a:r>
              <a:rPr lang="en-US" dirty="0"/>
              <a:t>Statement </a:t>
            </a:r>
            <a:r>
              <a:rPr lang="en-US" dirty="0" err="1"/>
              <a:t>stmt</a:t>
            </a:r>
            <a:r>
              <a:rPr lang="en-US" dirty="0"/>
              <a:t>=</a:t>
            </a:r>
            <a:r>
              <a:rPr lang="en-US" dirty="0" err="1"/>
              <a:t>con.createStatement</a:t>
            </a:r>
            <a:r>
              <a:rPr lang="en-US" dirty="0"/>
              <a:t>(); </a:t>
            </a:r>
          </a:p>
          <a:p>
            <a:pPr marL="0" indent="0">
              <a:buNone/>
            </a:pPr>
            <a:r>
              <a:rPr lang="en-US" dirty="0" err="1"/>
              <a:t>ResultSet</a:t>
            </a:r>
            <a:r>
              <a:rPr lang="en-US" dirty="0"/>
              <a:t> </a:t>
            </a:r>
            <a:r>
              <a:rPr lang="en-US" dirty="0" err="1"/>
              <a:t>rs</a:t>
            </a:r>
            <a:r>
              <a:rPr lang="en-US" dirty="0"/>
              <a:t>=</a:t>
            </a:r>
            <a:r>
              <a:rPr lang="en-US" dirty="0" err="1"/>
              <a:t>stmt.executeQuery</a:t>
            </a:r>
            <a:r>
              <a:rPr lang="en-US" dirty="0"/>
              <a:t>("select * from </a:t>
            </a:r>
            <a:r>
              <a:rPr lang="en-US" dirty="0" err="1"/>
              <a:t>emp</a:t>
            </a:r>
            <a:r>
              <a:rPr lang="en-US" dirty="0"/>
              <a:t>");    </a:t>
            </a:r>
          </a:p>
          <a:p>
            <a:pPr marL="0" indent="0">
              <a:buNone/>
            </a:pPr>
            <a:r>
              <a:rPr lang="en-US" dirty="0"/>
              <a:t>while(</a:t>
            </a:r>
            <a:r>
              <a:rPr lang="en-US" dirty="0" err="1"/>
              <a:t>rs.next</a:t>
            </a:r>
            <a:r>
              <a:rPr lang="en-US" dirty="0"/>
              <a:t>())  </a:t>
            </a:r>
          </a:p>
          <a:p>
            <a:pPr marL="0" indent="0">
              <a:buNone/>
            </a:pPr>
            <a:r>
              <a:rPr lang="en-US" dirty="0" err="1"/>
              <a:t>System.out.println</a:t>
            </a:r>
            <a:r>
              <a:rPr lang="en-US" dirty="0"/>
              <a:t>(</a:t>
            </a:r>
            <a:r>
              <a:rPr lang="en-US" dirty="0" err="1"/>
              <a:t>rs.getInt</a:t>
            </a:r>
            <a:r>
              <a:rPr lang="en-US" dirty="0"/>
              <a:t>(1)+"  "+</a:t>
            </a:r>
            <a:r>
              <a:rPr lang="en-US" dirty="0" err="1"/>
              <a:t>rs.getString</a:t>
            </a:r>
            <a:r>
              <a:rPr lang="en-US" dirty="0"/>
              <a:t>(2)+"  "+</a:t>
            </a:r>
            <a:r>
              <a:rPr lang="en-US" dirty="0" err="1"/>
              <a:t>rs.getString</a:t>
            </a:r>
            <a:r>
              <a:rPr lang="en-US" dirty="0"/>
              <a:t>(3));    </a:t>
            </a:r>
          </a:p>
          <a:p>
            <a:pPr marL="0" indent="0">
              <a:buNone/>
            </a:pPr>
            <a:r>
              <a:rPr lang="en-US" dirty="0" err="1"/>
              <a:t>con.close</a:t>
            </a:r>
            <a:r>
              <a:rPr lang="en-US" dirty="0"/>
              <a:t>();    </a:t>
            </a:r>
          </a:p>
          <a:p>
            <a:pPr marL="0" indent="0">
              <a:buNone/>
            </a:pPr>
            <a:r>
              <a:rPr lang="en-US" dirty="0"/>
              <a:t>}catch(Exception e){ </a:t>
            </a:r>
          </a:p>
          <a:p>
            <a:pPr marL="0" indent="0">
              <a:buNone/>
            </a:pPr>
            <a:r>
              <a:rPr lang="en-US" dirty="0" err="1"/>
              <a:t>System.out.println</a:t>
            </a:r>
            <a:r>
              <a:rPr lang="en-US" dirty="0"/>
              <a:t>(e);</a:t>
            </a:r>
          </a:p>
          <a:p>
            <a:pPr marL="0" indent="0">
              <a:buNone/>
            </a:pPr>
            <a:r>
              <a:rPr lang="en-US" dirty="0"/>
              <a:t>}    }  }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
        <p:nvSpPr>
          <p:cNvPr id="2" name="Footer Placeholder 1"/>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16799121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304800"/>
            <a:ext cx="8305800" cy="5715000"/>
          </a:xfrm>
        </p:spPr>
        <p:txBody>
          <a:bodyPr/>
          <a:lstStyle/>
          <a:p>
            <a:pPr marL="0" indent="0">
              <a:buNone/>
            </a:pPr>
            <a:r>
              <a:rPr lang="en-US" dirty="0"/>
              <a:t>To connect java application with the </a:t>
            </a:r>
            <a:r>
              <a:rPr lang="en-US" dirty="0" err="1"/>
              <a:t>mysql</a:t>
            </a:r>
            <a:r>
              <a:rPr lang="en-US" dirty="0"/>
              <a:t> database mysqlconnector.jar file is required to be loaded. </a:t>
            </a:r>
          </a:p>
          <a:p>
            <a:pPr marL="0" indent="0">
              <a:buNone/>
            </a:pPr>
            <a:r>
              <a:rPr lang="en-US" b="1" dirty="0">
                <a:hlinkClick r:id="rId2"/>
              </a:rPr>
              <a:t>download the jar file mysql-connector.jar</a:t>
            </a:r>
            <a:r>
              <a:rPr lang="en-US" b="1" dirty="0"/>
              <a:t> </a:t>
            </a:r>
          </a:p>
          <a:p>
            <a:pPr marL="0" indent="0">
              <a:buNone/>
            </a:pPr>
            <a:r>
              <a:rPr lang="en-US" b="1" dirty="0"/>
              <a:t>Two ways to load the jar file:</a:t>
            </a:r>
          </a:p>
          <a:p>
            <a:r>
              <a:rPr lang="en-US" dirty="0"/>
              <a:t>paste the mysqlconnector.jar file in </a:t>
            </a:r>
            <a:r>
              <a:rPr lang="en-US" dirty="0" err="1"/>
              <a:t>jre</a:t>
            </a:r>
            <a:r>
              <a:rPr lang="en-US" dirty="0"/>
              <a:t>/lib/</a:t>
            </a:r>
            <a:r>
              <a:rPr lang="en-US" dirty="0" err="1"/>
              <a:t>ext</a:t>
            </a:r>
            <a:r>
              <a:rPr lang="en-US" dirty="0"/>
              <a:t> folder</a:t>
            </a:r>
          </a:p>
          <a:p>
            <a:r>
              <a:rPr lang="en-US" dirty="0"/>
              <a:t>set </a:t>
            </a:r>
            <a:r>
              <a:rPr lang="en-US" dirty="0" err="1"/>
              <a:t>classpath</a:t>
            </a: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
        <p:nvSpPr>
          <p:cNvPr id="2" name="Footer Placeholder 1"/>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39255562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381000"/>
            <a:ext cx="8305800" cy="5638800"/>
          </a:xfrm>
        </p:spPr>
        <p:txBody>
          <a:bodyPr/>
          <a:lstStyle/>
          <a:p>
            <a:pPr marL="0" indent="0">
              <a:buNone/>
            </a:pPr>
            <a:r>
              <a:rPr lang="en-US" b="1" dirty="0"/>
              <a:t>1) paste the mysqlconnector.jar file in JRE/lib/</a:t>
            </a:r>
            <a:r>
              <a:rPr lang="en-US" b="1" dirty="0" err="1"/>
              <a:t>ext</a:t>
            </a:r>
            <a:r>
              <a:rPr lang="en-US" b="1" dirty="0"/>
              <a:t> folder:</a:t>
            </a:r>
          </a:p>
          <a:p>
            <a:pPr marL="0" indent="0">
              <a:buNone/>
            </a:pPr>
            <a:r>
              <a:rPr lang="en-US" dirty="0"/>
              <a:t>Download the mysqlconnector.jar file. Go to </a:t>
            </a:r>
            <a:r>
              <a:rPr lang="en-US" dirty="0" err="1"/>
              <a:t>jre</a:t>
            </a:r>
            <a:r>
              <a:rPr lang="en-US" dirty="0"/>
              <a:t>/lib/</a:t>
            </a:r>
            <a:r>
              <a:rPr lang="en-US" dirty="0" err="1"/>
              <a:t>ext</a:t>
            </a:r>
            <a:r>
              <a:rPr lang="en-US" dirty="0"/>
              <a:t> folder and paste the jar file here.</a:t>
            </a:r>
          </a:p>
          <a:p>
            <a:pPr marL="0" indent="0">
              <a:buNone/>
            </a:pPr>
            <a:r>
              <a:rPr lang="en-US" b="1" dirty="0"/>
              <a:t>2) set </a:t>
            </a:r>
            <a:r>
              <a:rPr lang="en-US" b="1" dirty="0" err="1"/>
              <a:t>classpath</a:t>
            </a:r>
            <a:r>
              <a:rPr lang="en-US" b="1" dirty="0"/>
              <a:t>:</a:t>
            </a:r>
          </a:p>
          <a:p>
            <a:pPr marL="0" indent="0">
              <a:buNone/>
            </a:pPr>
            <a:r>
              <a:rPr lang="en-US" dirty="0"/>
              <a:t>There are two ways to set the </a:t>
            </a:r>
            <a:r>
              <a:rPr lang="en-US" dirty="0" err="1"/>
              <a:t>classpath</a:t>
            </a:r>
            <a:r>
              <a:rPr lang="en-US" dirty="0"/>
              <a:t>: </a:t>
            </a:r>
          </a:p>
          <a:p>
            <a:r>
              <a:rPr lang="en-US" dirty="0"/>
              <a:t>temporary</a:t>
            </a:r>
          </a:p>
          <a:p>
            <a:r>
              <a:rPr lang="en-US" dirty="0" err="1"/>
              <a:t>permament</a:t>
            </a: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
        <p:nvSpPr>
          <p:cNvPr id="2" name="Footer Placeholder 1"/>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2871749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457200"/>
            <a:ext cx="8534400" cy="5562600"/>
          </a:xfrm>
        </p:spPr>
        <p:txBody>
          <a:bodyPr/>
          <a:lstStyle/>
          <a:p>
            <a:pPr marL="0" indent="0">
              <a:buNone/>
            </a:pPr>
            <a:r>
              <a:rPr lang="en-US" b="1" dirty="0"/>
              <a:t>How to set the temporary </a:t>
            </a:r>
            <a:r>
              <a:rPr lang="en-US" b="1" dirty="0" err="1"/>
              <a:t>classpath</a:t>
            </a:r>
            <a:endParaRPr lang="en-US" b="1" dirty="0"/>
          </a:p>
          <a:p>
            <a:pPr marL="0" indent="0">
              <a:buNone/>
            </a:pPr>
            <a:r>
              <a:rPr lang="en-US" dirty="0"/>
              <a:t>open </a:t>
            </a:r>
            <a:r>
              <a:rPr lang="en-US" dirty="0" err="1"/>
              <a:t>comman</a:t>
            </a:r>
            <a:r>
              <a:rPr lang="en-US" dirty="0"/>
              <a:t> prompt and write: </a:t>
            </a:r>
          </a:p>
          <a:p>
            <a:pPr marL="0" indent="0">
              <a:buNone/>
            </a:pPr>
            <a:r>
              <a:rPr lang="en-US" b="1" dirty="0"/>
              <a:t>C:&gt;set </a:t>
            </a:r>
            <a:r>
              <a:rPr lang="en-US" b="1" dirty="0" err="1"/>
              <a:t>classpath</a:t>
            </a:r>
            <a:r>
              <a:rPr lang="en-US" b="1" dirty="0"/>
              <a:t>=c:\folder\mysql-connector-java-5.0.8-bin.jar;.;</a:t>
            </a:r>
            <a:r>
              <a:rPr lang="en-US" dirty="0"/>
              <a:t>  </a:t>
            </a:r>
          </a:p>
          <a:p>
            <a:pPr marL="0" indent="0">
              <a:buNone/>
            </a:pPr>
            <a:r>
              <a:rPr lang="en-US" b="1" dirty="0"/>
              <a:t>How to set the permanent </a:t>
            </a:r>
            <a:r>
              <a:rPr lang="en-US" b="1" dirty="0" err="1"/>
              <a:t>classpath</a:t>
            </a:r>
            <a:endParaRPr lang="en-US" b="1" dirty="0"/>
          </a:p>
          <a:p>
            <a:pPr marL="0" indent="0">
              <a:buNone/>
            </a:pPr>
            <a:r>
              <a:rPr lang="en-US" dirty="0"/>
              <a:t>Go to environment variable then click on new tab. In variable name write </a:t>
            </a:r>
            <a:r>
              <a:rPr lang="en-US" b="1" dirty="0" err="1"/>
              <a:t>classpath</a:t>
            </a:r>
            <a:r>
              <a:rPr lang="en-US" dirty="0"/>
              <a:t> and in variable value paste the path to the mysqlconnector.jar file by appending mysqlconnector.jar;.; as C:\folder\mysql-connector-java-5.0.8-bin.jar;.;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
        <p:nvSpPr>
          <p:cNvPr id="2" name="Footer Placeholder 1"/>
          <p:cNvSpPr>
            <a:spLocks noGrp="1"/>
          </p:cNvSpPr>
          <p:nvPr>
            <p:ph type="ftr" sz="quarter" idx="11"/>
          </p:nvPr>
        </p:nvSpPr>
        <p:spPr/>
        <p:txBody>
          <a:bodyPr/>
          <a:lstStyle/>
          <a:p>
            <a:r>
              <a:rPr lang="en-US"/>
              <a:t>Department of Computer Science &amp; Engineering, Silicon University</a:t>
            </a:r>
          </a:p>
        </p:txBody>
      </p:sp>
    </p:spTree>
    <p:extLst>
      <p:ext uri="{BB962C8B-B14F-4D97-AF65-F5344CB8AC3E}">
        <p14:creationId xmlns:p14="http://schemas.microsoft.com/office/powerpoint/2010/main" val="12788420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A458A9E-70B8-F926-6D64-355001944D13}"/>
              </a:ext>
            </a:extLst>
          </p:cNvPr>
          <p:cNvSpPr/>
          <p:nvPr/>
        </p:nvSpPr>
        <p:spPr>
          <a:xfrm>
            <a:off x="980636" y="2405152"/>
            <a:ext cx="7182736" cy="1862048"/>
          </a:xfrm>
          <a:prstGeom prst="rect">
            <a:avLst/>
          </a:prstGeom>
          <a:noFill/>
        </p:spPr>
        <p:txBody>
          <a:bodyPr wrap="none">
            <a:spAutoFit/>
          </a:bodyPr>
          <a:lstStyle/>
          <a:p>
            <a:pPr algn="ctr">
              <a:defRPr/>
            </a:pPr>
            <a:r>
              <a:rPr lang="en-US" sz="115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Thank you</a:t>
            </a:r>
          </a:p>
        </p:txBody>
      </p:sp>
      <p:sp>
        <p:nvSpPr>
          <p:cNvPr id="14339" name="Slide Number Placeholder 4">
            <a:extLst>
              <a:ext uri="{FF2B5EF4-FFF2-40B4-BE49-F238E27FC236}">
                <a16:creationId xmlns:a16="http://schemas.microsoft.com/office/drawing/2014/main" id="{245EF913-27AC-08EF-FA2A-823F47C762BD}"/>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353BB19-AD61-44A4-9D94-32E0A279B02B}" type="slidenum">
              <a:rPr lang="en-US" altLang="en-US" sz="1400" smtClean="0">
                <a:solidFill>
                  <a:srgbClr val="FFFFFF"/>
                </a:solidFill>
                <a:latin typeface="Franklin Gothic Book" panose="020B0503020102020204" pitchFamily="34" charset="0"/>
              </a:rPr>
              <a:pPr/>
              <a:t>33</a:t>
            </a:fld>
            <a:endParaRPr lang="en-US" altLang="en-US" sz="1400">
              <a:solidFill>
                <a:srgbClr val="FFFFFF"/>
              </a:solidFill>
              <a:latin typeface="Franklin Gothic Book" panose="020B0503020102020204"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99</TotalTime>
  <Words>2278</Words>
  <Application>Microsoft Office PowerPoint</Application>
  <PresentationFormat>On-screen Show (4:3)</PresentationFormat>
  <Paragraphs>239</Paragraphs>
  <Slides>33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Franklin Gothic Book</vt:lpstr>
      <vt:lpstr>Perpetua</vt:lpstr>
      <vt:lpstr>Wingdings 2</vt:lpstr>
      <vt:lpstr>Equity</vt:lpstr>
      <vt:lpstr>JDBC Part- I</vt:lpstr>
      <vt:lpstr>PowerPoint Presentation</vt:lpstr>
      <vt:lpstr>Why use JDBC</vt:lpstr>
      <vt:lpstr>What is API</vt:lpstr>
      <vt:lpstr>JDBC Driver</vt:lpstr>
      <vt:lpstr>JDBC-ODBC bridge driver</vt:lpstr>
      <vt:lpstr>PowerPoint Presentation</vt:lpstr>
      <vt:lpstr>Native-API driver</vt:lpstr>
      <vt:lpstr>PowerPoint Presentation</vt:lpstr>
      <vt:lpstr>Network Protocol driver</vt:lpstr>
      <vt:lpstr>PowerPoint Presentation</vt:lpstr>
      <vt:lpstr>Thin driver</vt:lpstr>
      <vt:lpstr>PowerPoint Presentation</vt:lpstr>
      <vt:lpstr>Steps to connect to the database</vt:lpstr>
      <vt:lpstr>Register the driver class</vt:lpstr>
      <vt:lpstr>Create the connection object</vt:lpstr>
      <vt:lpstr>Create the Statement object</vt:lpstr>
      <vt:lpstr>Execute the query</vt:lpstr>
      <vt:lpstr>Close the connection object</vt:lpstr>
      <vt:lpstr>Example to connect to the Oracle database</vt:lpstr>
      <vt:lpstr>PowerPoint Presentation</vt:lpstr>
      <vt:lpstr>PowerPoint Presentation</vt:lpstr>
      <vt:lpstr>PowerPoint Presentation</vt:lpstr>
      <vt:lpstr>PowerPoint Presentation</vt:lpstr>
      <vt:lpstr>PowerPoint Presentation</vt:lpstr>
      <vt:lpstr>PowerPoint Presentation</vt:lpstr>
      <vt:lpstr>Example to connect to the mysql database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JDBC</dc:title>
  <dc:creator>Rajesh</dc:creator>
  <cp:lastModifiedBy>dr.rajeshkojha@gmail.com</cp:lastModifiedBy>
  <cp:revision>48</cp:revision>
  <dcterms:created xsi:type="dcterms:W3CDTF">2006-08-16T00:00:00Z</dcterms:created>
  <dcterms:modified xsi:type="dcterms:W3CDTF">2025-11-18T10:18:10Z</dcterms:modified>
</cp:coreProperties>
</file>