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62" r:id="rId6"/>
    <p:sldId id="263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C0A4C-BA58-4AFD-B6D7-13B34A250322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253BA4-0240-4F93-9398-BB3F734164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71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253BA4-0240-4F93-9398-BB3F734164C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6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316F9-BC1E-43F6-A65B-32A3FB5C699F}" type="datetime1">
              <a:rPr lang="en-US" smtClean="0"/>
              <a:t>11/18/2025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86052-2688-4F04-80C9-8D4010588893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B0A1-E556-4582-B7FA-A9D5CD12E45E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89F9-40C1-430F-A025-31AFC99D3300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99BF6-359C-499D-A8FD-EC9720326AAF}" type="datetime1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9F332-5C2C-4CA0-A964-F5528ABD87E0}" type="datetime1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3563E-C775-4231-87F2-42A99FC7C820}" type="datetime1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6DE68-BAD7-40E9-B92B-92222E34594A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74F99-1989-4F99-A1DA-A26C1C67C48F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4D34B-AFE9-4FC9-97F0-396DF933DFD9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D157B-1855-4BFD-BC03-587CC956EE10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0D6EDB8-946A-4A2D-911D-8EA521EF2E3C}" type="datetime1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JDBC PART-II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304800" y="6096000"/>
            <a:ext cx="2057400" cy="38100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0" indent="0" algn="ctr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None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70"/>
              </a:spcBef>
              <a:buClr>
                <a:schemeClr val="accent2"/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Prepared by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800600" y="6019800"/>
            <a:ext cx="4038600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/>
              <a:t>Rajesh Kumar Ojha</a:t>
            </a:r>
          </a:p>
          <a:p>
            <a:pPr algn="l"/>
            <a:r>
              <a:rPr lang="en-US" sz="1800" dirty="0"/>
              <a:t>Asst. Prof., CSE, Silicon University</a:t>
            </a:r>
          </a:p>
          <a:p>
            <a:pPr algn="l"/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FD1CFA-6B29-0FC1-3DB1-3FB88F1B2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900" y="3519951"/>
            <a:ext cx="3124200" cy="163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489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5635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Connectivity with Access without DSN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914400"/>
            <a:ext cx="8153400" cy="5105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There are two ways to connect java application with the access database.</a:t>
            </a:r>
          </a:p>
          <a:p>
            <a:r>
              <a:rPr lang="en-US" dirty="0"/>
              <a:t>Without DSN (Data Source Name)</a:t>
            </a:r>
          </a:p>
          <a:p>
            <a:r>
              <a:rPr lang="en-US" dirty="0"/>
              <a:t>With DSN</a:t>
            </a:r>
          </a:p>
          <a:p>
            <a:pPr marL="0" indent="0">
              <a:buNone/>
            </a:pPr>
            <a:r>
              <a:rPr lang="en-US" dirty="0"/>
              <a:t>Java is mostly used with Oracle, </a:t>
            </a:r>
            <a:r>
              <a:rPr lang="en-US" dirty="0" err="1"/>
              <a:t>mysql</a:t>
            </a:r>
            <a:r>
              <a:rPr lang="en-US" dirty="0"/>
              <a:t>, or DB2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</p:spTree>
    <p:extLst>
      <p:ext uri="{BB962C8B-B14F-4D97-AF65-F5344CB8AC3E}">
        <p14:creationId xmlns:p14="http://schemas.microsoft.com/office/powerpoint/2010/main" val="271510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534400" cy="563562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Connect Java Application with Access File without DSN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838200"/>
            <a:ext cx="8305800" cy="5181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import </a:t>
            </a:r>
            <a:r>
              <a:rPr lang="en-US" dirty="0" err="1"/>
              <a:t>java.sql</a:t>
            </a:r>
            <a:r>
              <a:rPr lang="en-US" dirty="0"/>
              <a:t>.*;  </a:t>
            </a:r>
          </a:p>
          <a:p>
            <a:pPr marL="0" indent="0">
              <a:buNone/>
            </a:pPr>
            <a:r>
              <a:rPr lang="en-US" dirty="0"/>
              <a:t>class Test{  </a:t>
            </a:r>
          </a:p>
          <a:p>
            <a:pPr marL="0" indent="0">
              <a:buNone/>
            </a:pPr>
            <a:r>
              <a:rPr lang="en-US" dirty="0"/>
              <a:t>public static void main(String </a:t>
            </a:r>
            <a:r>
              <a:rPr lang="en-US" dirty="0" err="1"/>
              <a:t>ar</a:t>
            </a:r>
            <a:r>
              <a:rPr lang="en-US" dirty="0"/>
              <a:t>[]){   </a:t>
            </a:r>
          </a:p>
          <a:p>
            <a:pPr marL="0" indent="0">
              <a:buNone/>
            </a:pPr>
            <a:r>
              <a:rPr lang="en-US" dirty="0"/>
              <a:t>try{     </a:t>
            </a:r>
          </a:p>
          <a:p>
            <a:pPr marL="0" indent="0">
              <a:buNone/>
            </a:pPr>
            <a:r>
              <a:rPr lang="en-US" dirty="0"/>
              <a:t>String database="student.mdb";</a:t>
            </a:r>
          </a:p>
          <a:p>
            <a:pPr marL="0" indent="0">
              <a:buNone/>
            </a:pPr>
            <a:r>
              <a:rPr lang="en-US" dirty="0"/>
              <a:t>//Here database exists in the current directory       </a:t>
            </a:r>
          </a:p>
          <a:p>
            <a:pPr marL="0" indent="0">
              <a:buNone/>
            </a:pPr>
            <a:r>
              <a:rPr lang="en-US" dirty="0"/>
              <a:t>String </a:t>
            </a:r>
            <a:r>
              <a:rPr lang="en-US" dirty="0" err="1"/>
              <a:t>url</a:t>
            </a:r>
            <a:r>
              <a:rPr lang="en-US" dirty="0"/>
              <a:t>="</a:t>
            </a:r>
            <a:r>
              <a:rPr lang="en-US" dirty="0" err="1"/>
              <a:t>jdbc:odbc:Driver</a:t>
            </a:r>
            <a:r>
              <a:rPr lang="en-US" dirty="0"/>
              <a:t>={Microsoft Access Driver (*.</a:t>
            </a:r>
            <a:r>
              <a:rPr lang="en-US" dirty="0" err="1"/>
              <a:t>mdb</a:t>
            </a:r>
            <a:r>
              <a:rPr lang="en-US" dirty="0"/>
              <a:t>)}; DBQ=" + database + ";</a:t>
            </a:r>
            <a:r>
              <a:rPr lang="en-US" dirty="0" err="1"/>
              <a:t>DriverID</a:t>
            </a:r>
            <a:r>
              <a:rPr lang="en-US" dirty="0"/>
              <a:t>=22;READONLY=true";       </a:t>
            </a:r>
          </a:p>
          <a:p>
            <a:pPr marL="0" indent="0">
              <a:buNone/>
            </a:pPr>
            <a:r>
              <a:rPr lang="en-US" dirty="0" err="1"/>
              <a:t>Class.forName</a:t>
            </a:r>
            <a:r>
              <a:rPr lang="en-US" dirty="0"/>
              <a:t>("</a:t>
            </a:r>
            <a:r>
              <a:rPr lang="en-US" dirty="0" err="1"/>
              <a:t>sun.jdbc.odbc.JdbcOdbcDriver</a:t>
            </a:r>
            <a:r>
              <a:rPr lang="en-US" dirty="0"/>
              <a:t>");     </a:t>
            </a:r>
          </a:p>
          <a:p>
            <a:pPr marL="0" indent="0">
              <a:buNone/>
            </a:pPr>
            <a:r>
              <a:rPr lang="en-US" dirty="0"/>
              <a:t>Connection c=</a:t>
            </a:r>
            <a:r>
              <a:rPr lang="en-US" dirty="0" err="1"/>
              <a:t>DriverManager.getConnection</a:t>
            </a:r>
            <a:r>
              <a:rPr lang="en-US" dirty="0"/>
              <a:t>(</a:t>
            </a:r>
            <a:r>
              <a:rPr lang="en-US" dirty="0" err="1"/>
              <a:t>url</a:t>
            </a:r>
            <a:r>
              <a:rPr lang="en-US" dirty="0"/>
              <a:t>);     </a:t>
            </a:r>
          </a:p>
          <a:p>
            <a:pPr marL="0" indent="0">
              <a:buNone/>
            </a:pPr>
            <a:r>
              <a:rPr lang="en-US" dirty="0"/>
              <a:t>Statement </a:t>
            </a:r>
            <a:r>
              <a:rPr lang="en-US" dirty="0" err="1"/>
              <a:t>st</a:t>
            </a:r>
            <a:r>
              <a:rPr lang="en-US" dirty="0"/>
              <a:t>=</a:t>
            </a:r>
            <a:r>
              <a:rPr lang="en-US" dirty="0" err="1"/>
              <a:t>c.createStatement</a:t>
            </a:r>
            <a:r>
              <a:rPr lang="en-US" dirty="0"/>
              <a:t>();     </a:t>
            </a:r>
          </a:p>
          <a:p>
            <a:pPr marL="0" indent="0">
              <a:buNone/>
            </a:pPr>
            <a:r>
              <a:rPr lang="en-US" dirty="0" err="1"/>
              <a:t>ResultSet</a:t>
            </a:r>
            <a:r>
              <a:rPr lang="en-US" dirty="0"/>
              <a:t> </a:t>
            </a:r>
            <a:r>
              <a:rPr lang="en-US" dirty="0" err="1"/>
              <a:t>rs</a:t>
            </a:r>
            <a:r>
              <a:rPr lang="en-US" dirty="0"/>
              <a:t>=</a:t>
            </a:r>
            <a:r>
              <a:rPr lang="en-US" dirty="0" err="1"/>
              <a:t>st.executeQuery</a:t>
            </a:r>
            <a:r>
              <a:rPr lang="en-US" dirty="0"/>
              <a:t>("select * from login"); 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</p:spTree>
    <p:extLst>
      <p:ext uri="{BB962C8B-B14F-4D97-AF65-F5344CB8AC3E}">
        <p14:creationId xmlns:p14="http://schemas.microsoft.com/office/powerpoint/2010/main" val="4005346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563562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Example to Connect Java Application with Access File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838200"/>
            <a:ext cx="83058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while(</a:t>
            </a:r>
            <a:r>
              <a:rPr lang="en-US" dirty="0" err="1"/>
              <a:t>rs.next</a:t>
            </a:r>
            <a:r>
              <a:rPr lang="en-US" dirty="0"/>
              <a:t>()){     </a:t>
            </a:r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rs.getString</a:t>
            </a:r>
            <a:r>
              <a:rPr lang="en-US" dirty="0"/>
              <a:t>(1));     </a:t>
            </a:r>
          </a:p>
          <a:p>
            <a:pPr marL="0" indent="0">
              <a:buNone/>
            </a:pPr>
            <a:r>
              <a:rPr lang="en-US" dirty="0"/>
              <a:t>}    </a:t>
            </a:r>
          </a:p>
          <a:p>
            <a:pPr marL="0" indent="0">
              <a:buNone/>
            </a:pPr>
            <a:r>
              <a:rPr lang="en-US" dirty="0"/>
              <a:t>}catch(Exception </a:t>
            </a:r>
            <a:r>
              <a:rPr lang="en-US" dirty="0" err="1"/>
              <a:t>ee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ee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}    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 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</p:spTree>
    <p:extLst>
      <p:ext uri="{BB962C8B-B14F-4D97-AF65-F5344CB8AC3E}">
        <p14:creationId xmlns:p14="http://schemas.microsoft.com/office/powerpoint/2010/main" val="3776262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563562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Connect Java Application with Access File With DSN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838200"/>
            <a:ext cx="83058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import </a:t>
            </a:r>
            <a:r>
              <a:rPr lang="en-US" dirty="0" err="1"/>
              <a:t>java.sql</a:t>
            </a:r>
            <a:r>
              <a:rPr lang="en-US" dirty="0"/>
              <a:t>.*;  </a:t>
            </a:r>
          </a:p>
          <a:p>
            <a:pPr marL="0" indent="0">
              <a:buNone/>
            </a:pPr>
            <a:r>
              <a:rPr lang="en-US" dirty="0"/>
              <a:t>class Test{ </a:t>
            </a:r>
          </a:p>
          <a:p>
            <a:pPr marL="0" indent="0">
              <a:buNone/>
            </a:pPr>
            <a:r>
              <a:rPr lang="en-US" dirty="0"/>
              <a:t> public static void main(String </a:t>
            </a:r>
            <a:r>
              <a:rPr lang="en-US" dirty="0" err="1"/>
              <a:t>ar</a:t>
            </a:r>
            <a:r>
              <a:rPr lang="en-US" dirty="0"/>
              <a:t>[]){   </a:t>
            </a:r>
          </a:p>
          <a:p>
            <a:pPr marL="0" indent="0">
              <a:buNone/>
            </a:pPr>
            <a:r>
              <a:rPr lang="en-US" dirty="0"/>
              <a:t>try{     </a:t>
            </a:r>
          </a:p>
          <a:p>
            <a:pPr marL="0" indent="0">
              <a:buNone/>
            </a:pPr>
            <a:r>
              <a:rPr lang="en-US" dirty="0"/>
              <a:t>String </a:t>
            </a:r>
            <a:r>
              <a:rPr lang="en-US" dirty="0" err="1"/>
              <a:t>url</a:t>
            </a:r>
            <a:r>
              <a:rPr lang="en-US" dirty="0"/>
              <a:t>="</a:t>
            </a:r>
            <a:r>
              <a:rPr lang="en-US" dirty="0" err="1"/>
              <a:t>jdbc:odbc:mydsn</a:t>
            </a:r>
            <a:r>
              <a:rPr lang="en-US" dirty="0"/>
              <a:t>";     </a:t>
            </a:r>
          </a:p>
          <a:p>
            <a:pPr marL="0" indent="0">
              <a:buNone/>
            </a:pPr>
            <a:r>
              <a:rPr lang="en-US" dirty="0" err="1"/>
              <a:t>Class.forName</a:t>
            </a:r>
            <a:r>
              <a:rPr lang="en-US" dirty="0"/>
              <a:t>("</a:t>
            </a:r>
            <a:r>
              <a:rPr lang="en-US" dirty="0" err="1"/>
              <a:t>sun.jdbc.odbc.JdbcOdbcDriver</a:t>
            </a:r>
            <a:r>
              <a:rPr lang="en-US" dirty="0"/>
              <a:t>");     </a:t>
            </a:r>
          </a:p>
          <a:p>
            <a:pPr marL="0" indent="0">
              <a:buNone/>
            </a:pPr>
            <a:r>
              <a:rPr lang="en-US" dirty="0"/>
              <a:t>Connection c=</a:t>
            </a:r>
            <a:r>
              <a:rPr lang="en-US" dirty="0" err="1"/>
              <a:t>DriverManager.getConnection</a:t>
            </a:r>
            <a:r>
              <a:rPr lang="en-US" dirty="0"/>
              <a:t>(</a:t>
            </a:r>
            <a:r>
              <a:rPr lang="en-US" dirty="0" err="1"/>
              <a:t>url</a:t>
            </a:r>
            <a:r>
              <a:rPr lang="en-US" dirty="0"/>
              <a:t>);     </a:t>
            </a:r>
          </a:p>
          <a:p>
            <a:pPr marL="0" indent="0">
              <a:buNone/>
            </a:pPr>
            <a:r>
              <a:rPr lang="en-US" dirty="0"/>
              <a:t>Statement </a:t>
            </a:r>
            <a:r>
              <a:rPr lang="en-US" dirty="0" err="1"/>
              <a:t>st</a:t>
            </a:r>
            <a:r>
              <a:rPr lang="en-US" dirty="0"/>
              <a:t>=</a:t>
            </a:r>
            <a:r>
              <a:rPr lang="en-US" dirty="0" err="1"/>
              <a:t>c.createStatement</a:t>
            </a:r>
            <a:r>
              <a:rPr lang="en-US" dirty="0"/>
              <a:t>();     </a:t>
            </a:r>
          </a:p>
          <a:p>
            <a:pPr marL="0" indent="0">
              <a:buNone/>
            </a:pPr>
            <a:r>
              <a:rPr lang="en-US" dirty="0" err="1"/>
              <a:t>ResultSet</a:t>
            </a:r>
            <a:r>
              <a:rPr lang="en-US" dirty="0"/>
              <a:t> </a:t>
            </a:r>
            <a:r>
              <a:rPr lang="en-US" dirty="0" err="1"/>
              <a:t>rs</a:t>
            </a:r>
            <a:r>
              <a:rPr lang="en-US" dirty="0"/>
              <a:t>=</a:t>
            </a:r>
            <a:r>
              <a:rPr lang="en-US" dirty="0" err="1"/>
              <a:t>st.executeQuery</a:t>
            </a:r>
            <a:r>
              <a:rPr lang="en-US" dirty="0"/>
              <a:t>("select * from login"); 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</p:spTree>
    <p:extLst>
      <p:ext uri="{BB962C8B-B14F-4D97-AF65-F5344CB8AC3E}">
        <p14:creationId xmlns:p14="http://schemas.microsoft.com/office/powerpoint/2010/main" val="463490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563562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Connect Java Application with Access File With DSN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838200"/>
            <a:ext cx="83058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 while(</a:t>
            </a:r>
            <a:r>
              <a:rPr lang="en-US" dirty="0" err="1"/>
              <a:t>rs.next</a:t>
            </a:r>
            <a:r>
              <a:rPr lang="en-US" dirty="0"/>
              <a:t>()){      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rs.getString</a:t>
            </a:r>
            <a:r>
              <a:rPr lang="en-US" dirty="0"/>
              <a:t>(1));     </a:t>
            </a:r>
          </a:p>
          <a:p>
            <a:pPr marL="0" indent="0">
              <a:buNone/>
            </a:pPr>
            <a:r>
              <a:rPr lang="en-US" dirty="0"/>
              <a:t>}    </a:t>
            </a:r>
          </a:p>
          <a:p>
            <a:pPr marL="0" indent="0">
              <a:buNone/>
            </a:pPr>
            <a:r>
              <a:rPr lang="en-US" dirty="0"/>
              <a:t>}catch(Exception </a:t>
            </a:r>
            <a:r>
              <a:rPr lang="en-US" dirty="0" err="1"/>
              <a:t>ee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ee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}    </a:t>
            </a:r>
          </a:p>
          <a:p>
            <a:pPr marL="0" indent="0">
              <a:buNone/>
            </a:pPr>
            <a:r>
              <a:rPr lang="en-US"/>
              <a:t>}</a:t>
            </a:r>
          </a:p>
          <a:p>
            <a:pPr marL="0" indent="0">
              <a:buNone/>
            </a:pPr>
            <a:r>
              <a:rPr lang="en-US"/>
              <a:t>}</a:t>
            </a:r>
            <a:r>
              <a:rPr lang="en-US" dirty="0"/>
              <a:t> 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</p:spTree>
    <p:extLst>
      <p:ext uri="{BB962C8B-B14F-4D97-AF65-F5344CB8AC3E}">
        <p14:creationId xmlns:p14="http://schemas.microsoft.com/office/powerpoint/2010/main" val="1326970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639762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chemeClr val="tx1"/>
                </a:solidFill>
              </a:rPr>
              <a:t>DriverManager</a:t>
            </a:r>
            <a:r>
              <a:rPr lang="en-US" b="1" dirty="0">
                <a:solidFill>
                  <a:schemeClr val="tx1"/>
                </a:solidFill>
              </a:rPr>
              <a:t> class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914400"/>
            <a:ext cx="8077200" cy="51054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DriverManager</a:t>
            </a:r>
            <a:r>
              <a:rPr lang="en-US" dirty="0"/>
              <a:t> class acts as an interface between user and drivers. </a:t>
            </a:r>
          </a:p>
          <a:p>
            <a:r>
              <a:rPr lang="en-US" dirty="0"/>
              <a:t>It keeps track of the drivers that are available and handles establishing a connection between a database and the appropriate driver. </a:t>
            </a:r>
          </a:p>
          <a:p>
            <a:r>
              <a:rPr lang="en-US" dirty="0"/>
              <a:t>The </a:t>
            </a:r>
            <a:r>
              <a:rPr lang="en-US" dirty="0" err="1"/>
              <a:t>DriverManager</a:t>
            </a:r>
            <a:r>
              <a:rPr lang="en-US" dirty="0"/>
              <a:t> class maintains a list of Driver classes that have registered themselves by calling the method </a:t>
            </a:r>
            <a:r>
              <a:rPr lang="en-US" dirty="0" err="1"/>
              <a:t>DriverManager.registerDriver</a:t>
            </a:r>
            <a:r>
              <a:rPr lang="en-US" dirty="0"/>
              <a:t>().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</p:spTree>
    <p:extLst>
      <p:ext uri="{BB962C8B-B14F-4D97-AF65-F5344CB8AC3E}">
        <p14:creationId xmlns:p14="http://schemas.microsoft.com/office/powerpoint/2010/main" val="532428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6397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Connection interface: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990600"/>
            <a:ext cx="8153400" cy="5029200"/>
          </a:xfrm>
        </p:spPr>
        <p:txBody>
          <a:bodyPr/>
          <a:lstStyle/>
          <a:p>
            <a:r>
              <a:rPr lang="en-US" dirty="0"/>
              <a:t>A Connection is the session between java application and database. </a:t>
            </a:r>
          </a:p>
          <a:p>
            <a:r>
              <a:rPr lang="en-US" dirty="0"/>
              <a:t>The Connection interface is a factory of Statement, </a:t>
            </a:r>
            <a:r>
              <a:rPr lang="en-US" dirty="0" err="1"/>
              <a:t>PreparedStatement</a:t>
            </a:r>
            <a:r>
              <a:rPr lang="en-US" dirty="0"/>
              <a:t>, and </a:t>
            </a:r>
            <a:r>
              <a:rPr lang="en-US" dirty="0" err="1"/>
              <a:t>DatabaseMetaData</a:t>
            </a:r>
            <a:r>
              <a:rPr lang="en-US" dirty="0"/>
              <a:t> i.e. object of Connection can be used to get the object of Statement and </a:t>
            </a:r>
            <a:r>
              <a:rPr lang="en-US" dirty="0" err="1"/>
              <a:t>DatabaseMetaData</a:t>
            </a:r>
            <a:r>
              <a:rPr lang="en-US" dirty="0"/>
              <a:t>. </a:t>
            </a:r>
          </a:p>
          <a:p>
            <a:r>
              <a:rPr lang="en-US" dirty="0"/>
              <a:t>The Connection interface provide many methods for transaction management like commit(),rollback()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</p:spTree>
    <p:extLst>
      <p:ext uri="{BB962C8B-B14F-4D97-AF65-F5344CB8AC3E}">
        <p14:creationId xmlns:p14="http://schemas.microsoft.com/office/powerpoint/2010/main" val="2851691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5635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Statement interface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838200"/>
            <a:ext cx="8153400" cy="51816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Statement interface</a:t>
            </a:r>
            <a:r>
              <a:rPr lang="en-US" dirty="0"/>
              <a:t> provides methods to execute queries with the database. </a:t>
            </a:r>
          </a:p>
          <a:p>
            <a:r>
              <a:rPr lang="en-US" dirty="0"/>
              <a:t>The statement interface is a factory of </a:t>
            </a:r>
            <a:r>
              <a:rPr lang="en-US" dirty="0" err="1"/>
              <a:t>ResultSet</a:t>
            </a:r>
            <a:r>
              <a:rPr lang="en-US" dirty="0"/>
              <a:t> i.e. it provides factory method to get the object of </a:t>
            </a:r>
            <a:r>
              <a:rPr lang="en-US" dirty="0" err="1"/>
              <a:t>ResultSet</a:t>
            </a:r>
            <a:r>
              <a:rPr lang="en-US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</p:spTree>
    <p:extLst>
      <p:ext uri="{BB962C8B-B14F-4D97-AF65-F5344CB8AC3E}">
        <p14:creationId xmlns:p14="http://schemas.microsoft.com/office/powerpoint/2010/main" val="3456976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5635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Example of Statement interface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import </a:t>
            </a:r>
            <a:r>
              <a:rPr lang="en-US" dirty="0" err="1"/>
              <a:t>java.sql</a:t>
            </a:r>
            <a:r>
              <a:rPr lang="en-US" dirty="0"/>
              <a:t>.*;  </a:t>
            </a:r>
          </a:p>
          <a:p>
            <a:pPr marL="0" indent="0">
              <a:buNone/>
            </a:pPr>
            <a:r>
              <a:rPr lang="en-US" dirty="0"/>
              <a:t>class </a:t>
            </a:r>
            <a:r>
              <a:rPr lang="en-US" dirty="0" err="1"/>
              <a:t>FetchRecord</a:t>
            </a:r>
            <a:r>
              <a:rPr lang="en-US" dirty="0"/>
              <a:t>{  </a:t>
            </a:r>
          </a:p>
          <a:p>
            <a:pPr marL="0" indent="0">
              <a:buNone/>
            </a:pPr>
            <a:r>
              <a:rPr lang="en-US" dirty="0"/>
              <a:t>public static void main(String </a:t>
            </a:r>
            <a:r>
              <a:rPr lang="en-US" dirty="0" err="1"/>
              <a:t>args</a:t>
            </a:r>
            <a:r>
              <a:rPr lang="en-US" dirty="0"/>
              <a:t>[])throws Exception{  </a:t>
            </a:r>
          </a:p>
          <a:p>
            <a:pPr marL="0" indent="0">
              <a:buNone/>
            </a:pPr>
            <a:r>
              <a:rPr lang="en-US" dirty="0" err="1"/>
              <a:t>Class.forName</a:t>
            </a:r>
            <a:r>
              <a:rPr lang="en-US" dirty="0"/>
              <a:t>("</a:t>
            </a:r>
            <a:r>
              <a:rPr lang="en-US" dirty="0" err="1"/>
              <a:t>oracle.jdbc.driver.OracleDriver</a:t>
            </a:r>
            <a:r>
              <a:rPr lang="en-US" dirty="0"/>
              <a:t>");  </a:t>
            </a:r>
          </a:p>
          <a:p>
            <a:pPr marL="0" indent="0">
              <a:buNone/>
            </a:pPr>
            <a:r>
              <a:rPr lang="en-US" dirty="0"/>
              <a:t>Connection con=</a:t>
            </a:r>
            <a:r>
              <a:rPr lang="en-US" dirty="0" err="1"/>
              <a:t>DriverManager.getConnection</a:t>
            </a:r>
            <a:r>
              <a:rPr lang="en-US" dirty="0"/>
              <a:t>("</a:t>
            </a:r>
            <a:r>
              <a:rPr lang="en-US" dirty="0" err="1"/>
              <a:t>jdbc:oracle:thin</a:t>
            </a:r>
            <a:r>
              <a:rPr lang="en-US" dirty="0"/>
              <a:t>:@localhost:1521:xe","system","oracle");  </a:t>
            </a:r>
          </a:p>
          <a:p>
            <a:pPr marL="0" indent="0">
              <a:buNone/>
            </a:pPr>
            <a:r>
              <a:rPr lang="en-US" dirty="0"/>
              <a:t>Statement </a:t>
            </a:r>
            <a:r>
              <a:rPr lang="en-US" dirty="0" err="1"/>
              <a:t>stmt</a:t>
            </a:r>
            <a:r>
              <a:rPr lang="en-US" dirty="0"/>
              <a:t>=</a:t>
            </a:r>
            <a:r>
              <a:rPr lang="en-US" dirty="0" err="1"/>
              <a:t>con.createStatement</a:t>
            </a:r>
            <a:r>
              <a:rPr lang="en-US" dirty="0"/>
              <a:t>();    </a:t>
            </a:r>
          </a:p>
          <a:p>
            <a:pPr marL="0" indent="0">
              <a:buNone/>
            </a:pPr>
            <a:r>
              <a:rPr lang="en-US" dirty="0"/>
              <a:t>//</a:t>
            </a:r>
            <a:r>
              <a:rPr lang="en-US" dirty="0" err="1"/>
              <a:t>stmt.executeUpdate</a:t>
            </a:r>
            <a:r>
              <a:rPr lang="en-US" dirty="0"/>
              <a:t>("insert into emp765 values(33,'Irfan',50000)");  </a:t>
            </a:r>
          </a:p>
          <a:p>
            <a:pPr marL="0" indent="0">
              <a:buNone/>
            </a:pPr>
            <a:r>
              <a:rPr lang="en-US" dirty="0"/>
              <a:t>//</a:t>
            </a:r>
            <a:r>
              <a:rPr lang="en-US" dirty="0" err="1"/>
              <a:t>int</a:t>
            </a:r>
            <a:r>
              <a:rPr lang="en-US" dirty="0"/>
              <a:t> result=</a:t>
            </a:r>
            <a:r>
              <a:rPr lang="en-US" dirty="0" err="1"/>
              <a:t>stmt.executeUpdate</a:t>
            </a:r>
            <a:r>
              <a:rPr lang="en-US" dirty="0"/>
              <a:t>("update emp765 set name='</a:t>
            </a:r>
            <a:r>
              <a:rPr lang="en-US" dirty="0" err="1"/>
              <a:t>Vimal</a:t>
            </a:r>
            <a:r>
              <a:rPr lang="en-US" dirty="0"/>
              <a:t>',salary=10000 where id=33");  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 result=</a:t>
            </a:r>
            <a:r>
              <a:rPr lang="en-US" dirty="0" err="1"/>
              <a:t>stmt.executeUpdate</a:t>
            </a:r>
            <a:r>
              <a:rPr lang="en-US" dirty="0"/>
              <a:t>("delete from emp765 where id=33");  </a:t>
            </a:r>
          </a:p>
          <a:p>
            <a:pPr marL="0" indent="0">
              <a:buNone/>
            </a:pP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(result+" records affected");  </a:t>
            </a:r>
          </a:p>
          <a:p>
            <a:pPr marL="0" indent="0">
              <a:buNone/>
            </a:pPr>
            <a:r>
              <a:rPr lang="en-US" dirty="0" err="1"/>
              <a:t>con.close</a:t>
            </a:r>
            <a:r>
              <a:rPr lang="en-US" dirty="0"/>
              <a:t>();  </a:t>
            </a:r>
          </a:p>
          <a:p>
            <a:pPr marL="0" indent="0">
              <a:buNone/>
            </a:pPr>
            <a:r>
              <a:rPr lang="en-US" dirty="0"/>
              <a:t>}} 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</p:spTree>
    <p:extLst>
      <p:ext uri="{BB962C8B-B14F-4D97-AF65-F5344CB8AC3E}">
        <p14:creationId xmlns:p14="http://schemas.microsoft.com/office/powerpoint/2010/main" val="4034016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563562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chemeClr val="tx1"/>
                </a:solidFill>
              </a:rPr>
              <a:t>ResultSet</a:t>
            </a:r>
            <a:r>
              <a:rPr lang="en-US" b="1" dirty="0">
                <a:solidFill>
                  <a:schemeClr val="tx1"/>
                </a:solidFill>
              </a:rPr>
              <a:t> interface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838200"/>
            <a:ext cx="8153400" cy="5638800"/>
          </a:xfrm>
        </p:spPr>
        <p:txBody>
          <a:bodyPr/>
          <a:lstStyle/>
          <a:p>
            <a:r>
              <a:rPr lang="en-US" dirty="0"/>
              <a:t>The object of </a:t>
            </a:r>
            <a:r>
              <a:rPr lang="en-US" dirty="0" err="1"/>
              <a:t>ResultSet</a:t>
            </a:r>
            <a:r>
              <a:rPr lang="en-US" dirty="0"/>
              <a:t> maintains a cursor pointing to a particular row of data. Initially, cursor points to before the first row.</a:t>
            </a:r>
          </a:p>
          <a:p>
            <a:r>
              <a:rPr lang="en-US" dirty="0"/>
              <a:t>But we can make this object to move forward and backward direction by passing either TYPE_SCROLL_INSENSITIVE or TYPE_SCROLL_SENSITIVE in </a:t>
            </a:r>
            <a:r>
              <a:rPr lang="en-US" dirty="0" err="1"/>
              <a:t>createStatement</a:t>
            </a:r>
            <a:r>
              <a:rPr lang="en-US" dirty="0"/>
              <a:t>(</a:t>
            </a:r>
            <a:r>
              <a:rPr lang="en-US" dirty="0" err="1"/>
              <a:t>int,int</a:t>
            </a:r>
            <a:r>
              <a:rPr lang="en-US" dirty="0"/>
              <a:t>) method as well as we can make this object as updatable by: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Statement </a:t>
            </a:r>
            <a:r>
              <a:rPr lang="en-US" dirty="0" err="1">
                <a:solidFill>
                  <a:srgbClr val="FF0000"/>
                </a:solidFill>
              </a:rPr>
              <a:t>stmt</a:t>
            </a:r>
            <a:r>
              <a:rPr lang="en-US" dirty="0">
                <a:solidFill>
                  <a:srgbClr val="FF0000"/>
                </a:solidFill>
              </a:rPr>
              <a:t> = </a:t>
            </a:r>
            <a:r>
              <a:rPr lang="en-US" dirty="0" err="1">
                <a:solidFill>
                  <a:srgbClr val="FF0000"/>
                </a:solidFill>
              </a:rPr>
              <a:t>con.createStatement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ResultSet.TYPE_SCROLL_INSENSITIVE</a:t>
            </a:r>
            <a:r>
              <a:rPr lang="en-US" dirty="0">
                <a:solidFill>
                  <a:srgbClr val="FF0000"/>
                </a:solidFill>
              </a:rPr>
              <a:t>, </a:t>
            </a:r>
            <a:r>
              <a:rPr lang="en-US" dirty="0" err="1">
                <a:solidFill>
                  <a:srgbClr val="FF0000"/>
                </a:solidFill>
              </a:rPr>
              <a:t>ResultSet.CONCUR_UPDATABLE</a:t>
            </a:r>
            <a:r>
              <a:rPr lang="en-US" dirty="0">
                <a:solidFill>
                  <a:srgbClr val="FF0000"/>
                </a:solidFill>
              </a:rPr>
              <a:t>);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</p:spTree>
    <p:extLst>
      <p:ext uri="{BB962C8B-B14F-4D97-AF65-F5344CB8AC3E}">
        <p14:creationId xmlns:p14="http://schemas.microsoft.com/office/powerpoint/2010/main" val="1660697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5635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Example of Scrollable </a:t>
            </a:r>
            <a:r>
              <a:rPr lang="en-US" b="1" dirty="0" err="1">
                <a:solidFill>
                  <a:schemeClr val="tx1"/>
                </a:solidFill>
              </a:rPr>
              <a:t>ResultSet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838200"/>
            <a:ext cx="8915400" cy="5715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import </a:t>
            </a:r>
            <a:r>
              <a:rPr lang="en-US" dirty="0" err="1"/>
              <a:t>java.sql</a:t>
            </a:r>
            <a:r>
              <a:rPr lang="en-US" dirty="0"/>
              <a:t>.*;  </a:t>
            </a:r>
          </a:p>
          <a:p>
            <a:pPr marL="0" indent="0">
              <a:buNone/>
            </a:pPr>
            <a:r>
              <a:rPr lang="en-US" dirty="0"/>
              <a:t>class </a:t>
            </a:r>
            <a:r>
              <a:rPr lang="en-US" dirty="0" err="1"/>
              <a:t>FetchRecord</a:t>
            </a:r>
            <a:r>
              <a:rPr lang="en-US" dirty="0"/>
              <a:t>{  </a:t>
            </a:r>
          </a:p>
          <a:p>
            <a:pPr marL="0" indent="0">
              <a:buNone/>
            </a:pPr>
            <a:r>
              <a:rPr lang="en-US" dirty="0"/>
              <a:t>public static void main(String </a:t>
            </a:r>
            <a:r>
              <a:rPr lang="en-US" dirty="0" err="1"/>
              <a:t>args</a:t>
            </a:r>
            <a:r>
              <a:rPr lang="en-US" dirty="0"/>
              <a:t>[])throws Exception{    </a:t>
            </a:r>
          </a:p>
          <a:p>
            <a:pPr marL="0" indent="0">
              <a:buNone/>
            </a:pPr>
            <a:r>
              <a:rPr lang="en-US" dirty="0" err="1"/>
              <a:t>Class.forName</a:t>
            </a:r>
            <a:r>
              <a:rPr lang="en-US" dirty="0"/>
              <a:t>("</a:t>
            </a:r>
            <a:r>
              <a:rPr lang="en-US" dirty="0" err="1"/>
              <a:t>oracle.jdbc.driver.OracleDriver</a:t>
            </a:r>
            <a:r>
              <a:rPr lang="en-US" dirty="0"/>
              <a:t>");  </a:t>
            </a:r>
          </a:p>
          <a:p>
            <a:pPr marL="0" indent="0">
              <a:buNone/>
            </a:pPr>
            <a:r>
              <a:rPr lang="en-US" dirty="0"/>
              <a:t>Connection con=</a:t>
            </a:r>
            <a:r>
              <a:rPr lang="en-US" dirty="0" err="1"/>
              <a:t>DriverManager.getConnection</a:t>
            </a:r>
            <a:r>
              <a:rPr lang="en-US" dirty="0"/>
              <a:t>("</a:t>
            </a:r>
            <a:r>
              <a:rPr lang="en-US" dirty="0" err="1"/>
              <a:t>jdbc:oracle:thin</a:t>
            </a:r>
            <a:r>
              <a:rPr lang="en-US" dirty="0"/>
              <a:t>:@localhost:1521:xe","system","oracle");  </a:t>
            </a:r>
          </a:p>
          <a:p>
            <a:pPr marL="0" indent="0">
              <a:buNone/>
            </a:pPr>
            <a:r>
              <a:rPr lang="en-US" dirty="0"/>
              <a:t>Statement </a:t>
            </a:r>
            <a:r>
              <a:rPr lang="en-US" dirty="0" err="1"/>
              <a:t>stmt</a:t>
            </a:r>
            <a:r>
              <a:rPr lang="en-US" dirty="0"/>
              <a:t>=</a:t>
            </a:r>
            <a:r>
              <a:rPr lang="en-US" dirty="0" err="1"/>
              <a:t>con.createStatement</a:t>
            </a:r>
            <a:r>
              <a:rPr lang="en-US" dirty="0"/>
              <a:t>(</a:t>
            </a:r>
            <a:r>
              <a:rPr lang="en-US" dirty="0" err="1"/>
              <a:t>ResultSet.TYPE_SCROLL_SENSITIVE,ResultSet.CONCUR_UPDATABLE</a:t>
            </a:r>
            <a:r>
              <a:rPr lang="en-US" dirty="0"/>
              <a:t>);  </a:t>
            </a:r>
          </a:p>
          <a:p>
            <a:pPr marL="0" indent="0">
              <a:buNone/>
            </a:pPr>
            <a:r>
              <a:rPr lang="en-US" dirty="0" err="1"/>
              <a:t>ResultSet</a:t>
            </a:r>
            <a:r>
              <a:rPr lang="en-US" dirty="0"/>
              <a:t> </a:t>
            </a:r>
            <a:r>
              <a:rPr lang="en-US" dirty="0" err="1"/>
              <a:t>rs</a:t>
            </a:r>
            <a:r>
              <a:rPr lang="en-US" dirty="0"/>
              <a:t>=</a:t>
            </a:r>
            <a:r>
              <a:rPr lang="en-US" dirty="0" err="1"/>
              <a:t>stmt.executeQuery</a:t>
            </a:r>
            <a:r>
              <a:rPr lang="en-US" dirty="0"/>
              <a:t>("select * from emp765");  </a:t>
            </a:r>
          </a:p>
          <a:p>
            <a:pPr marL="0" indent="0">
              <a:buNone/>
            </a:pP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dirty="0"/>
              <a:t>//getting the record of 3rd row  </a:t>
            </a:r>
          </a:p>
          <a:p>
            <a:pPr marL="0" indent="0">
              <a:buNone/>
            </a:pPr>
            <a:r>
              <a:rPr lang="en-US" dirty="0" err="1"/>
              <a:t>rs.absolute</a:t>
            </a:r>
            <a:r>
              <a:rPr lang="en-US" dirty="0"/>
              <a:t>(3);  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rs.getString</a:t>
            </a:r>
            <a:r>
              <a:rPr lang="en-US" dirty="0"/>
              <a:t>(1)+" "+</a:t>
            </a:r>
            <a:r>
              <a:rPr lang="en-US" dirty="0" err="1"/>
              <a:t>rs.getString</a:t>
            </a:r>
            <a:r>
              <a:rPr lang="en-US" dirty="0"/>
              <a:t>(2)+" "+</a:t>
            </a:r>
            <a:r>
              <a:rPr lang="en-US" dirty="0" err="1"/>
              <a:t>rs.getString</a:t>
            </a:r>
            <a:r>
              <a:rPr lang="en-US" dirty="0"/>
              <a:t>(3));  </a:t>
            </a:r>
          </a:p>
          <a:p>
            <a:pPr marL="0" indent="0">
              <a:buNone/>
            </a:pPr>
            <a:r>
              <a:rPr lang="en-US" dirty="0" err="1"/>
              <a:t>con.close</a:t>
            </a:r>
            <a:r>
              <a:rPr lang="en-US" dirty="0"/>
              <a:t>();  </a:t>
            </a:r>
          </a:p>
          <a:p>
            <a:pPr marL="0" indent="0">
              <a:buNone/>
            </a:pPr>
            <a:r>
              <a:rPr lang="en-US" dirty="0"/>
              <a:t>}}  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</p:spTree>
    <p:extLst>
      <p:ext uri="{BB962C8B-B14F-4D97-AF65-F5344CB8AC3E}">
        <p14:creationId xmlns:p14="http://schemas.microsoft.com/office/powerpoint/2010/main" val="3768360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639762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chemeClr val="tx1"/>
                </a:solidFill>
              </a:rPr>
              <a:t>PreparedStatement</a:t>
            </a:r>
            <a:r>
              <a:rPr lang="en-US" b="1" dirty="0">
                <a:solidFill>
                  <a:schemeClr val="tx1"/>
                </a:solidFill>
              </a:rPr>
              <a:t> interface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990600"/>
            <a:ext cx="8077200" cy="50292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PreparedStatement</a:t>
            </a:r>
            <a:r>
              <a:rPr lang="en-US" dirty="0"/>
              <a:t> interface is a </a:t>
            </a:r>
            <a:r>
              <a:rPr lang="en-US" dirty="0" err="1"/>
              <a:t>subinterface</a:t>
            </a:r>
            <a:r>
              <a:rPr lang="en-US" dirty="0"/>
              <a:t> of Statement. It is used to execute parameterized query.</a:t>
            </a:r>
          </a:p>
          <a:p>
            <a:r>
              <a:rPr lang="en-US" dirty="0"/>
              <a:t>The </a:t>
            </a:r>
            <a:r>
              <a:rPr lang="en-US" dirty="0" err="1"/>
              <a:t>prepareStatement</a:t>
            </a:r>
            <a:r>
              <a:rPr lang="en-US" dirty="0"/>
              <a:t>() method of Connection interface is used to return the object of </a:t>
            </a:r>
            <a:r>
              <a:rPr lang="en-US" dirty="0" err="1"/>
              <a:t>PreparedStatement</a:t>
            </a:r>
            <a:r>
              <a:rPr lang="en-US" dirty="0"/>
              <a:t>. </a:t>
            </a:r>
          </a:p>
          <a:p>
            <a:r>
              <a:rPr lang="en-US" b="1" dirty="0"/>
              <a:t>Syntax: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public </a:t>
            </a:r>
            <a:r>
              <a:rPr lang="en-US" dirty="0" err="1">
                <a:solidFill>
                  <a:srgbClr val="FF0000"/>
                </a:solidFill>
              </a:rPr>
              <a:t>PreparedStatement</a:t>
            </a:r>
            <a:r>
              <a:rPr lang="en-US" dirty="0">
                <a:solidFill>
                  <a:srgbClr val="FF0000"/>
                </a:solidFill>
              </a:rPr>
              <a:t> </a:t>
            </a:r>
            <a:r>
              <a:rPr lang="en-US" dirty="0" err="1">
                <a:solidFill>
                  <a:srgbClr val="FF0000"/>
                </a:solidFill>
              </a:rPr>
              <a:t>prepareStatement</a:t>
            </a:r>
            <a:r>
              <a:rPr lang="en-US" dirty="0">
                <a:solidFill>
                  <a:srgbClr val="FF0000"/>
                </a:solidFill>
              </a:rPr>
              <a:t>(String query)throws </a:t>
            </a:r>
            <a:r>
              <a:rPr lang="en-US" dirty="0" err="1">
                <a:solidFill>
                  <a:srgbClr val="FF0000"/>
                </a:solidFill>
              </a:rPr>
              <a:t>SQLException</a:t>
            </a:r>
            <a:r>
              <a:rPr lang="en-US" dirty="0">
                <a:solidFill>
                  <a:srgbClr val="FF0000"/>
                </a:solidFill>
              </a:rPr>
              <a:t>{}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</p:spTree>
    <p:extLst>
      <p:ext uri="{BB962C8B-B14F-4D97-AF65-F5344CB8AC3E}">
        <p14:creationId xmlns:p14="http://schemas.microsoft.com/office/powerpoint/2010/main" val="33731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56356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tx1"/>
                </a:solidFill>
              </a:rPr>
              <a:t>Example of </a:t>
            </a:r>
            <a:r>
              <a:rPr lang="en-US" sz="3200" b="1" dirty="0" err="1">
                <a:solidFill>
                  <a:schemeClr val="tx1"/>
                </a:solidFill>
              </a:rPr>
              <a:t>PreparedStatement</a:t>
            </a:r>
            <a:r>
              <a:rPr lang="en-US" sz="3200" b="1" dirty="0">
                <a:solidFill>
                  <a:schemeClr val="tx1"/>
                </a:solidFill>
              </a:rPr>
              <a:t> interface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8305800" cy="57912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import </a:t>
            </a:r>
            <a:r>
              <a:rPr lang="en-US" dirty="0" err="1"/>
              <a:t>java.sql</a:t>
            </a:r>
            <a:r>
              <a:rPr lang="en-US" dirty="0"/>
              <a:t>.*;  </a:t>
            </a:r>
          </a:p>
          <a:p>
            <a:pPr marL="0" indent="0">
              <a:buNone/>
            </a:pPr>
            <a:r>
              <a:rPr lang="en-US" dirty="0"/>
              <a:t>class </a:t>
            </a:r>
            <a:r>
              <a:rPr lang="en-US" dirty="0" err="1"/>
              <a:t>InsertPrepared</a:t>
            </a:r>
            <a:r>
              <a:rPr lang="en-US" dirty="0"/>
              <a:t>{  </a:t>
            </a:r>
          </a:p>
          <a:p>
            <a:pPr marL="0" indent="0">
              <a:buNone/>
            </a:pPr>
            <a:r>
              <a:rPr lang="en-US" dirty="0"/>
              <a:t>public static void main(String </a:t>
            </a:r>
            <a:r>
              <a:rPr lang="en-US" dirty="0" err="1"/>
              <a:t>args</a:t>
            </a:r>
            <a:r>
              <a:rPr lang="en-US" dirty="0"/>
              <a:t>[]){  </a:t>
            </a:r>
          </a:p>
          <a:p>
            <a:pPr marL="0" indent="0">
              <a:buNone/>
            </a:pPr>
            <a:r>
              <a:rPr lang="en-US" dirty="0"/>
              <a:t>try{  </a:t>
            </a:r>
          </a:p>
          <a:p>
            <a:pPr marL="0" indent="0">
              <a:buNone/>
            </a:pPr>
            <a:r>
              <a:rPr lang="en-US" dirty="0" err="1"/>
              <a:t>Class.forName</a:t>
            </a:r>
            <a:r>
              <a:rPr lang="en-US" dirty="0"/>
              <a:t>("</a:t>
            </a:r>
            <a:r>
              <a:rPr lang="en-US" dirty="0" err="1"/>
              <a:t>oracle.jdbc.driver.OracleDriver</a:t>
            </a:r>
            <a:r>
              <a:rPr lang="en-US" dirty="0"/>
              <a:t>");  </a:t>
            </a:r>
          </a:p>
          <a:p>
            <a:pPr marL="0" indent="0">
              <a:buNone/>
            </a:pPr>
            <a:r>
              <a:rPr lang="en-US" dirty="0"/>
              <a:t>Connection con=</a:t>
            </a:r>
            <a:r>
              <a:rPr lang="en-US" dirty="0" err="1"/>
              <a:t>DriverManager.getConnection</a:t>
            </a:r>
            <a:r>
              <a:rPr lang="en-US" dirty="0"/>
              <a:t>("</a:t>
            </a:r>
            <a:r>
              <a:rPr lang="en-US" dirty="0" err="1"/>
              <a:t>jdbc:oracle:thin</a:t>
            </a:r>
            <a:r>
              <a:rPr lang="en-US" dirty="0"/>
              <a:t>:@localhost:1521:xe","system","oracle") ; </a:t>
            </a:r>
          </a:p>
          <a:p>
            <a:pPr marL="0" indent="0">
              <a:buNone/>
            </a:pPr>
            <a:r>
              <a:rPr lang="en-US" dirty="0" err="1"/>
              <a:t>PreparedStatement</a:t>
            </a:r>
            <a:r>
              <a:rPr lang="en-US" dirty="0"/>
              <a:t> </a:t>
            </a:r>
            <a:r>
              <a:rPr lang="en-US" dirty="0" err="1"/>
              <a:t>stmt</a:t>
            </a:r>
            <a:r>
              <a:rPr lang="en-US" dirty="0"/>
              <a:t>=</a:t>
            </a:r>
            <a:r>
              <a:rPr lang="en-US" dirty="0" err="1"/>
              <a:t>con.prepareStatement</a:t>
            </a:r>
            <a:r>
              <a:rPr lang="en-US" dirty="0"/>
              <a:t>("insert into </a:t>
            </a:r>
            <a:r>
              <a:rPr lang="en-US" dirty="0" err="1"/>
              <a:t>Emp</a:t>
            </a:r>
            <a:r>
              <a:rPr lang="en-US" dirty="0"/>
              <a:t> values(?,?)");  </a:t>
            </a:r>
          </a:p>
          <a:p>
            <a:pPr marL="0" indent="0">
              <a:buNone/>
            </a:pPr>
            <a:r>
              <a:rPr lang="en-US" dirty="0" err="1"/>
              <a:t>stmt.setInt</a:t>
            </a:r>
            <a:r>
              <a:rPr lang="en-US" dirty="0"/>
              <a:t>(1,101);//1 specifies the first parameter in the query  </a:t>
            </a:r>
          </a:p>
          <a:p>
            <a:pPr marL="0" indent="0">
              <a:buNone/>
            </a:pPr>
            <a:r>
              <a:rPr lang="en-US" dirty="0" err="1"/>
              <a:t>stmt.setString</a:t>
            </a:r>
            <a:r>
              <a:rPr lang="en-US" dirty="0"/>
              <a:t>(2,"Ratan");  </a:t>
            </a:r>
          </a:p>
          <a:p>
            <a:pPr marL="0" indent="0">
              <a:buNone/>
            </a:pP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 i=</a:t>
            </a:r>
            <a:r>
              <a:rPr lang="en-US" dirty="0" err="1"/>
              <a:t>stmt.executeUpdate</a:t>
            </a:r>
            <a:r>
              <a:rPr lang="en-US" dirty="0"/>
              <a:t>();  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(i+" records inserted");  </a:t>
            </a:r>
          </a:p>
          <a:p>
            <a:pPr marL="0" indent="0">
              <a:buNone/>
            </a:pPr>
            <a:r>
              <a:rPr lang="en-US" dirty="0" err="1"/>
              <a:t>con.close</a:t>
            </a:r>
            <a:r>
              <a:rPr lang="en-US" dirty="0"/>
              <a:t>();  </a:t>
            </a:r>
          </a:p>
          <a:p>
            <a:pPr marL="0" indent="0">
              <a:buNone/>
            </a:pPr>
            <a:r>
              <a:rPr lang="en-US" dirty="0"/>
              <a:t>}catch(Exception e){ </a:t>
            </a:r>
            <a:r>
              <a:rPr lang="en-US" dirty="0" err="1"/>
              <a:t>System.out.println</a:t>
            </a:r>
            <a:r>
              <a:rPr lang="en-US" dirty="0"/>
              <a:t>(e);}  </a:t>
            </a:r>
          </a:p>
          <a:p>
            <a:pPr marL="0" indent="0">
              <a:buNone/>
            </a:pPr>
            <a:r>
              <a:rPr lang="en-US" dirty="0"/>
              <a:t>}  </a:t>
            </a:r>
          </a:p>
          <a:p>
            <a:pPr marL="0" indent="0">
              <a:buNone/>
            </a:pPr>
            <a:r>
              <a:rPr lang="en-US" dirty="0"/>
              <a:t>} 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</p:spTree>
    <p:extLst>
      <p:ext uri="{BB962C8B-B14F-4D97-AF65-F5344CB8AC3E}">
        <p14:creationId xmlns:p14="http://schemas.microsoft.com/office/powerpoint/2010/main" val="2873574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563562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chemeClr val="tx1"/>
                </a:solidFill>
              </a:rPr>
              <a:t>ResultSetMetaData</a:t>
            </a:r>
            <a:r>
              <a:rPr lang="en-US" b="1" dirty="0">
                <a:solidFill>
                  <a:schemeClr val="tx1"/>
                </a:solidFill>
              </a:rPr>
              <a:t> Interface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838200"/>
            <a:ext cx="8229600" cy="5181600"/>
          </a:xfrm>
        </p:spPr>
        <p:txBody>
          <a:bodyPr/>
          <a:lstStyle/>
          <a:p>
            <a:r>
              <a:rPr lang="en-US" dirty="0"/>
              <a:t>The metadata means data about data i.e. we can get further information from the data.</a:t>
            </a:r>
          </a:p>
          <a:p>
            <a:r>
              <a:rPr lang="en-US" dirty="0"/>
              <a:t>If you have to get metadata of a table like total number of column, column name, column type etc. , </a:t>
            </a:r>
            <a:r>
              <a:rPr lang="en-US" dirty="0" err="1"/>
              <a:t>ResultSetMetaData</a:t>
            </a:r>
            <a:r>
              <a:rPr lang="en-US" dirty="0"/>
              <a:t> interface is useful because it provides methods to get metadata from the </a:t>
            </a:r>
            <a:r>
              <a:rPr lang="en-US" dirty="0" err="1"/>
              <a:t>ResultSet</a:t>
            </a:r>
            <a:r>
              <a:rPr lang="en-US" dirty="0"/>
              <a:t> object.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</p:spTree>
    <p:extLst>
      <p:ext uri="{BB962C8B-B14F-4D97-AF65-F5344CB8AC3E}">
        <p14:creationId xmlns:p14="http://schemas.microsoft.com/office/powerpoint/2010/main" val="3178499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5635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Commonly used methods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38074530"/>
              </p:ext>
            </p:extLst>
          </p:nvPr>
        </p:nvGraphicFramePr>
        <p:xfrm>
          <a:off x="381000" y="1447800"/>
          <a:ext cx="85344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public </a:t>
                      </a:r>
                      <a:r>
                        <a:rPr lang="en-US" dirty="0" err="1"/>
                        <a:t>int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getColumnCount</a:t>
                      </a:r>
                      <a:r>
                        <a:rPr lang="en-US" dirty="0"/>
                        <a:t>()throws </a:t>
                      </a:r>
                      <a:r>
                        <a:rPr lang="en-US" dirty="0" err="1"/>
                        <a:t>SQLException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returns the total number of columns in the </a:t>
                      </a:r>
                      <a:r>
                        <a:rPr lang="en-US" dirty="0" err="1"/>
                        <a:t>ResultSet</a:t>
                      </a:r>
                      <a:r>
                        <a:rPr lang="en-US" dirty="0"/>
                        <a:t> object.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public String </a:t>
                      </a:r>
                      <a:r>
                        <a:rPr lang="en-US" dirty="0" err="1"/>
                        <a:t>getColumnName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int</a:t>
                      </a:r>
                      <a:r>
                        <a:rPr lang="en-US" dirty="0"/>
                        <a:t> index)throws </a:t>
                      </a:r>
                      <a:r>
                        <a:rPr lang="en-US" dirty="0" err="1"/>
                        <a:t>SQLException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returns the column name of the specified column index.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public String </a:t>
                      </a:r>
                      <a:r>
                        <a:rPr lang="en-US" dirty="0" err="1"/>
                        <a:t>getColumnTypeName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int</a:t>
                      </a:r>
                      <a:r>
                        <a:rPr lang="en-US" dirty="0"/>
                        <a:t> index)throws </a:t>
                      </a:r>
                      <a:r>
                        <a:rPr lang="en-US" dirty="0" err="1"/>
                        <a:t>SQLException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returns the column type name for the specified index.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public String </a:t>
                      </a:r>
                      <a:r>
                        <a:rPr lang="en-US" dirty="0" err="1"/>
                        <a:t>getTableName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int</a:t>
                      </a:r>
                      <a:r>
                        <a:rPr lang="en-US" dirty="0"/>
                        <a:t> index)throws </a:t>
                      </a:r>
                      <a:r>
                        <a:rPr lang="en-US" dirty="0" err="1"/>
                        <a:t>SQLException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returns the table name for the specified column index.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</p:spTree>
    <p:extLst>
      <p:ext uri="{BB962C8B-B14F-4D97-AF65-F5344CB8AC3E}">
        <p14:creationId xmlns:p14="http://schemas.microsoft.com/office/powerpoint/2010/main" val="3692012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Example of </a:t>
            </a:r>
            <a:r>
              <a:rPr lang="en-US" b="1" dirty="0" err="1">
                <a:solidFill>
                  <a:schemeClr val="tx1"/>
                </a:solidFill>
              </a:rPr>
              <a:t>ResultSetMetaData</a:t>
            </a:r>
            <a:r>
              <a:rPr lang="en-US" b="1" dirty="0">
                <a:solidFill>
                  <a:schemeClr val="tx1"/>
                </a:solidFill>
              </a:rPr>
              <a:t> interface: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62000"/>
            <a:ext cx="8305800" cy="58674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import </a:t>
            </a:r>
            <a:r>
              <a:rPr lang="en-US" dirty="0" err="1"/>
              <a:t>java.sql</a:t>
            </a:r>
            <a:r>
              <a:rPr lang="en-US" dirty="0"/>
              <a:t>.*;  </a:t>
            </a:r>
          </a:p>
          <a:p>
            <a:pPr marL="0" indent="0">
              <a:buNone/>
            </a:pPr>
            <a:r>
              <a:rPr lang="en-US" dirty="0"/>
              <a:t>class </a:t>
            </a:r>
            <a:r>
              <a:rPr lang="en-US" dirty="0" err="1"/>
              <a:t>Rsmd</a:t>
            </a:r>
            <a:r>
              <a:rPr lang="en-US" dirty="0"/>
              <a:t>{  </a:t>
            </a:r>
          </a:p>
          <a:p>
            <a:pPr marL="0" indent="0">
              <a:buNone/>
            </a:pPr>
            <a:r>
              <a:rPr lang="en-US" dirty="0"/>
              <a:t>public static void main(String </a:t>
            </a:r>
            <a:r>
              <a:rPr lang="en-US" dirty="0" err="1"/>
              <a:t>args</a:t>
            </a:r>
            <a:r>
              <a:rPr lang="en-US" dirty="0"/>
              <a:t>[]){  </a:t>
            </a:r>
          </a:p>
          <a:p>
            <a:pPr marL="0" indent="0">
              <a:buNone/>
            </a:pPr>
            <a:r>
              <a:rPr lang="en-US" dirty="0"/>
              <a:t>try{  </a:t>
            </a:r>
          </a:p>
          <a:p>
            <a:pPr marL="0" indent="0">
              <a:buNone/>
            </a:pPr>
            <a:r>
              <a:rPr lang="en-US" dirty="0" err="1"/>
              <a:t>Class.forName</a:t>
            </a:r>
            <a:r>
              <a:rPr lang="en-US" dirty="0"/>
              <a:t>("</a:t>
            </a:r>
            <a:r>
              <a:rPr lang="en-US" dirty="0" err="1"/>
              <a:t>oracle.jdbc.driver.OracleDriver</a:t>
            </a:r>
            <a:r>
              <a:rPr lang="en-US" dirty="0"/>
              <a:t>");    </a:t>
            </a:r>
          </a:p>
          <a:p>
            <a:pPr marL="0" indent="0">
              <a:buNone/>
            </a:pPr>
            <a:r>
              <a:rPr lang="en-US" dirty="0"/>
              <a:t>Connection con=</a:t>
            </a:r>
            <a:r>
              <a:rPr lang="en-US" dirty="0" err="1"/>
              <a:t>DriverManager.getConnection</a:t>
            </a:r>
            <a:r>
              <a:rPr lang="en-US" dirty="0"/>
              <a:t>(  </a:t>
            </a:r>
          </a:p>
          <a:p>
            <a:pPr marL="0" indent="0">
              <a:buNone/>
            </a:pPr>
            <a:r>
              <a:rPr lang="en-US" dirty="0"/>
              <a:t>"</a:t>
            </a:r>
            <a:r>
              <a:rPr lang="en-US" dirty="0" err="1"/>
              <a:t>jdbc:oracle:thin</a:t>
            </a:r>
            <a:r>
              <a:rPr lang="en-US" dirty="0"/>
              <a:t>:@localhost:1521:xe","system","oracle");   </a:t>
            </a:r>
          </a:p>
          <a:p>
            <a:pPr marL="0" indent="0">
              <a:buNone/>
            </a:pPr>
            <a:r>
              <a:rPr lang="en-US" dirty="0" err="1"/>
              <a:t>PreparedStatement</a:t>
            </a:r>
            <a:r>
              <a:rPr lang="en-US" dirty="0"/>
              <a:t> </a:t>
            </a:r>
            <a:r>
              <a:rPr lang="en-US" dirty="0" err="1"/>
              <a:t>ps</a:t>
            </a:r>
            <a:r>
              <a:rPr lang="en-US" dirty="0"/>
              <a:t>=</a:t>
            </a:r>
            <a:r>
              <a:rPr lang="en-US" dirty="0" err="1"/>
              <a:t>con.prepareStatement</a:t>
            </a:r>
            <a:r>
              <a:rPr lang="en-US" dirty="0"/>
              <a:t>("select * from </a:t>
            </a:r>
            <a:r>
              <a:rPr lang="en-US" dirty="0" err="1"/>
              <a:t>emp</a:t>
            </a:r>
            <a:r>
              <a:rPr lang="en-US" dirty="0"/>
              <a:t>");  </a:t>
            </a:r>
          </a:p>
          <a:p>
            <a:pPr marL="0" indent="0">
              <a:buNone/>
            </a:pPr>
            <a:r>
              <a:rPr lang="en-US" dirty="0" err="1"/>
              <a:t>ResultSet</a:t>
            </a:r>
            <a:r>
              <a:rPr lang="en-US" dirty="0"/>
              <a:t> </a:t>
            </a:r>
            <a:r>
              <a:rPr lang="en-US" dirty="0" err="1"/>
              <a:t>rs</a:t>
            </a:r>
            <a:r>
              <a:rPr lang="en-US" dirty="0"/>
              <a:t>=</a:t>
            </a:r>
            <a:r>
              <a:rPr lang="en-US" dirty="0" err="1"/>
              <a:t>ps.executeQuery</a:t>
            </a:r>
            <a:r>
              <a:rPr lang="en-US" dirty="0"/>
              <a:t>();  </a:t>
            </a:r>
          </a:p>
          <a:p>
            <a:pPr marL="0" indent="0">
              <a:buNone/>
            </a:pPr>
            <a:r>
              <a:rPr lang="en-US" dirty="0" err="1"/>
              <a:t>ResultSetMetaData</a:t>
            </a:r>
            <a:r>
              <a:rPr lang="en-US" dirty="0"/>
              <a:t> </a:t>
            </a:r>
            <a:r>
              <a:rPr lang="en-US" dirty="0" err="1"/>
              <a:t>rsmd</a:t>
            </a:r>
            <a:r>
              <a:rPr lang="en-US" dirty="0"/>
              <a:t>=</a:t>
            </a:r>
            <a:r>
              <a:rPr lang="en-US" dirty="0" err="1"/>
              <a:t>rs.getMetaData</a:t>
            </a:r>
            <a:r>
              <a:rPr lang="en-US" dirty="0"/>
              <a:t>();  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("Total columns: "+</a:t>
            </a:r>
            <a:r>
              <a:rPr lang="en-US" dirty="0" err="1"/>
              <a:t>rsmd.getColumnCount</a:t>
            </a:r>
            <a:r>
              <a:rPr lang="en-US" dirty="0"/>
              <a:t>());  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("Column Name of 1st column: "+</a:t>
            </a:r>
            <a:r>
              <a:rPr lang="en-US" dirty="0" err="1"/>
              <a:t>rsmd.getColumnName</a:t>
            </a:r>
            <a:r>
              <a:rPr lang="en-US" dirty="0"/>
              <a:t>(1));  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("Column Type Name of 1st column: "+</a:t>
            </a:r>
            <a:r>
              <a:rPr lang="en-US" dirty="0" err="1"/>
              <a:t>rsmd.getColumnTypeName</a:t>
            </a:r>
            <a:r>
              <a:rPr lang="en-US" dirty="0"/>
              <a:t>(1));  </a:t>
            </a:r>
          </a:p>
          <a:p>
            <a:pPr marL="0" indent="0">
              <a:buNone/>
            </a:pPr>
            <a:r>
              <a:rPr lang="en-US" dirty="0" err="1"/>
              <a:t>con.close</a:t>
            </a:r>
            <a:r>
              <a:rPr lang="en-US" dirty="0"/>
              <a:t>();  </a:t>
            </a:r>
          </a:p>
          <a:p>
            <a:pPr marL="0" indent="0">
              <a:buNone/>
            </a:pPr>
            <a:r>
              <a:rPr lang="en-US" dirty="0"/>
              <a:t>}catch(Exception e){ </a:t>
            </a:r>
            <a:r>
              <a:rPr lang="en-US" dirty="0" err="1"/>
              <a:t>System.out.println</a:t>
            </a:r>
            <a:r>
              <a:rPr lang="en-US" dirty="0"/>
              <a:t>(e);} </a:t>
            </a:r>
            <a:r>
              <a:rPr lang="en-US"/>
              <a:t> 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  </a:t>
            </a:r>
          </a:p>
          <a:p>
            <a:pPr marL="0" indent="0">
              <a:buNone/>
            </a:pPr>
            <a:r>
              <a:rPr lang="en-US" dirty="0"/>
              <a:t>}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</p:spTree>
    <p:extLst>
      <p:ext uri="{BB962C8B-B14F-4D97-AF65-F5344CB8AC3E}">
        <p14:creationId xmlns:p14="http://schemas.microsoft.com/office/powerpoint/2010/main" val="1029716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458A9E-70B8-F926-6D64-355001944D13}"/>
              </a:ext>
            </a:extLst>
          </p:cNvPr>
          <p:cNvSpPr/>
          <p:nvPr/>
        </p:nvSpPr>
        <p:spPr>
          <a:xfrm>
            <a:off x="980636" y="2405152"/>
            <a:ext cx="7182736" cy="1862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1500" b="1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Thank you</a:t>
            </a:r>
          </a:p>
        </p:txBody>
      </p:sp>
      <p:sp>
        <p:nvSpPr>
          <p:cNvPr id="14339" name="Slide Number Placeholder 4">
            <a:extLst>
              <a:ext uri="{FF2B5EF4-FFF2-40B4-BE49-F238E27FC236}">
                <a16:creationId xmlns:a16="http://schemas.microsoft.com/office/drawing/2014/main" id="{245EF913-27AC-08EF-FA2A-823F47C762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353BB19-AD61-44A4-9D94-32E0A279B02B}" type="slidenum">
              <a:rPr lang="en-US" altLang="en-US" sz="1400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18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D78FB3-85BF-6C9C-8F1F-DAE64F9F5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207</TotalTime>
  <Words>1505</Words>
  <Application>Microsoft Office PowerPoint</Application>
  <PresentationFormat>On-screen Show (4:3)</PresentationFormat>
  <Paragraphs>184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Franklin Gothic Book</vt:lpstr>
      <vt:lpstr>Perpetua</vt:lpstr>
      <vt:lpstr>Wingdings 2</vt:lpstr>
      <vt:lpstr>Equity</vt:lpstr>
      <vt:lpstr>JDBC PART-II</vt:lpstr>
      <vt:lpstr>Connectivity with Access without DSN</vt:lpstr>
      <vt:lpstr>Connect Java Application with Access File without DSN</vt:lpstr>
      <vt:lpstr>Example to Connect Java Application with Access File</vt:lpstr>
      <vt:lpstr>Connect Java Application with Access File With DSN</vt:lpstr>
      <vt:lpstr>Connect Java Application with Access File With DSN</vt:lpstr>
      <vt:lpstr>DriverManager class</vt:lpstr>
      <vt:lpstr>Connection interface:</vt:lpstr>
      <vt:lpstr>Statement interface</vt:lpstr>
      <vt:lpstr>Example of Statement interface</vt:lpstr>
      <vt:lpstr>ResultSet interface</vt:lpstr>
      <vt:lpstr>Example of Scrollable ResultSet</vt:lpstr>
      <vt:lpstr>PreparedStatement interface</vt:lpstr>
      <vt:lpstr>Example of PreparedStatement interface</vt:lpstr>
      <vt:lpstr>ResultSetMetaData Interface</vt:lpstr>
      <vt:lpstr>Commonly used methods</vt:lpstr>
      <vt:lpstr>Example of ResultSetMetaData interface: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JDBC PART-II</dc:title>
  <dc:creator>Rajesh</dc:creator>
  <cp:lastModifiedBy>dr.rajeshkojha@gmail.com</cp:lastModifiedBy>
  <cp:revision>23</cp:revision>
  <dcterms:created xsi:type="dcterms:W3CDTF">2006-08-16T00:00:00Z</dcterms:created>
  <dcterms:modified xsi:type="dcterms:W3CDTF">2025-11-18T10:20:16Z</dcterms:modified>
</cp:coreProperties>
</file>